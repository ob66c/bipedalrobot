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Default Extension="jp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6"/>
  </p:notesMasterIdLst>
  <p:handoutMasterIdLst>
    <p:handoutMasterId r:id="rId47"/>
  </p:handoutMasterIdLst>
  <p:sldIdLst>
    <p:sldId id="557" r:id="rId2"/>
    <p:sldId id="558" r:id="rId3"/>
    <p:sldId id="532" r:id="rId4"/>
    <p:sldId id="435" r:id="rId5"/>
    <p:sldId id="525" r:id="rId6"/>
    <p:sldId id="526" r:id="rId7"/>
    <p:sldId id="480" r:id="rId8"/>
    <p:sldId id="481" r:id="rId9"/>
    <p:sldId id="537" r:id="rId10"/>
    <p:sldId id="484" r:id="rId11"/>
    <p:sldId id="538" r:id="rId12"/>
    <p:sldId id="486" r:id="rId13"/>
    <p:sldId id="539" r:id="rId14"/>
    <p:sldId id="487" r:id="rId15"/>
    <p:sldId id="488" r:id="rId16"/>
    <p:sldId id="489" r:id="rId17"/>
    <p:sldId id="491" r:id="rId18"/>
    <p:sldId id="492" r:id="rId19"/>
    <p:sldId id="493" r:id="rId20"/>
    <p:sldId id="494" r:id="rId21"/>
    <p:sldId id="495" r:id="rId22"/>
    <p:sldId id="496" r:id="rId23"/>
    <p:sldId id="534" r:id="rId24"/>
    <p:sldId id="497" r:id="rId25"/>
    <p:sldId id="498" r:id="rId26"/>
    <p:sldId id="499" r:id="rId27"/>
    <p:sldId id="500" r:id="rId28"/>
    <p:sldId id="501" r:id="rId29"/>
    <p:sldId id="504" r:id="rId30"/>
    <p:sldId id="506" r:id="rId31"/>
    <p:sldId id="542" r:id="rId32"/>
    <p:sldId id="508" r:id="rId33"/>
    <p:sldId id="510" r:id="rId34"/>
    <p:sldId id="511" r:id="rId35"/>
    <p:sldId id="543" r:id="rId36"/>
    <p:sldId id="541" r:id="rId37"/>
    <p:sldId id="517" r:id="rId38"/>
    <p:sldId id="550" r:id="rId39"/>
    <p:sldId id="551" r:id="rId40"/>
    <p:sldId id="552" r:id="rId41"/>
    <p:sldId id="553" r:id="rId42"/>
    <p:sldId id="523" r:id="rId43"/>
    <p:sldId id="524" r:id="rId44"/>
    <p:sldId id="471" r:id="rId45"/>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CCFF"/>
    <a:srgbClr val="3333FF"/>
    <a:srgbClr val="FFFFFF"/>
    <a:srgbClr val="00CCFF"/>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737" autoAdjust="0"/>
    <p:restoredTop sz="79099" autoAdjust="0"/>
  </p:normalViewPr>
  <p:slideViewPr>
    <p:cSldViewPr>
      <p:cViewPr varScale="1">
        <p:scale>
          <a:sx n="59" d="100"/>
          <a:sy n="59" d="100"/>
        </p:scale>
        <p:origin x="1548" y="60"/>
      </p:cViewPr>
      <p:guideLst>
        <p:guide orient="horz" pos="2160"/>
        <p:guide pos="2880"/>
      </p:guideLst>
    </p:cSldViewPr>
  </p:slideViewPr>
  <p:notesTextViewPr>
    <p:cViewPr>
      <p:scale>
        <a:sx n="1" d="1"/>
        <a:sy n="1" d="1"/>
      </p:scale>
      <p:origin x="0" y="0"/>
    </p:cViewPr>
  </p:notesTextViewPr>
  <p:sorterViewPr>
    <p:cViewPr>
      <p:scale>
        <a:sx n="66" d="100"/>
        <a:sy n="66" d="100"/>
      </p:scale>
      <p:origin x="0" y="2478"/>
    </p:cViewPr>
  </p:sorterViewPr>
  <p:notesViewPr>
    <p:cSldViewPr>
      <p:cViewPr varScale="1">
        <p:scale>
          <a:sx n="63" d="100"/>
          <a:sy n="63" d="100"/>
        </p:scale>
        <p:origin x="-3450" y="-12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handoutMaster" Target="handoutMasters/handoutMaster1.xml"/><Relationship Id="rId50"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image" Target="../media/image14.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3.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57E6FD6-DEDB-4909-9A09-C7AF16F05C83}" type="datetimeFigureOut">
              <a:rPr lang="zh-CN" altLang="en-US" smtClean="0"/>
              <a:pPr/>
              <a:t>2021/4/7 Wednesday</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122E16C-3F20-4825-8856-D407AEFF97B3}" type="slidenum">
              <a:rPr lang="zh-CN" altLang="en-US" smtClean="0"/>
              <a:pPr/>
              <a:t>‹#›</a:t>
            </a:fld>
            <a:endParaRPr lang="zh-CN" altLang="en-US"/>
          </a:p>
        </p:txBody>
      </p:sp>
    </p:spTree>
    <p:extLst>
      <p:ext uri="{BB962C8B-B14F-4D97-AF65-F5344CB8AC3E}">
        <p14:creationId xmlns:p14="http://schemas.microsoft.com/office/powerpoint/2010/main" val="26821528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3858CB3-8AED-4D1C-9396-CB2A75AD674F}" type="datetimeFigureOut">
              <a:rPr lang="zh-CN" altLang="en-US" smtClean="0"/>
              <a:pPr/>
              <a:t>2021/4/7 Wednesday</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F615411-F354-41A7-B6AF-AD07054BD649}" type="slidenum">
              <a:rPr lang="zh-CN" altLang="en-US" smtClean="0"/>
              <a:pPr/>
              <a:t>‹#›</a:t>
            </a:fld>
            <a:endParaRPr lang="zh-CN" altLang="en-US"/>
          </a:p>
        </p:txBody>
      </p:sp>
    </p:spTree>
    <p:extLst>
      <p:ext uri="{BB962C8B-B14F-4D97-AF65-F5344CB8AC3E}">
        <p14:creationId xmlns:p14="http://schemas.microsoft.com/office/powerpoint/2010/main" val="26936973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1200150" marR="0" lvl="3" indent="-342900" algn="l" defTabSz="914400" rtl="0" eaLnBrk="1" fontAlgn="auto" latinLnBrk="0" hangingPunct="1">
              <a:lnSpc>
                <a:spcPct val="170000"/>
              </a:lnSpc>
              <a:spcBef>
                <a:spcPts val="0"/>
              </a:spcBef>
              <a:spcAft>
                <a:spcPts val="0"/>
              </a:spcAft>
              <a:buClr>
                <a:srgbClr val="FF0000"/>
              </a:buClr>
              <a:buSzTx/>
              <a:buFont typeface="Wingdings" pitchFamily="2" charset="2"/>
              <a:buNone/>
              <a:tabLst/>
              <a:defRPr/>
            </a:pPr>
            <a:r>
              <a:rPr lang="zh-CN" altLang="en-US" sz="1200" dirty="0" smtClean="0">
                <a:solidFill>
                  <a:srgbClr val="0000FF"/>
                </a:solidFill>
                <a:latin typeface="方正大黑简体" pitchFamily="2" charset="-122"/>
                <a:ea typeface="方正大黑简体" pitchFamily="2" charset="-122"/>
              </a:rPr>
              <a:t>接收端对收到的经过</a:t>
            </a:r>
            <a:r>
              <a:rPr lang="zh-CN" altLang="en-US" sz="1200" dirty="0" smtClean="0">
                <a:solidFill>
                  <a:srgbClr val="FF0000"/>
                </a:solidFill>
                <a:latin typeface="方正大黑简体" pitchFamily="2" charset="-122"/>
                <a:ea typeface="方正大黑简体" pitchFamily="2" charset="-122"/>
              </a:rPr>
              <a:t>多个相互独立路径</a:t>
            </a:r>
            <a:r>
              <a:rPr lang="zh-CN" altLang="en-US" sz="1200" dirty="0" smtClean="0">
                <a:solidFill>
                  <a:srgbClr val="0000FF"/>
                </a:solidFill>
                <a:latin typeface="方正大黑简体" pitchFamily="2" charset="-122"/>
                <a:ea typeface="方正大黑简体" pitchFamily="2" charset="-122"/>
              </a:rPr>
              <a:t>传输的信号（</a:t>
            </a:r>
            <a:r>
              <a:rPr lang="zh-CN" altLang="en-US" sz="1200" dirty="0" smtClean="0">
                <a:solidFill>
                  <a:srgbClr val="FF0000"/>
                </a:solidFill>
                <a:latin typeface="方正大黑简体" pitchFamily="2" charset="-122"/>
                <a:ea typeface="方正大黑简体" pitchFamily="2" charset="-122"/>
              </a:rPr>
              <a:t>携带同一信息</a:t>
            </a:r>
            <a:r>
              <a:rPr lang="zh-CN" altLang="en-US" sz="1200" dirty="0" smtClean="0">
                <a:solidFill>
                  <a:srgbClr val="0000FF"/>
                </a:solidFill>
                <a:latin typeface="方正大黑简体" pitchFamily="2" charset="-122"/>
                <a:ea typeface="方正大黑简体" pitchFamily="2" charset="-122"/>
              </a:rPr>
              <a:t>）进行特定处理。减小衰落的深度与持续时间对信号传输的不利影响</a:t>
            </a:r>
            <a:endParaRPr lang="zh-CN" altLang="en-US" dirty="0" smtClean="0"/>
          </a:p>
          <a:p>
            <a:pPr marL="1200150" lvl="3" indent="-342900">
              <a:lnSpc>
                <a:spcPct val="170000"/>
              </a:lnSpc>
              <a:buClr>
                <a:srgbClr val="FF0000"/>
              </a:buClr>
              <a:buFont typeface="Wingdings" pitchFamily="2" charset="2"/>
              <a:buNone/>
              <a:defRPr/>
            </a:pPr>
            <a:endParaRPr lang="zh-CN" altLang="en-US" dirty="0"/>
          </a:p>
        </p:txBody>
      </p:sp>
      <p:sp>
        <p:nvSpPr>
          <p:cNvPr id="4" name="灯片编号占位符 3"/>
          <p:cNvSpPr>
            <a:spLocks noGrp="1"/>
          </p:cNvSpPr>
          <p:nvPr>
            <p:ph type="sldNum" sz="quarter" idx="10"/>
          </p:nvPr>
        </p:nvSpPr>
        <p:spPr/>
        <p:txBody>
          <a:bodyPr/>
          <a:lstStyle/>
          <a:p>
            <a:fld id="{5F615411-F354-41A7-B6AF-AD07054BD649}" type="slidenum">
              <a:rPr lang="zh-CN" altLang="en-US" smtClean="0"/>
              <a:pPr/>
              <a:t>2</a:t>
            </a:fld>
            <a:endParaRPr lang="zh-CN" altLang="en-US"/>
          </a:p>
        </p:txBody>
      </p:sp>
    </p:spTree>
    <p:extLst>
      <p:ext uri="{BB962C8B-B14F-4D97-AF65-F5344CB8AC3E}">
        <p14:creationId xmlns:p14="http://schemas.microsoft.com/office/powerpoint/2010/main" val="19505642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p:spPr>
        <p:txBody>
          <a:bodyPr/>
          <a:lstStyle/>
          <a:p>
            <a:fld id="{E2D63040-C80F-49FD-A108-C83BC63D595D}" type="slidenum">
              <a:rPr lang="en-US" altLang="zh-CN" smtClean="0">
                <a:ea typeface="宋体" charset="-122"/>
              </a:rPr>
              <a:pPr/>
              <a:t>3</a:t>
            </a:fld>
            <a:endParaRPr lang="en-US" altLang="zh-CN" smtClean="0">
              <a:ea typeface="宋体" charset="-122"/>
            </a:endParaRPr>
          </a:p>
        </p:txBody>
      </p:sp>
      <p:sp>
        <p:nvSpPr>
          <p:cNvPr id="64515" name="Rectangle 2"/>
          <p:cNvSpPr>
            <a:spLocks noGrp="1" noRot="1" noChangeAspect="1" noChangeArrowheads="1" noTextEdit="1"/>
          </p:cNvSpPr>
          <p:nvPr>
            <p:ph type="sldImg"/>
          </p:nvPr>
        </p:nvSpPr>
        <p:spPr>
          <a:xfrm>
            <a:off x="1100138" y="676275"/>
            <a:ext cx="4610100" cy="3457575"/>
          </a:xfrm>
          <a:solidFill>
            <a:srgbClr val="FFFFFF"/>
          </a:solidFill>
          <a:ln/>
        </p:spPr>
      </p:sp>
      <p:sp>
        <p:nvSpPr>
          <p:cNvPr id="64516" name="Rectangle 3"/>
          <p:cNvSpPr>
            <a:spLocks noGrp="1" noChangeArrowheads="1"/>
          </p:cNvSpPr>
          <p:nvPr>
            <p:ph type="body" idx="1"/>
          </p:nvPr>
        </p:nvSpPr>
        <p:spPr>
          <a:xfrm>
            <a:off x="898525" y="4359275"/>
            <a:ext cx="5011738" cy="4133850"/>
          </a:xfrm>
          <a:solidFill>
            <a:srgbClr val="FFFFFF"/>
          </a:solidFill>
          <a:ln>
            <a:solidFill>
              <a:srgbClr val="000000"/>
            </a:solidFill>
          </a:ln>
        </p:spPr>
        <p:txBody>
          <a:bodyPr/>
          <a:lstStyle/>
          <a:p>
            <a:pPr eaLnBrk="1" hangingPunct="1"/>
            <a:endParaRPr lang="zh-CN" altLang="zh-CN" smtClean="0">
              <a:ea typeface="楷体_GB2312" pitchFamily="49" charset="-122"/>
            </a:endParaRPr>
          </a:p>
        </p:txBody>
      </p:sp>
    </p:spTree>
    <p:extLst>
      <p:ext uri="{BB962C8B-B14F-4D97-AF65-F5344CB8AC3E}">
        <p14:creationId xmlns:p14="http://schemas.microsoft.com/office/powerpoint/2010/main" val="20242738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p:spPr>
        <p:txBody>
          <a:bodyPr/>
          <a:lstStyle/>
          <a:p>
            <a:fld id="{7D3E3BDE-E7C3-4D4A-B3F4-BE6385C433FF}" type="slidenum">
              <a:rPr lang="zh-CN" altLang="en-US" smtClean="0">
                <a:ea typeface="宋体" charset="-122"/>
              </a:rPr>
              <a:pPr/>
              <a:t>4</a:t>
            </a:fld>
            <a:endParaRPr lang="en-US" altLang="zh-CN" smtClean="0">
              <a:ea typeface="宋体" charset="-122"/>
            </a:endParaRPr>
          </a:p>
        </p:txBody>
      </p:sp>
      <p:sp>
        <p:nvSpPr>
          <p:cNvPr id="84995" name="Rectangle 2"/>
          <p:cNvSpPr>
            <a:spLocks noGrp="1" noRot="1" noChangeAspect="1" noChangeArrowheads="1" noTextEdit="1"/>
          </p:cNvSpPr>
          <p:nvPr>
            <p:ph type="sldImg"/>
          </p:nvPr>
        </p:nvSpPr>
        <p:spPr>
          <a:ln/>
        </p:spPr>
      </p:sp>
      <p:sp>
        <p:nvSpPr>
          <p:cNvPr id="84996" name="Rectangle 3"/>
          <p:cNvSpPr>
            <a:spLocks noGrp="1" noChangeArrowheads="1"/>
          </p:cNvSpPr>
          <p:nvPr>
            <p:ph type="body" idx="1"/>
          </p:nvPr>
        </p:nvSpPr>
        <p:spPr>
          <a:noFill/>
          <a:ln w="9525"/>
        </p:spPr>
        <p:txBody>
          <a:bodyPr/>
          <a:lstStyle/>
          <a:p>
            <a:endParaRPr lang="zh-CN" altLang="en-US" dirty="0" smtClean="0">
              <a:ea typeface="宋体" charset="-122"/>
            </a:endParaRPr>
          </a:p>
        </p:txBody>
      </p:sp>
    </p:spTree>
    <p:extLst>
      <p:ext uri="{BB962C8B-B14F-4D97-AF65-F5344CB8AC3E}">
        <p14:creationId xmlns:p14="http://schemas.microsoft.com/office/powerpoint/2010/main" val="6423709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p:spPr>
        <p:txBody>
          <a:bodyPr/>
          <a:lstStyle/>
          <a:p>
            <a:fld id="{E2D63040-C80F-49FD-A108-C83BC63D595D}" type="slidenum">
              <a:rPr lang="en-US" altLang="zh-CN" smtClean="0"/>
              <a:pPr/>
              <a:t>5</a:t>
            </a:fld>
            <a:endParaRPr lang="en-US" altLang="zh-CN" dirty="0" smtClean="0"/>
          </a:p>
        </p:txBody>
      </p:sp>
      <p:sp>
        <p:nvSpPr>
          <p:cNvPr id="64515" name="Rectangle 2"/>
          <p:cNvSpPr>
            <a:spLocks noGrp="1" noRot="1" noChangeAspect="1" noChangeArrowheads="1" noTextEdit="1"/>
          </p:cNvSpPr>
          <p:nvPr>
            <p:ph type="sldImg"/>
          </p:nvPr>
        </p:nvSpPr>
        <p:spPr>
          <a:xfrm>
            <a:off x="1100138" y="676275"/>
            <a:ext cx="4610100" cy="3457575"/>
          </a:xfrm>
          <a:solidFill>
            <a:srgbClr val="FFFFFF"/>
          </a:solidFill>
          <a:ln/>
        </p:spPr>
      </p:sp>
      <p:sp>
        <p:nvSpPr>
          <p:cNvPr id="64516" name="Rectangle 3"/>
          <p:cNvSpPr>
            <a:spLocks noGrp="1" noChangeArrowheads="1"/>
          </p:cNvSpPr>
          <p:nvPr>
            <p:ph type="body" idx="1"/>
          </p:nvPr>
        </p:nvSpPr>
        <p:spPr>
          <a:xfrm>
            <a:off x="898525" y="4359275"/>
            <a:ext cx="5011738" cy="4133850"/>
          </a:xfrm>
          <a:solidFill>
            <a:srgbClr val="FFFFFF"/>
          </a:solidFill>
          <a:ln>
            <a:solidFill>
              <a:srgbClr val="000000"/>
            </a:solidFill>
          </a:ln>
        </p:spPr>
        <p:txBody>
          <a:bodyPr/>
          <a:lstStyle/>
          <a:p>
            <a:pPr eaLnBrk="1" hangingPunct="1"/>
            <a:endParaRPr lang="zh-CN" altLang="zh-CN" dirty="0" smtClean="0"/>
          </a:p>
        </p:txBody>
      </p:sp>
    </p:spTree>
    <p:extLst>
      <p:ext uri="{BB962C8B-B14F-4D97-AF65-F5344CB8AC3E}">
        <p14:creationId xmlns:p14="http://schemas.microsoft.com/office/powerpoint/2010/main" val="6045475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sz="1200" dirty="0" smtClean="0">
                <a:solidFill>
                  <a:srgbClr val="000099"/>
                </a:solidFill>
                <a:latin typeface="方正大黑简体" pitchFamily="2" charset="-122"/>
                <a:ea typeface="方正大黑简体" pitchFamily="2" charset="-122"/>
              </a:rPr>
              <a:t>均衡技术可以起到什么作用？ </a:t>
            </a:r>
            <a:endParaRPr lang="zh-CN" altLang="en-US" dirty="0"/>
          </a:p>
        </p:txBody>
      </p:sp>
      <p:sp>
        <p:nvSpPr>
          <p:cNvPr id="4" name="灯片编号占位符 3"/>
          <p:cNvSpPr>
            <a:spLocks noGrp="1"/>
          </p:cNvSpPr>
          <p:nvPr>
            <p:ph type="sldNum" sz="quarter" idx="10"/>
          </p:nvPr>
        </p:nvSpPr>
        <p:spPr/>
        <p:txBody>
          <a:bodyPr/>
          <a:lstStyle/>
          <a:p>
            <a:fld id="{5F615411-F354-41A7-B6AF-AD07054BD649}" type="slidenum">
              <a:rPr lang="zh-CN" altLang="en-US" smtClean="0"/>
              <a:pPr/>
              <a:t>6</a:t>
            </a:fld>
            <a:endParaRPr lang="zh-CN" altLang="en-US"/>
          </a:p>
        </p:txBody>
      </p:sp>
    </p:spTree>
    <p:extLst>
      <p:ext uri="{BB962C8B-B14F-4D97-AF65-F5344CB8AC3E}">
        <p14:creationId xmlns:p14="http://schemas.microsoft.com/office/powerpoint/2010/main" val="21360515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sz="1200" dirty="0" smtClean="0">
                <a:solidFill>
                  <a:srgbClr val="000099"/>
                </a:solidFill>
                <a:latin typeface="方正兰亭粗黑简体" pitchFamily="2" charset="-122"/>
                <a:ea typeface="方正兰亭粗黑简体" pitchFamily="2" charset="-122"/>
              </a:rPr>
              <a:t>什么是均衡技术？ </a:t>
            </a:r>
            <a:endParaRPr lang="zh-CN" altLang="en-US" dirty="0"/>
          </a:p>
        </p:txBody>
      </p:sp>
      <p:sp>
        <p:nvSpPr>
          <p:cNvPr id="4" name="灯片编号占位符 3"/>
          <p:cNvSpPr>
            <a:spLocks noGrp="1"/>
          </p:cNvSpPr>
          <p:nvPr>
            <p:ph type="sldNum" sz="quarter" idx="10"/>
          </p:nvPr>
        </p:nvSpPr>
        <p:spPr/>
        <p:txBody>
          <a:bodyPr/>
          <a:lstStyle/>
          <a:p>
            <a:fld id="{5F615411-F354-41A7-B6AF-AD07054BD649}" type="slidenum">
              <a:rPr lang="zh-CN" altLang="en-US" smtClean="0"/>
              <a:pPr/>
              <a:t>7</a:t>
            </a:fld>
            <a:endParaRPr lang="zh-CN" altLang="en-US"/>
          </a:p>
        </p:txBody>
      </p:sp>
    </p:spTree>
    <p:extLst>
      <p:ext uri="{BB962C8B-B14F-4D97-AF65-F5344CB8AC3E}">
        <p14:creationId xmlns:p14="http://schemas.microsoft.com/office/powerpoint/2010/main" val="26095100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p:spPr>
        <p:txBody>
          <a:bodyPr/>
          <a:lstStyle/>
          <a:p>
            <a:fld id="{BA30C13A-9086-4B02-AA85-8CE63C91EDED}" type="slidenum">
              <a:rPr lang="zh-CN" altLang="en-US" smtClean="0"/>
              <a:pPr/>
              <a:t>15</a:t>
            </a:fld>
            <a:endParaRPr lang="en-US" altLang="zh-CN" smtClean="0"/>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noFill/>
          <a:ln/>
        </p:spPr>
        <p:txBody>
          <a:bodyPr/>
          <a:lstStyle/>
          <a:p>
            <a:r>
              <a:rPr lang="zh-CN" altLang="en-US" sz="1200" dirty="0" smtClean="0">
                <a:solidFill>
                  <a:srgbClr val="000099"/>
                </a:solidFill>
                <a:latin typeface="方正兰亭粗黑简体" pitchFamily="2" charset="-122"/>
                <a:ea typeface="方正兰亭粗黑简体" pitchFamily="2" charset="-122"/>
              </a:rPr>
              <a:t>如何实现自适应调整？ </a:t>
            </a:r>
            <a:endParaRPr lang="zh-CN" altLang="en-US" dirty="0" smtClean="0"/>
          </a:p>
        </p:txBody>
      </p:sp>
    </p:spTree>
    <p:extLst>
      <p:ext uri="{BB962C8B-B14F-4D97-AF65-F5344CB8AC3E}">
        <p14:creationId xmlns:p14="http://schemas.microsoft.com/office/powerpoint/2010/main" val="8651472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p:spPr>
        <p:txBody>
          <a:bodyPr/>
          <a:lstStyle/>
          <a:p>
            <a:fld id="{89994A13-5B37-4581-B6B3-B60F2E451208}" type="slidenum">
              <a:rPr lang="zh-CN" altLang="en-US" smtClean="0"/>
              <a:pPr/>
              <a:t>18</a:t>
            </a:fld>
            <a:endParaRPr lang="en-US" altLang="zh-CN" smtClean="0"/>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p:spPr>
        <p:txBody>
          <a:bodyPr/>
          <a:lstStyle/>
          <a:p>
            <a:r>
              <a:rPr lang="zh-CN" altLang="en-US" sz="1200" dirty="0" smtClean="0">
                <a:solidFill>
                  <a:srgbClr val="000099"/>
                </a:solidFill>
                <a:latin typeface="方正兰亭粗黑简体" pitchFamily="2" charset="-122"/>
                <a:ea typeface="方正兰亭粗黑简体" pitchFamily="2" charset="-122"/>
              </a:rPr>
              <a:t>如何设计发送数据格式？</a:t>
            </a:r>
            <a:endParaRPr lang="zh-CN" altLang="en-US" dirty="0" smtClean="0"/>
          </a:p>
        </p:txBody>
      </p:sp>
    </p:spTree>
    <p:extLst>
      <p:ext uri="{BB962C8B-B14F-4D97-AF65-F5344CB8AC3E}">
        <p14:creationId xmlns:p14="http://schemas.microsoft.com/office/powerpoint/2010/main" val="40628646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p:spPr>
        <p:txBody>
          <a:bodyPr/>
          <a:lstStyle/>
          <a:p>
            <a:fld id="{B2AC841C-7EFC-4DEB-B88F-69D0A2A756E8}" type="slidenum">
              <a:rPr lang="zh-CN" altLang="en-US" smtClean="0"/>
              <a:pPr/>
              <a:t>19</a:t>
            </a:fld>
            <a:endParaRPr lang="en-US" altLang="zh-CN" smtClean="0"/>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noFill/>
          <a:ln/>
        </p:spPr>
        <p:txBody>
          <a:bodyPr/>
          <a:lstStyle/>
          <a:p>
            <a:endParaRPr lang="zh-CN" altLang="en-US" smtClean="0"/>
          </a:p>
        </p:txBody>
      </p:sp>
    </p:spTree>
    <p:extLst>
      <p:ext uri="{BB962C8B-B14F-4D97-AF65-F5344CB8AC3E}">
        <p14:creationId xmlns:p14="http://schemas.microsoft.com/office/powerpoint/2010/main" val="30932071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p:spPr>
        <p:txBody>
          <a:bodyPr/>
          <a:lstStyle/>
          <a:p>
            <a:fld id="{E2D63040-C80F-49FD-A108-C83BC63D595D}" type="slidenum">
              <a:rPr lang="en-US" altLang="zh-CN" smtClean="0"/>
              <a:pPr/>
              <a:t>23</a:t>
            </a:fld>
            <a:endParaRPr lang="en-US" altLang="zh-CN" dirty="0" smtClean="0"/>
          </a:p>
        </p:txBody>
      </p:sp>
      <p:sp>
        <p:nvSpPr>
          <p:cNvPr id="64515" name="Rectangle 2"/>
          <p:cNvSpPr>
            <a:spLocks noGrp="1" noRot="1" noChangeAspect="1" noChangeArrowheads="1" noTextEdit="1"/>
          </p:cNvSpPr>
          <p:nvPr>
            <p:ph type="sldImg"/>
          </p:nvPr>
        </p:nvSpPr>
        <p:spPr>
          <a:xfrm>
            <a:off x="1100138" y="676275"/>
            <a:ext cx="4610100" cy="3457575"/>
          </a:xfrm>
          <a:solidFill>
            <a:srgbClr val="FFFFFF"/>
          </a:solidFill>
          <a:ln/>
        </p:spPr>
      </p:sp>
      <p:sp>
        <p:nvSpPr>
          <p:cNvPr id="64516" name="Rectangle 3"/>
          <p:cNvSpPr>
            <a:spLocks noGrp="1" noChangeArrowheads="1"/>
          </p:cNvSpPr>
          <p:nvPr>
            <p:ph type="body" idx="1"/>
          </p:nvPr>
        </p:nvSpPr>
        <p:spPr>
          <a:xfrm>
            <a:off x="898525" y="4359275"/>
            <a:ext cx="5011738" cy="4133850"/>
          </a:xfrm>
          <a:solidFill>
            <a:srgbClr val="FFFFFF"/>
          </a:solidFill>
          <a:ln>
            <a:solidFill>
              <a:srgbClr val="000000"/>
            </a:solidFill>
          </a:ln>
        </p:spPr>
        <p:txBody>
          <a:bodyPr/>
          <a:lstStyle/>
          <a:p>
            <a:pPr eaLnBrk="1" hangingPunct="1"/>
            <a:endParaRPr lang="zh-CN" altLang="zh-CN" dirty="0" smtClean="0"/>
          </a:p>
        </p:txBody>
      </p:sp>
    </p:spTree>
    <p:extLst>
      <p:ext uri="{BB962C8B-B14F-4D97-AF65-F5344CB8AC3E}">
        <p14:creationId xmlns:p14="http://schemas.microsoft.com/office/powerpoint/2010/main" val="14219432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sz="1200" dirty="0" smtClean="0">
                <a:solidFill>
                  <a:srgbClr val="0000FF"/>
                </a:solidFill>
                <a:latin typeface="方正大黑简体" pitchFamily="2" charset="-122"/>
                <a:ea typeface="方正大黑简体" pitchFamily="2" charset="-122"/>
                <a:cs typeface="+mn-cs"/>
              </a:rPr>
              <a:t>DFE: Decision feedback equalization</a:t>
            </a:r>
            <a:endParaRPr lang="zh-CN" altLang="en-US" dirty="0"/>
          </a:p>
        </p:txBody>
      </p:sp>
      <p:sp>
        <p:nvSpPr>
          <p:cNvPr id="4" name="灯片编号占位符 3"/>
          <p:cNvSpPr>
            <a:spLocks noGrp="1"/>
          </p:cNvSpPr>
          <p:nvPr>
            <p:ph type="sldNum" sz="quarter" idx="10"/>
          </p:nvPr>
        </p:nvSpPr>
        <p:spPr/>
        <p:txBody>
          <a:bodyPr/>
          <a:lstStyle/>
          <a:p>
            <a:fld id="{5F615411-F354-41A7-B6AF-AD07054BD649}" type="slidenum">
              <a:rPr lang="zh-CN" altLang="en-US" smtClean="0"/>
              <a:pPr/>
              <a:t>26</a:t>
            </a:fld>
            <a:endParaRPr lang="zh-CN" altLang="en-US"/>
          </a:p>
        </p:txBody>
      </p:sp>
    </p:spTree>
    <p:extLst>
      <p:ext uri="{BB962C8B-B14F-4D97-AF65-F5344CB8AC3E}">
        <p14:creationId xmlns:p14="http://schemas.microsoft.com/office/powerpoint/2010/main" val="26804601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p:spPr>
        <p:txBody>
          <a:bodyPr/>
          <a:lstStyle/>
          <a:p>
            <a:fld id="{59186CC1-3A22-47C6-A9C0-16F3B31CF8B5}" type="slidenum">
              <a:rPr lang="zh-CN" altLang="en-US" smtClean="0"/>
              <a:pPr/>
              <a:t>27</a:t>
            </a:fld>
            <a:endParaRPr lang="en-US" altLang="zh-CN" smtClean="0"/>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a:ln/>
        </p:spPr>
        <p:txBody>
          <a:bodyPr/>
          <a:lstStyle/>
          <a:p>
            <a:r>
              <a:rPr lang="zh-CN" altLang="en-US" dirty="0" smtClean="0">
                <a:latin typeface="宋体" pitchFamily="2" charset="-122"/>
              </a:rPr>
              <a:t>当信道失真太严重以致线性均衡器不易处理时，采用非线性均衡器处理会比较好。当信道中有深度频谱衰落时，用线性均衡器不能取得满意的效果，这是因为了补偿频谱失真，线性均衡器会对出现深衰落的那段频谱及近旁的频谱产生很大的增益，从而不能有效的补偿信道的衰落特性。</a:t>
            </a:r>
          </a:p>
          <a:p>
            <a:r>
              <a:rPr lang="zh-CN" altLang="en-US" dirty="0" smtClean="0"/>
              <a:t>判决反馈均衡既可以直接由横向滤波器实现，也可以由格型滤波器实现。</a:t>
            </a:r>
          </a:p>
          <a:p>
            <a:r>
              <a:rPr lang="zh-CN" altLang="en-US" dirty="0" smtClean="0">
                <a:latin typeface="宋体" pitchFamily="2" charset="-122"/>
              </a:rPr>
              <a:t>判决反馈均衡器的最小均方差总比基于横向滤波器结构的线性均衡器的最小均方差要小。因此，当频谱衰落较平坦时，线性横向均衡器会良好地工作；而当频谱衰落严重不均时，线性横向均衡器的性能会恶化，而采用</a:t>
            </a:r>
            <a:r>
              <a:rPr lang="en-US" altLang="zh-CN" dirty="0" smtClean="0">
                <a:latin typeface="宋体" pitchFamily="2" charset="-122"/>
              </a:rPr>
              <a:t>DFE</a:t>
            </a:r>
            <a:r>
              <a:rPr lang="zh-CN" altLang="en-US" dirty="0" smtClean="0">
                <a:latin typeface="宋体" pitchFamily="2" charset="-122"/>
              </a:rPr>
              <a:t>的均衡器则明显优于采用线性横向均衡器的。因而，判决反馈均衡更适合于有严重失真的无线信道。</a:t>
            </a:r>
          </a:p>
          <a:p>
            <a:r>
              <a:rPr lang="zh-CN" altLang="en-US" dirty="0" smtClean="0">
                <a:latin typeface="宋体" pitchFamily="2" charset="-122"/>
              </a:rPr>
              <a:t> </a:t>
            </a:r>
            <a:r>
              <a:rPr lang="zh-CN" altLang="en-US" b="1" dirty="0" smtClean="0">
                <a:latin typeface="宋体" pitchFamily="2" charset="-122"/>
              </a:rPr>
              <a:t>判决反馈均衡的另一形式称为预测</a:t>
            </a:r>
            <a:r>
              <a:rPr lang="en-US" altLang="zh-CN" b="1" dirty="0" smtClean="0">
                <a:latin typeface="宋体" pitchFamily="2" charset="-122"/>
              </a:rPr>
              <a:t>DFE</a:t>
            </a:r>
            <a:r>
              <a:rPr lang="zh-CN" altLang="en-US" b="1" dirty="0" smtClean="0">
                <a:latin typeface="宋体" pitchFamily="2" charset="-122"/>
              </a:rPr>
              <a:t>。</a:t>
            </a:r>
            <a:r>
              <a:rPr lang="zh-CN" altLang="en-US" dirty="0" smtClean="0">
                <a:latin typeface="宋体" pitchFamily="2" charset="-122"/>
              </a:rPr>
              <a:t>像传统</a:t>
            </a:r>
            <a:r>
              <a:rPr lang="en-US" altLang="zh-CN" dirty="0" smtClean="0">
                <a:latin typeface="宋体" pitchFamily="2" charset="-122"/>
              </a:rPr>
              <a:t>DFE</a:t>
            </a:r>
            <a:r>
              <a:rPr lang="zh-CN" altLang="en-US" dirty="0" smtClean="0">
                <a:latin typeface="宋体" pitchFamily="2" charset="-122"/>
              </a:rPr>
              <a:t>一样，它也有一个前馈滤波器</a:t>
            </a:r>
            <a:r>
              <a:rPr lang="en-US" altLang="zh-CN" dirty="0" smtClean="0">
                <a:latin typeface="宋体" pitchFamily="2" charset="-122"/>
              </a:rPr>
              <a:t>FFF。</a:t>
            </a:r>
            <a:r>
              <a:rPr lang="zh-CN" altLang="en-US" dirty="0" smtClean="0">
                <a:latin typeface="宋体" pitchFamily="2" charset="-122"/>
              </a:rPr>
              <a:t>可是，其</a:t>
            </a:r>
            <a:r>
              <a:rPr lang="en-US" altLang="zh-CN" dirty="0" smtClean="0">
                <a:latin typeface="宋体" pitchFamily="2" charset="-122"/>
              </a:rPr>
              <a:t>FBF</a:t>
            </a:r>
            <a:r>
              <a:rPr lang="zh-CN" altLang="en-US" dirty="0" smtClean="0">
                <a:latin typeface="宋体" pitchFamily="2" charset="-122"/>
              </a:rPr>
              <a:t>是由被检测器的输出和</a:t>
            </a:r>
            <a:r>
              <a:rPr lang="en-US" altLang="zh-CN" dirty="0" smtClean="0">
                <a:latin typeface="宋体" pitchFamily="2" charset="-122"/>
              </a:rPr>
              <a:t>FFF</a:t>
            </a:r>
            <a:r>
              <a:rPr lang="zh-CN" altLang="en-US" dirty="0" smtClean="0">
                <a:latin typeface="宋体" pitchFamily="2" charset="-122"/>
              </a:rPr>
              <a:t>的输出之差驱动的。因为它预测了包含在</a:t>
            </a:r>
            <a:r>
              <a:rPr lang="en-US" altLang="zh-CN" dirty="0" smtClean="0">
                <a:latin typeface="宋体" pitchFamily="2" charset="-122"/>
              </a:rPr>
              <a:t>FFF</a:t>
            </a:r>
            <a:r>
              <a:rPr lang="zh-CN" altLang="en-US" dirty="0" smtClean="0">
                <a:latin typeface="宋体" pitchFamily="2" charset="-122"/>
              </a:rPr>
              <a:t>中的噪声和残留的码间干扰，并减去了经过一段反馈延迟后的检测器的输出，因而这里把</a:t>
            </a:r>
            <a:r>
              <a:rPr lang="en-US" altLang="zh-CN" dirty="0" smtClean="0">
                <a:latin typeface="宋体" pitchFamily="2" charset="-122"/>
              </a:rPr>
              <a:t>FBF</a:t>
            </a:r>
            <a:r>
              <a:rPr lang="zh-CN" altLang="en-US" dirty="0" smtClean="0">
                <a:latin typeface="宋体" pitchFamily="2" charset="-122"/>
              </a:rPr>
              <a:t>称为噪声预测器。预测</a:t>
            </a:r>
            <a:r>
              <a:rPr lang="en-US" altLang="zh-CN" dirty="0" smtClean="0">
                <a:latin typeface="宋体" pitchFamily="2" charset="-122"/>
              </a:rPr>
              <a:t>DFE</a:t>
            </a:r>
            <a:r>
              <a:rPr lang="zh-CN" altLang="en-US" dirty="0" smtClean="0">
                <a:latin typeface="宋体" pitchFamily="2" charset="-122"/>
              </a:rPr>
              <a:t>中的</a:t>
            </a:r>
            <a:r>
              <a:rPr lang="en-US" altLang="zh-CN" dirty="0" smtClean="0">
                <a:latin typeface="宋体" pitchFamily="2" charset="-122"/>
              </a:rPr>
              <a:t>FBF</a:t>
            </a:r>
            <a:r>
              <a:rPr lang="zh-CN" altLang="en-US" dirty="0" smtClean="0">
                <a:latin typeface="宋体" pitchFamily="2" charset="-122"/>
              </a:rPr>
              <a:t>也可以用格型结构来实现。这时，可以用</a:t>
            </a:r>
            <a:r>
              <a:rPr lang="en-US" altLang="zh-CN" dirty="0" smtClean="0">
                <a:latin typeface="宋体" pitchFamily="2" charset="-122"/>
              </a:rPr>
              <a:t>RLS</a:t>
            </a:r>
            <a:r>
              <a:rPr lang="zh-CN" altLang="en-US" dirty="0" smtClean="0">
                <a:latin typeface="宋体" pitchFamily="2" charset="-122"/>
              </a:rPr>
              <a:t>格型算法产生快速收敛。</a:t>
            </a:r>
          </a:p>
          <a:p>
            <a:endParaRPr lang="zh-CN" altLang="en-US" dirty="0" smtClean="0">
              <a:latin typeface="宋体" pitchFamily="2" charset="-122"/>
            </a:endParaRPr>
          </a:p>
          <a:p>
            <a:endParaRPr lang="zh-CN" altLang="en-US" dirty="0" smtClean="0"/>
          </a:p>
        </p:txBody>
      </p:sp>
    </p:spTree>
    <p:extLst>
      <p:ext uri="{BB962C8B-B14F-4D97-AF65-F5344CB8AC3E}">
        <p14:creationId xmlns:p14="http://schemas.microsoft.com/office/powerpoint/2010/main" val="3449616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p:spPr>
        <p:txBody>
          <a:bodyPr/>
          <a:lstStyle/>
          <a:p>
            <a:fld id="{C211D430-69B5-450D-8942-626929E4BF94}" type="slidenum">
              <a:rPr lang="zh-CN" altLang="en-US" smtClean="0"/>
              <a:pPr/>
              <a:t>28</a:t>
            </a:fld>
            <a:endParaRPr lang="en-US" altLang="zh-CN" smtClean="0"/>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a:ln/>
        </p:spPr>
        <p:txBody>
          <a:bodyPr/>
          <a:lstStyle/>
          <a:p>
            <a:r>
              <a:rPr lang="zh-CN" altLang="en-US" b="1" smtClean="0">
                <a:latin typeface="宋体" pitchFamily="2" charset="-122"/>
              </a:rPr>
              <a:t>判决反馈均衡的另一形式称为预测</a:t>
            </a:r>
            <a:r>
              <a:rPr lang="en-US" altLang="zh-CN" b="1" smtClean="0">
                <a:latin typeface="宋体" pitchFamily="2" charset="-122"/>
              </a:rPr>
              <a:t>DFE</a:t>
            </a:r>
            <a:r>
              <a:rPr lang="zh-CN" altLang="en-US" b="1" smtClean="0">
                <a:latin typeface="宋体" pitchFamily="2" charset="-122"/>
              </a:rPr>
              <a:t>。</a:t>
            </a:r>
            <a:r>
              <a:rPr lang="zh-CN" altLang="en-US" smtClean="0">
                <a:latin typeface="宋体" pitchFamily="2" charset="-122"/>
              </a:rPr>
              <a:t>像传统</a:t>
            </a:r>
            <a:r>
              <a:rPr lang="en-US" altLang="zh-CN" smtClean="0">
                <a:latin typeface="宋体" pitchFamily="2" charset="-122"/>
              </a:rPr>
              <a:t>DFE</a:t>
            </a:r>
            <a:r>
              <a:rPr lang="zh-CN" altLang="en-US" smtClean="0">
                <a:latin typeface="宋体" pitchFamily="2" charset="-122"/>
              </a:rPr>
              <a:t>一样，它也有一个前馈滤波器</a:t>
            </a:r>
            <a:r>
              <a:rPr lang="en-US" altLang="zh-CN" smtClean="0">
                <a:latin typeface="宋体" pitchFamily="2" charset="-122"/>
              </a:rPr>
              <a:t>FFF。</a:t>
            </a:r>
            <a:r>
              <a:rPr lang="zh-CN" altLang="en-US" smtClean="0">
                <a:latin typeface="宋体" pitchFamily="2" charset="-122"/>
              </a:rPr>
              <a:t>可是，其</a:t>
            </a:r>
            <a:r>
              <a:rPr lang="en-US" altLang="zh-CN" smtClean="0">
                <a:latin typeface="宋体" pitchFamily="2" charset="-122"/>
              </a:rPr>
              <a:t>FBF</a:t>
            </a:r>
            <a:r>
              <a:rPr lang="zh-CN" altLang="en-US" smtClean="0">
                <a:latin typeface="宋体" pitchFamily="2" charset="-122"/>
              </a:rPr>
              <a:t>是由被检测器的输出和</a:t>
            </a:r>
            <a:r>
              <a:rPr lang="en-US" altLang="zh-CN" smtClean="0">
                <a:latin typeface="宋体" pitchFamily="2" charset="-122"/>
              </a:rPr>
              <a:t>FFF</a:t>
            </a:r>
            <a:r>
              <a:rPr lang="zh-CN" altLang="en-US" smtClean="0">
                <a:latin typeface="宋体" pitchFamily="2" charset="-122"/>
              </a:rPr>
              <a:t>的输出之差驱动的。因为它预测了包含在</a:t>
            </a:r>
            <a:r>
              <a:rPr lang="en-US" altLang="zh-CN" smtClean="0">
                <a:latin typeface="宋体" pitchFamily="2" charset="-122"/>
              </a:rPr>
              <a:t>FFF</a:t>
            </a:r>
            <a:r>
              <a:rPr lang="zh-CN" altLang="en-US" smtClean="0">
                <a:latin typeface="宋体" pitchFamily="2" charset="-122"/>
              </a:rPr>
              <a:t>中的噪声和残留的码间干扰，并减去了经过一段反馈延迟后的检测器的输出，因而这里把</a:t>
            </a:r>
            <a:r>
              <a:rPr lang="en-US" altLang="zh-CN" smtClean="0">
                <a:latin typeface="宋体" pitchFamily="2" charset="-122"/>
              </a:rPr>
              <a:t>FBF</a:t>
            </a:r>
            <a:r>
              <a:rPr lang="zh-CN" altLang="en-US" smtClean="0">
                <a:latin typeface="宋体" pitchFamily="2" charset="-122"/>
              </a:rPr>
              <a:t>称为噪声预测器。预测</a:t>
            </a:r>
            <a:r>
              <a:rPr lang="en-US" altLang="zh-CN" smtClean="0">
                <a:latin typeface="宋体" pitchFamily="2" charset="-122"/>
              </a:rPr>
              <a:t>DFE</a:t>
            </a:r>
            <a:r>
              <a:rPr lang="zh-CN" altLang="en-US" smtClean="0">
                <a:latin typeface="宋体" pitchFamily="2" charset="-122"/>
              </a:rPr>
              <a:t>中的</a:t>
            </a:r>
            <a:r>
              <a:rPr lang="en-US" altLang="zh-CN" smtClean="0">
                <a:latin typeface="宋体" pitchFamily="2" charset="-122"/>
              </a:rPr>
              <a:t>FBF</a:t>
            </a:r>
            <a:r>
              <a:rPr lang="zh-CN" altLang="en-US" smtClean="0">
                <a:latin typeface="宋体" pitchFamily="2" charset="-122"/>
              </a:rPr>
              <a:t>也可以用格型结构来实现。这时，可以用</a:t>
            </a:r>
            <a:r>
              <a:rPr lang="en-US" altLang="zh-CN" smtClean="0">
                <a:latin typeface="宋体" pitchFamily="2" charset="-122"/>
              </a:rPr>
              <a:t>RLS</a:t>
            </a:r>
            <a:r>
              <a:rPr lang="zh-CN" altLang="en-US" smtClean="0">
                <a:latin typeface="宋体" pitchFamily="2" charset="-122"/>
              </a:rPr>
              <a:t>格型算法产生快速收敛。</a:t>
            </a:r>
          </a:p>
          <a:p>
            <a:endParaRPr lang="zh-CN" altLang="en-US" smtClean="0">
              <a:latin typeface="宋体" pitchFamily="2" charset="-122"/>
            </a:endParaRPr>
          </a:p>
          <a:p>
            <a:endParaRPr lang="zh-CN" altLang="en-US" smtClean="0"/>
          </a:p>
        </p:txBody>
      </p:sp>
    </p:spTree>
    <p:extLst>
      <p:ext uri="{BB962C8B-B14F-4D97-AF65-F5344CB8AC3E}">
        <p14:creationId xmlns:p14="http://schemas.microsoft.com/office/powerpoint/2010/main" val="9925260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p:spPr>
        <p:txBody>
          <a:bodyPr/>
          <a:lstStyle/>
          <a:p>
            <a:fld id="{E2D63040-C80F-49FD-A108-C83BC63D595D}" type="slidenum">
              <a:rPr lang="en-US" altLang="zh-CN" smtClean="0"/>
              <a:pPr/>
              <a:t>31</a:t>
            </a:fld>
            <a:endParaRPr lang="en-US" altLang="zh-CN" dirty="0" smtClean="0"/>
          </a:p>
        </p:txBody>
      </p:sp>
      <p:sp>
        <p:nvSpPr>
          <p:cNvPr id="64515" name="Rectangle 2"/>
          <p:cNvSpPr>
            <a:spLocks noGrp="1" noRot="1" noChangeAspect="1" noChangeArrowheads="1" noTextEdit="1"/>
          </p:cNvSpPr>
          <p:nvPr>
            <p:ph type="sldImg"/>
          </p:nvPr>
        </p:nvSpPr>
        <p:spPr>
          <a:xfrm>
            <a:off x="1100138" y="676275"/>
            <a:ext cx="4610100" cy="3457575"/>
          </a:xfrm>
          <a:solidFill>
            <a:srgbClr val="FFFFFF"/>
          </a:solidFill>
          <a:ln/>
        </p:spPr>
      </p:sp>
      <p:sp>
        <p:nvSpPr>
          <p:cNvPr id="64516" name="Rectangle 3"/>
          <p:cNvSpPr>
            <a:spLocks noGrp="1" noChangeArrowheads="1"/>
          </p:cNvSpPr>
          <p:nvPr>
            <p:ph type="body" idx="1"/>
          </p:nvPr>
        </p:nvSpPr>
        <p:spPr>
          <a:xfrm>
            <a:off x="898525" y="4359275"/>
            <a:ext cx="5011738" cy="4133850"/>
          </a:xfrm>
          <a:solidFill>
            <a:srgbClr val="FFFFFF"/>
          </a:solidFill>
          <a:ln>
            <a:solidFill>
              <a:srgbClr val="000000"/>
            </a:solidFill>
          </a:ln>
        </p:spPr>
        <p:txBody>
          <a:bodyPr/>
          <a:lstStyle/>
          <a:p>
            <a:pPr eaLnBrk="1" hangingPunct="1"/>
            <a:endParaRPr lang="zh-CN" altLang="zh-CN" dirty="0" smtClean="0"/>
          </a:p>
        </p:txBody>
      </p:sp>
    </p:spTree>
    <p:extLst>
      <p:ext uri="{BB962C8B-B14F-4D97-AF65-F5344CB8AC3E}">
        <p14:creationId xmlns:p14="http://schemas.microsoft.com/office/powerpoint/2010/main" val="22456842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sz="1200" dirty="0" smtClean="0">
                <a:solidFill>
                  <a:srgbClr val="000099"/>
                </a:solidFill>
                <a:latin typeface="方正大黑简体" pitchFamily="2" charset="-122"/>
                <a:ea typeface="方正大黑简体" pitchFamily="2" charset="-122"/>
              </a:rPr>
              <a:t>均衡算法有什么作用？</a:t>
            </a:r>
            <a:endParaRPr lang="en-US" altLang="zh-CN" sz="1200" dirty="0" smtClean="0">
              <a:solidFill>
                <a:srgbClr val="000099"/>
              </a:solidFill>
              <a:latin typeface="方正大黑简体" pitchFamily="2" charset="-122"/>
              <a:ea typeface="方正大黑简体" pitchFamily="2" charset="-122"/>
            </a:endParaRPr>
          </a:p>
          <a:p>
            <a:r>
              <a:rPr lang="zh-CN" altLang="en-US" sz="1200" dirty="0" smtClean="0">
                <a:solidFill>
                  <a:srgbClr val="000099"/>
                </a:solidFill>
                <a:latin typeface="方正大黑简体" pitchFamily="2" charset="-122"/>
                <a:ea typeface="方正大黑简体" pitchFamily="2" charset="-122"/>
              </a:rPr>
              <a:t>如何衡量均衡算法的优劣？</a:t>
            </a:r>
            <a:endParaRPr lang="zh-CN" altLang="en-US" dirty="0"/>
          </a:p>
        </p:txBody>
      </p:sp>
      <p:sp>
        <p:nvSpPr>
          <p:cNvPr id="4" name="灯片编号占位符 3"/>
          <p:cNvSpPr>
            <a:spLocks noGrp="1"/>
          </p:cNvSpPr>
          <p:nvPr>
            <p:ph type="sldNum" sz="quarter" idx="10"/>
          </p:nvPr>
        </p:nvSpPr>
        <p:spPr/>
        <p:txBody>
          <a:bodyPr/>
          <a:lstStyle/>
          <a:p>
            <a:fld id="{5F615411-F354-41A7-B6AF-AD07054BD649}" type="slidenum">
              <a:rPr lang="zh-CN" altLang="en-US" smtClean="0"/>
              <a:pPr/>
              <a:t>32</a:t>
            </a:fld>
            <a:endParaRPr lang="zh-CN" altLang="en-US"/>
          </a:p>
        </p:txBody>
      </p:sp>
    </p:spTree>
    <p:extLst>
      <p:ext uri="{BB962C8B-B14F-4D97-AF65-F5344CB8AC3E}">
        <p14:creationId xmlns:p14="http://schemas.microsoft.com/office/powerpoint/2010/main" val="30581867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p:spPr>
        <p:txBody>
          <a:bodyPr/>
          <a:lstStyle/>
          <a:p>
            <a:fld id="{011828CE-2773-4342-B9F9-B377D3BEACEE}" type="slidenum">
              <a:rPr lang="zh-CN" altLang="en-US" smtClean="0"/>
              <a:pPr/>
              <a:t>33</a:t>
            </a:fld>
            <a:endParaRPr lang="en-US" altLang="zh-CN" smtClean="0"/>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p:spPr>
        <p:txBody>
          <a:bodyPr/>
          <a:lstStyle/>
          <a:p>
            <a:pPr algn="just"/>
            <a:r>
              <a:rPr lang="zh-CN" altLang="en-US" dirty="0" smtClean="0"/>
              <a:t>均衡算法：</a:t>
            </a:r>
          </a:p>
          <a:p>
            <a:pPr algn="just"/>
            <a:r>
              <a:rPr lang="zh-CN" altLang="en-US" dirty="0" smtClean="0"/>
              <a:t>在给定均衡准则下，如何调节 加权系数以实现均衡准则的要求的方法，则称为均衡算法。</a:t>
            </a:r>
          </a:p>
          <a:p>
            <a:pPr algn="just"/>
            <a:r>
              <a:rPr lang="zh-CN" altLang="en-US" dirty="0" smtClean="0"/>
              <a:t>指标：收敛速度、运算量。</a:t>
            </a:r>
          </a:p>
          <a:p>
            <a:pPr algn="just"/>
            <a:r>
              <a:rPr lang="zh-CN" altLang="en-US" dirty="0" smtClean="0"/>
              <a:t>由于最小均方误差是建立在波形度量上的准则，所以，均方误差极小值均衡算法的性能将优于峰值失真极小值的均衡算法。这也是均方误差准则及算法得到广泛应用的原因。 </a:t>
            </a:r>
          </a:p>
          <a:p>
            <a:endParaRPr lang="zh-CN" altLang="en-US" dirty="0" smtClean="0"/>
          </a:p>
        </p:txBody>
      </p:sp>
    </p:spTree>
    <p:extLst>
      <p:ext uri="{BB962C8B-B14F-4D97-AF65-F5344CB8AC3E}">
        <p14:creationId xmlns:p14="http://schemas.microsoft.com/office/powerpoint/2010/main" val="32987720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p:spPr>
        <p:txBody>
          <a:bodyPr/>
          <a:lstStyle/>
          <a:p>
            <a:fld id="{E2D63040-C80F-49FD-A108-C83BC63D595D}" type="slidenum">
              <a:rPr lang="en-US" altLang="zh-CN" smtClean="0"/>
              <a:pPr/>
              <a:t>36</a:t>
            </a:fld>
            <a:endParaRPr lang="en-US" altLang="zh-CN" dirty="0" smtClean="0"/>
          </a:p>
        </p:txBody>
      </p:sp>
      <p:sp>
        <p:nvSpPr>
          <p:cNvPr id="64515" name="Rectangle 2"/>
          <p:cNvSpPr>
            <a:spLocks noGrp="1" noRot="1" noChangeAspect="1" noChangeArrowheads="1" noTextEdit="1"/>
          </p:cNvSpPr>
          <p:nvPr>
            <p:ph type="sldImg"/>
          </p:nvPr>
        </p:nvSpPr>
        <p:spPr>
          <a:xfrm>
            <a:off x="1100138" y="676275"/>
            <a:ext cx="4610100" cy="3457575"/>
          </a:xfrm>
          <a:solidFill>
            <a:srgbClr val="FFFFFF"/>
          </a:solidFill>
          <a:ln/>
        </p:spPr>
      </p:sp>
      <p:sp>
        <p:nvSpPr>
          <p:cNvPr id="64516" name="Rectangle 3"/>
          <p:cNvSpPr>
            <a:spLocks noGrp="1" noChangeArrowheads="1"/>
          </p:cNvSpPr>
          <p:nvPr>
            <p:ph type="body" idx="1"/>
          </p:nvPr>
        </p:nvSpPr>
        <p:spPr>
          <a:xfrm>
            <a:off x="898525" y="4359275"/>
            <a:ext cx="5011738" cy="4133850"/>
          </a:xfrm>
          <a:solidFill>
            <a:srgbClr val="FFFFFF"/>
          </a:solidFill>
          <a:ln>
            <a:solidFill>
              <a:srgbClr val="000000"/>
            </a:solidFill>
          </a:ln>
        </p:spPr>
        <p:txBody>
          <a:bodyPr/>
          <a:lstStyle/>
          <a:p>
            <a:pPr eaLnBrk="1" hangingPunct="1"/>
            <a:endParaRPr lang="zh-CN" altLang="zh-CN" dirty="0" smtClean="0"/>
          </a:p>
        </p:txBody>
      </p:sp>
    </p:spTree>
    <p:extLst>
      <p:ext uri="{BB962C8B-B14F-4D97-AF65-F5344CB8AC3E}">
        <p14:creationId xmlns:p14="http://schemas.microsoft.com/office/powerpoint/2010/main" val="361095487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幻灯片图像占位符 1"/>
          <p:cNvSpPr>
            <a:spLocks noGrp="1" noRot="1" noChangeAspect="1" noTextEdit="1"/>
          </p:cNvSpPr>
          <p:nvPr>
            <p:ph type="sldImg"/>
          </p:nvPr>
        </p:nvSpPr>
        <p:spPr>
          <a:ln/>
        </p:spPr>
      </p:sp>
      <p:sp>
        <p:nvSpPr>
          <p:cNvPr id="73731" name="备注占位符 2"/>
          <p:cNvSpPr>
            <a:spLocks noGrp="1"/>
          </p:cNvSpPr>
          <p:nvPr>
            <p:ph type="body" idx="1"/>
          </p:nvPr>
        </p:nvSpPr>
        <p:spPr>
          <a:noFill/>
          <a:ln/>
        </p:spPr>
        <p:txBody>
          <a:bodyPr/>
          <a:lstStyle/>
          <a:p>
            <a:r>
              <a:rPr lang="zh-CN" altLang="en-US" sz="1200" dirty="0" smtClean="0">
                <a:solidFill>
                  <a:srgbClr val="000099"/>
                </a:solidFill>
                <a:latin typeface="方正大黑简体" pitchFamily="2" charset="-122"/>
                <a:ea typeface="方正大黑简体" pitchFamily="2" charset="-122"/>
              </a:rPr>
              <a:t>什么情况下需要使用自适应均衡技术？</a:t>
            </a:r>
            <a:endParaRPr lang="zh-CN" altLang="en-US" dirty="0" smtClean="0"/>
          </a:p>
        </p:txBody>
      </p:sp>
      <p:sp>
        <p:nvSpPr>
          <p:cNvPr id="73732" name="灯片编号占位符 3"/>
          <p:cNvSpPr>
            <a:spLocks noGrp="1"/>
          </p:cNvSpPr>
          <p:nvPr>
            <p:ph type="sldNum" sz="quarter" idx="5"/>
          </p:nvPr>
        </p:nvSpPr>
        <p:spPr>
          <a:noFill/>
        </p:spPr>
        <p:txBody>
          <a:bodyPr/>
          <a:lstStyle/>
          <a:p>
            <a:fld id="{BE72A432-BC43-4A49-A9C7-BFB4D4E3B5E7}" type="slidenum">
              <a:rPr lang="en-US" altLang="zh-CN" smtClean="0"/>
              <a:pPr/>
              <a:t>37</a:t>
            </a:fld>
            <a:endParaRPr lang="en-US" altLang="zh-CN" smtClean="0"/>
          </a:p>
        </p:txBody>
      </p:sp>
    </p:spTree>
    <p:extLst>
      <p:ext uri="{BB962C8B-B14F-4D97-AF65-F5344CB8AC3E}">
        <p14:creationId xmlns:p14="http://schemas.microsoft.com/office/powerpoint/2010/main" val="333929284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幻灯片图像占位符 1"/>
          <p:cNvSpPr>
            <a:spLocks noGrp="1" noRot="1" noChangeAspect="1" noTextEdit="1"/>
          </p:cNvSpPr>
          <p:nvPr>
            <p:ph type="sldImg"/>
          </p:nvPr>
        </p:nvSpPr>
        <p:spPr>
          <a:ln/>
        </p:spPr>
      </p:sp>
      <p:sp>
        <p:nvSpPr>
          <p:cNvPr id="73731" name="备注占位符 2"/>
          <p:cNvSpPr>
            <a:spLocks noGrp="1"/>
          </p:cNvSpPr>
          <p:nvPr>
            <p:ph type="body" idx="1"/>
          </p:nvPr>
        </p:nvSpPr>
        <p:spPr>
          <a:noFill/>
          <a:ln/>
        </p:spPr>
        <p:txBody>
          <a:bodyPr/>
          <a:lstStyle/>
          <a:p>
            <a:endParaRPr lang="zh-CN" altLang="en-US" smtClean="0"/>
          </a:p>
        </p:txBody>
      </p:sp>
      <p:sp>
        <p:nvSpPr>
          <p:cNvPr id="73732" name="灯片编号占位符 3"/>
          <p:cNvSpPr>
            <a:spLocks noGrp="1"/>
          </p:cNvSpPr>
          <p:nvPr>
            <p:ph type="sldNum" sz="quarter" idx="5"/>
          </p:nvPr>
        </p:nvSpPr>
        <p:spPr>
          <a:noFill/>
        </p:spPr>
        <p:txBody>
          <a:bodyPr/>
          <a:lstStyle/>
          <a:p>
            <a:fld id="{BE72A432-BC43-4A49-A9C7-BFB4D4E3B5E7}" type="slidenum">
              <a:rPr lang="en-US" altLang="zh-CN" smtClean="0"/>
              <a:pPr/>
              <a:t>38</a:t>
            </a:fld>
            <a:endParaRPr lang="en-US" altLang="zh-CN" smtClean="0"/>
          </a:p>
        </p:txBody>
      </p:sp>
    </p:spTree>
    <p:extLst>
      <p:ext uri="{BB962C8B-B14F-4D97-AF65-F5344CB8AC3E}">
        <p14:creationId xmlns:p14="http://schemas.microsoft.com/office/powerpoint/2010/main" val="39028447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sz="1200" dirty="0" smtClean="0">
                <a:solidFill>
                  <a:srgbClr val="000099"/>
                </a:solidFill>
                <a:latin typeface="方正大黑简体" pitchFamily="2" charset="-122"/>
                <a:ea typeface="方正大黑简体" pitchFamily="2" charset="-122"/>
                <a:cs typeface="+mn-cs"/>
              </a:rPr>
              <a:t>数据传输格式中的帧长如何设置？</a:t>
            </a:r>
            <a:endParaRPr lang="zh-CN" altLang="en-US" dirty="0"/>
          </a:p>
        </p:txBody>
      </p:sp>
      <p:sp>
        <p:nvSpPr>
          <p:cNvPr id="4" name="灯片编号占位符 3"/>
          <p:cNvSpPr>
            <a:spLocks noGrp="1"/>
          </p:cNvSpPr>
          <p:nvPr>
            <p:ph type="sldNum" sz="quarter" idx="10"/>
          </p:nvPr>
        </p:nvSpPr>
        <p:spPr/>
        <p:txBody>
          <a:bodyPr/>
          <a:lstStyle/>
          <a:p>
            <a:fld id="{5F615411-F354-41A7-B6AF-AD07054BD649}" type="slidenum">
              <a:rPr lang="zh-CN" altLang="en-US" smtClean="0"/>
              <a:pPr/>
              <a:t>39</a:t>
            </a:fld>
            <a:endParaRPr lang="zh-CN" altLang="en-US"/>
          </a:p>
        </p:txBody>
      </p:sp>
    </p:spTree>
    <p:extLst>
      <p:ext uri="{BB962C8B-B14F-4D97-AF65-F5344CB8AC3E}">
        <p14:creationId xmlns:p14="http://schemas.microsoft.com/office/powerpoint/2010/main" val="416506048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p:spPr>
        <p:txBody>
          <a:bodyPr/>
          <a:lstStyle/>
          <a:p>
            <a:fld id="{6667C297-2155-4082-B9D4-0A0B44C81738}" type="slidenum">
              <a:rPr lang="en-US" altLang="zh-CN" smtClean="0"/>
              <a:pPr/>
              <a:t>42</a:t>
            </a:fld>
            <a:endParaRPr lang="en-US" altLang="zh-CN" smtClean="0"/>
          </a:p>
        </p:txBody>
      </p:sp>
      <p:sp>
        <p:nvSpPr>
          <p:cNvPr id="76803" name="Rectangle 2"/>
          <p:cNvSpPr>
            <a:spLocks noGrp="1" noRot="1" noChangeAspect="1" noChangeArrowheads="1" noTextEdit="1"/>
          </p:cNvSpPr>
          <p:nvPr>
            <p:ph type="sldImg"/>
          </p:nvPr>
        </p:nvSpPr>
        <p:spPr>
          <a:xfrm>
            <a:off x="1100138" y="676275"/>
            <a:ext cx="4610100" cy="3457575"/>
          </a:xfrm>
          <a:ln/>
        </p:spPr>
      </p:sp>
      <p:sp>
        <p:nvSpPr>
          <p:cNvPr id="76804" name="Rectangle 3"/>
          <p:cNvSpPr>
            <a:spLocks noGrp="1" noChangeArrowheads="1"/>
          </p:cNvSpPr>
          <p:nvPr>
            <p:ph type="body" idx="1"/>
          </p:nvPr>
        </p:nvSpPr>
        <p:spPr>
          <a:xfrm>
            <a:off x="898525" y="4359275"/>
            <a:ext cx="5011738" cy="4133850"/>
          </a:xfrm>
          <a:noFill/>
          <a:ln/>
        </p:spPr>
        <p:txBody>
          <a:bodyPr/>
          <a:lstStyle/>
          <a:p>
            <a:pPr eaLnBrk="1" hangingPunct="1"/>
            <a:endParaRPr lang="zh-CN" altLang="zh-CN" smtClean="0">
              <a:ea typeface="楷体_GB2312" pitchFamily="49" charset="-122"/>
            </a:endParaRPr>
          </a:p>
        </p:txBody>
      </p:sp>
    </p:spTree>
    <p:extLst>
      <p:ext uri="{BB962C8B-B14F-4D97-AF65-F5344CB8AC3E}">
        <p14:creationId xmlns:p14="http://schemas.microsoft.com/office/powerpoint/2010/main" val="2905405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B8F936A4-EFC6-484B-8833-34049FAA567C}" type="datetimeFigureOut">
              <a:rPr lang="zh-CN" altLang="en-US" smtClean="0"/>
              <a:pPr/>
              <a:t>2021/4/7 Wednesday</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72CFFB8-A44E-4759-A296-7CEBBC1D343B}" type="slidenum">
              <a:rPr lang="zh-CN" altLang="en-US" smtClean="0"/>
              <a:pPr/>
              <a:t>‹#›</a:t>
            </a:fld>
            <a:endParaRPr lang="zh-CN" altLang="en-US"/>
          </a:p>
        </p:txBody>
      </p:sp>
    </p:spTree>
    <p:extLst>
      <p:ext uri="{BB962C8B-B14F-4D97-AF65-F5344CB8AC3E}">
        <p14:creationId xmlns:p14="http://schemas.microsoft.com/office/powerpoint/2010/main" val="38527816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B8F936A4-EFC6-484B-8833-34049FAA567C}" type="datetimeFigureOut">
              <a:rPr lang="zh-CN" altLang="en-US" smtClean="0"/>
              <a:pPr/>
              <a:t>2021/4/7 Wednesday</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72CFFB8-A44E-4759-A296-7CEBBC1D343B}" type="slidenum">
              <a:rPr lang="zh-CN" altLang="en-US" smtClean="0"/>
              <a:pPr/>
              <a:t>‹#›</a:t>
            </a:fld>
            <a:endParaRPr lang="zh-CN" altLang="en-US"/>
          </a:p>
        </p:txBody>
      </p:sp>
    </p:spTree>
    <p:extLst>
      <p:ext uri="{BB962C8B-B14F-4D97-AF65-F5344CB8AC3E}">
        <p14:creationId xmlns:p14="http://schemas.microsoft.com/office/powerpoint/2010/main" val="3532545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B8F936A4-EFC6-484B-8833-34049FAA567C}" type="datetimeFigureOut">
              <a:rPr lang="zh-CN" altLang="en-US" smtClean="0"/>
              <a:pPr/>
              <a:t>2021/4/7 Wednesday</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72CFFB8-A44E-4759-A296-7CEBBC1D343B}" type="slidenum">
              <a:rPr lang="zh-CN" altLang="en-US" smtClean="0"/>
              <a:pPr/>
              <a:t>‹#›</a:t>
            </a:fld>
            <a:endParaRPr lang="zh-CN" altLang="en-US"/>
          </a:p>
        </p:txBody>
      </p:sp>
    </p:spTree>
    <p:extLst>
      <p:ext uri="{BB962C8B-B14F-4D97-AF65-F5344CB8AC3E}">
        <p14:creationId xmlns:p14="http://schemas.microsoft.com/office/powerpoint/2010/main" val="34051155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B8F936A4-EFC6-484B-8833-34049FAA567C}" type="datetimeFigureOut">
              <a:rPr lang="zh-CN" altLang="en-US" smtClean="0"/>
              <a:pPr/>
              <a:t>2021/4/7 Wednesday</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72CFFB8-A44E-4759-A296-7CEBBC1D343B}" type="slidenum">
              <a:rPr lang="zh-CN" altLang="en-US" smtClean="0"/>
              <a:pPr/>
              <a:t>‹#›</a:t>
            </a:fld>
            <a:endParaRPr lang="zh-CN" altLang="en-US"/>
          </a:p>
        </p:txBody>
      </p:sp>
    </p:spTree>
    <p:extLst>
      <p:ext uri="{BB962C8B-B14F-4D97-AF65-F5344CB8AC3E}">
        <p14:creationId xmlns:p14="http://schemas.microsoft.com/office/powerpoint/2010/main" val="16991988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B8F936A4-EFC6-484B-8833-34049FAA567C}" type="datetimeFigureOut">
              <a:rPr lang="zh-CN" altLang="en-US" smtClean="0"/>
              <a:pPr/>
              <a:t>2021/4/7 Wednesday</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72CFFB8-A44E-4759-A296-7CEBBC1D343B}" type="slidenum">
              <a:rPr lang="zh-CN" altLang="en-US" smtClean="0"/>
              <a:pPr/>
              <a:t>‹#›</a:t>
            </a:fld>
            <a:endParaRPr lang="zh-CN" altLang="en-US"/>
          </a:p>
        </p:txBody>
      </p:sp>
    </p:spTree>
    <p:extLst>
      <p:ext uri="{BB962C8B-B14F-4D97-AF65-F5344CB8AC3E}">
        <p14:creationId xmlns:p14="http://schemas.microsoft.com/office/powerpoint/2010/main" val="4019328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B8F936A4-EFC6-484B-8833-34049FAA567C}" type="datetimeFigureOut">
              <a:rPr lang="zh-CN" altLang="en-US" smtClean="0"/>
              <a:pPr/>
              <a:t>2021/4/7 Wednesday</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72CFFB8-A44E-4759-A296-7CEBBC1D343B}" type="slidenum">
              <a:rPr lang="zh-CN" altLang="en-US" smtClean="0"/>
              <a:pPr/>
              <a:t>‹#›</a:t>
            </a:fld>
            <a:endParaRPr lang="zh-CN" altLang="en-US"/>
          </a:p>
        </p:txBody>
      </p:sp>
    </p:spTree>
    <p:extLst>
      <p:ext uri="{BB962C8B-B14F-4D97-AF65-F5344CB8AC3E}">
        <p14:creationId xmlns:p14="http://schemas.microsoft.com/office/powerpoint/2010/main" val="15141123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B8F936A4-EFC6-484B-8833-34049FAA567C}" type="datetimeFigureOut">
              <a:rPr lang="zh-CN" altLang="en-US" smtClean="0"/>
              <a:pPr/>
              <a:t>2021/4/7 Wednesday</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72CFFB8-A44E-4759-A296-7CEBBC1D343B}" type="slidenum">
              <a:rPr lang="zh-CN" altLang="en-US" smtClean="0"/>
              <a:pPr/>
              <a:t>‹#›</a:t>
            </a:fld>
            <a:endParaRPr lang="zh-CN" altLang="en-US"/>
          </a:p>
        </p:txBody>
      </p:sp>
    </p:spTree>
    <p:extLst>
      <p:ext uri="{BB962C8B-B14F-4D97-AF65-F5344CB8AC3E}">
        <p14:creationId xmlns:p14="http://schemas.microsoft.com/office/powerpoint/2010/main" val="34361069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B8F936A4-EFC6-484B-8833-34049FAA567C}" type="datetimeFigureOut">
              <a:rPr lang="zh-CN" altLang="en-US" smtClean="0"/>
              <a:pPr/>
              <a:t>2021/4/7 Wednesday</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72CFFB8-A44E-4759-A296-7CEBBC1D343B}" type="slidenum">
              <a:rPr lang="zh-CN" altLang="en-US" smtClean="0"/>
              <a:pPr/>
              <a:t>‹#›</a:t>
            </a:fld>
            <a:endParaRPr lang="zh-CN" altLang="en-US"/>
          </a:p>
        </p:txBody>
      </p:sp>
    </p:spTree>
    <p:extLst>
      <p:ext uri="{BB962C8B-B14F-4D97-AF65-F5344CB8AC3E}">
        <p14:creationId xmlns:p14="http://schemas.microsoft.com/office/powerpoint/2010/main" val="24835613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B8F936A4-EFC6-484B-8833-34049FAA567C}" type="datetimeFigureOut">
              <a:rPr lang="zh-CN" altLang="en-US" smtClean="0"/>
              <a:pPr/>
              <a:t>2021/4/7 Wednesday</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72CFFB8-A44E-4759-A296-7CEBBC1D343B}" type="slidenum">
              <a:rPr lang="zh-CN" altLang="en-US" smtClean="0"/>
              <a:pPr/>
              <a:t>‹#›</a:t>
            </a:fld>
            <a:endParaRPr lang="zh-CN" altLang="en-US"/>
          </a:p>
        </p:txBody>
      </p:sp>
    </p:spTree>
    <p:extLst>
      <p:ext uri="{BB962C8B-B14F-4D97-AF65-F5344CB8AC3E}">
        <p14:creationId xmlns:p14="http://schemas.microsoft.com/office/powerpoint/2010/main" val="34324237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B8F936A4-EFC6-484B-8833-34049FAA567C}" type="datetimeFigureOut">
              <a:rPr lang="zh-CN" altLang="en-US" smtClean="0"/>
              <a:pPr/>
              <a:t>2021/4/7 Wednesday</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72CFFB8-A44E-4759-A296-7CEBBC1D343B}" type="slidenum">
              <a:rPr lang="zh-CN" altLang="en-US" smtClean="0"/>
              <a:pPr/>
              <a:t>‹#›</a:t>
            </a:fld>
            <a:endParaRPr lang="zh-CN" altLang="en-US"/>
          </a:p>
        </p:txBody>
      </p:sp>
    </p:spTree>
    <p:extLst>
      <p:ext uri="{BB962C8B-B14F-4D97-AF65-F5344CB8AC3E}">
        <p14:creationId xmlns:p14="http://schemas.microsoft.com/office/powerpoint/2010/main" val="13503141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标题幻灯片">
    <p:bg>
      <p:bgPr>
        <a:blipFill dpi="0" rotWithShape="1">
          <a:blip r:embed="rId2">
            <a:lum/>
          </a:blip>
          <a:srcRect/>
          <a:stretch>
            <a:fillRect l="-6000" r="-6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14755127"/>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幻灯片">
    <p:bg>
      <p:bgPr>
        <a:blipFill dpi="0" rotWithShape="1">
          <a:blip r:embed="rId2">
            <a:lum/>
          </a:blip>
          <a:srcRect/>
          <a:stretch>
            <a:fillRect l="-6000" r="-6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14755127"/>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8F936A4-EFC6-484B-8833-34049FAA567C}" type="datetimeFigureOut">
              <a:rPr lang="zh-CN" altLang="en-US" smtClean="0"/>
              <a:pPr/>
              <a:t>2021/4/7 Wednesday</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72CFFB8-A44E-4759-A296-7CEBBC1D343B}" type="slidenum">
              <a:rPr lang="zh-CN" altLang="en-US" smtClean="0"/>
              <a:pPr/>
              <a:t>‹#›</a:t>
            </a:fld>
            <a:endParaRPr lang="zh-CN" altLang="en-US"/>
          </a:p>
        </p:txBody>
      </p:sp>
    </p:spTree>
    <p:extLst>
      <p:ext uri="{BB962C8B-B14F-4D97-AF65-F5344CB8AC3E}">
        <p14:creationId xmlns:p14="http://schemas.microsoft.com/office/powerpoint/2010/main" val="3366466337"/>
      </p:ext>
    </p:extLst>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vmlDrawing" Target="../drawings/vmlDrawing1.vml"/><Relationship Id="rId5" Type="http://schemas.openxmlformats.org/officeDocument/2006/relationships/image" Target="../media/image12.wmf"/><Relationship Id="rId4" Type="http://schemas.openxmlformats.org/officeDocument/2006/relationships/oleObject" Target="../embeddings/oleObject1.bin"/></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xml"/><Relationship Id="rId1" Type="http://schemas.openxmlformats.org/officeDocument/2006/relationships/vmlDrawing" Target="../drawings/vmlDrawing2.vml"/><Relationship Id="rId4" Type="http://schemas.openxmlformats.org/officeDocument/2006/relationships/image" Target="../media/image13.e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6.png"/><Relationship Id="rId7" Type="http://schemas.openxmlformats.org/officeDocument/2006/relationships/image" Target="../media/image15.wmf"/><Relationship Id="rId2" Type="http://schemas.openxmlformats.org/officeDocument/2006/relationships/slideLayout" Target="../slideLayouts/slideLayout1.xml"/><Relationship Id="rId1" Type="http://schemas.openxmlformats.org/officeDocument/2006/relationships/vmlDrawing" Target="../drawings/vmlDrawing3.vml"/><Relationship Id="rId6" Type="http://schemas.openxmlformats.org/officeDocument/2006/relationships/oleObject" Target="../embeddings/oleObject4.bin"/><Relationship Id="rId5" Type="http://schemas.openxmlformats.org/officeDocument/2006/relationships/image" Target="../media/image14.wmf"/><Relationship Id="rId4" Type="http://schemas.openxmlformats.org/officeDocument/2006/relationships/oleObject" Target="../embeddings/oleObject3.bin"/></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vmlDrawing" Target="../drawings/vmlDrawing4.vml"/><Relationship Id="rId5" Type="http://schemas.openxmlformats.org/officeDocument/2006/relationships/image" Target="../media/image22.wmf"/><Relationship Id="rId4" Type="http://schemas.openxmlformats.org/officeDocument/2006/relationships/oleObject" Target="../embeddings/oleObject5.bin"/></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1.xml"/><Relationship Id="rId1" Type="http://schemas.openxmlformats.org/officeDocument/2006/relationships/vmlDrawing" Target="../drawings/vmlDrawing5.vml"/><Relationship Id="rId4" Type="http://schemas.openxmlformats.org/officeDocument/2006/relationships/image" Target="../media/image23.wmf"/></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0"/>
          <p:cNvSpPr txBox="1">
            <a:spLocks noChangeArrowheads="1"/>
          </p:cNvSpPr>
          <p:nvPr/>
        </p:nvSpPr>
        <p:spPr bwMode="auto">
          <a:xfrm>
            <a:off x="6588224" y="231031"/>
            <a:ext cx="2088232" cy="461665"/>
          </a:xfrm>
          <a:prstGeom prst="rect">
            <a:avLst/>
          </a:prstGeom>
          <a:noFill/>
          <a:ln w="9525">
            <a:noFill/>
            <a:miter lim="800000"/>
            <a:headEnd/>
            <a:tailEnd/>
          </a:ln>
          <a:effectLst>
            <a:outerShdw dist="35921" dir="2700000" algn="ctr" rotWithShape="0">
              <a:srgbClr val="000000"/>
            </a:outerShdw>
          </a:effectLst>
        </p:spPr>
        <p:txBody>
          <a:bodyPr wrap="square">
            <a:spAutoFit/>
          </a:bodyPr>
          <a:lstStyle/>
          <a:p>
            <a:pPr>
              <a:defRPr/>
            </a:pPr>
            <a:r>
              <a:rPr lang="zh-CN" altLang="en-US" sz="2400" b="1" dirty="0" smtClean="0">
                <a:ln>
                  <a:solidFill>
                    <a:schemeClr val="accent4">
                      <a:shade val="50000"/>
                      <a:satMod val="120000"/>
                    </a:schemeClr>
                  </a:solidFill>
                </a:ln>
                <a:gradFill>
                  <a:gsLst>
                    <a:gs pos="0">
                      <a:srgbClr val="EAB200"/>
                    </a:gs>
                    <a:gs pos="100000">
                      <a:srgbClr val="FFFF99"/>
                    </a:gs>
                  </a:gsLst>
                  <a:lin ang="5400000" scaled="0"/>
                </a:gradFill>
                <a:effectLst>
                  <a:outerShdw blurRad="38100" dist="38100" dir="2700000" algn="tl">
                    <a:srgbClr val="000000">
                      <a:alpha val="43137"/>
                    </a:srgbClr>
                  </a:outerShdw>
                </a:effectLst>
                <a:latin typeface="方正大黑简体" pitchFamily="65" charset="-122"/>
                <a:ea typeface="方正大黑简体" pitchFamily="65" charset="-122"/>
              </a:rPr>
              <a:t>数字移动通信</a:t>
            </a:r>
            <a:endParaRPr lang="zh-CN" altLang="en-US" sz="2400" b="1" dirty="0">
              <a:ln>
                <a:solidFill>
                  <a:schemeClr val="accent4">
                    <a:shade val="50000"/>
                    <a:satMod val="120000"/>
                  </a:schemeClr>
                </a:solidFill>
              </a:ln>
              <a:gradFill>
                <a:gsLst>
                  <a:gs pos="0">
                    <a:srgbClr val="EAB200"/>
                  </a:gs>
                  <a:gs pos="100000">
                    <a:srgbClr val="FFFF99"/>
                  </a:gs>
                </a:gsLst>
                <a:lin ang="5400000" scaled="0"/>
              </a:gradFill>
              <a:effectLst>
                <a:outerShdw blurRad="38100" dist="38100" dir="2700000" algn="tl">
                  <a:srgbClr val="000000">
                    <a:alpha val="43137"/>
                  </a:srgbClr>
                </a:outerShdw>
              </a:effectLst>
              <a:latin typeface="方正大黑简体" pitchFamily="65" charset="-122"/>
              <a:ea typeface="方正大黑简体" pitchFamily="65" charset="-122"/>
            </a:endParaRPr>
          </a:p>
        </p:txBody>
      </p:sp>
      <p:sp>
        <p:nvSpPr>
          <p:cNvPr id="7" name="矩形 6"/>
          <p:cNvSpPr/>
          <p:nvPr/>
        </p:nvSpPr>
        <p:spPr>
          <a:xfrm>
            <a:off x="1142976" y="1492854"/>
            <a:ext cx="7749504" cy="1569660"/>
          </a:xfrm>
          <a:prstGeom prst="rect">
            <a:avLst/>
          </a:prstGeom>
        </p:spPr>
        <p:txBody>
          <a:bodyPr wrap="square">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lnSpc>
                <a:spcPct val="120000"/>
              </a:lnSpc>
            </a:pPr>
            <a:r>
              <a:rPr lang="zh-CN" altLang="en-US" sz="4400" b="1" kern="0" dirty="0" smtClean="0">
                <a:ln w="11430"/>
                <a:solidFill>
                  <a:srgbClr val="C00000"/>
                </a:solidFill>
                <a:effectLst>
                  <a:glow rad="101600">
                    <a:sysClr val="window" lastClr="FFFFFF">
                      <a:alpha val="88000"/>
                    </a:sysClr>
                  </a:glow>
                  <a:outerShdw blurRad="50800" dist="39000" dir="5460000" algn="tl">
                    <a:srgbClr val="000000">
                      <a:alpha val="38000"/>
                    </a:srgbClr>
                  </a:outerShdw>
                </a:effectLst>
                <a:latin typeface="方正大黑简体" pitchFamily="65" charset="-122"/>
                <a:ea typeface="方正大黑简体" pitchFamily="65" charset="-122"/>
              </a:rPr>
              <a:t>第五章   抗衰落技术 </a:t>
            </a:r>
            <a:r>
              <a:rPr lang="en-US" altLang="zh-CN" sz="4400" b="1" kern="0" dirty="0" smtClean="0">
                <a:ln w="11430"/>
                <a:solidFill>
                  <a:srgbClr val="C00000"/>
                </a:solidFill>
                <a:effectLst>
                  <a:glow rad="101600">
                    <a:sysClr val="window" lastClr="FFFFFF">
                      <a:alpha val="88000"/>
                    </a:sysClr>
                  </a:glow>
                  <a:outerShdw blurRad="50800" dist="39000" dir="5460000" algn="tl">
                    <a:srgbClr val="000000">
                      <a:alpha val="38000"/>
                    </a:srgbClr>
                  </a:outerShdw>
                </a:effectLst>
                <a:latin typeface="方正大黑简体" pitchFamily="65" charset="-122"/>
                <a:ea typeface="方正大黑简体" pitchFamily="65" charset="-122"/>
              </a:rPr>
              <a:t>– 2</a:t>
            </a:r>
          </a:p>
          <a:p>
            <a:pPr algn="ctr">
              <a:lnSpc>
                <a:spcPct val="120000"/>
              </a:lnSpc>
            </a:pPr>
            <a:r>
              <a:rPr lang="zh-CN" altLang="en-US" sz="3600" b="1" kern="0" dirty="0" smtClean="0">
                <a:ln w="11430"/>
                <a:solidFill>
                  <a:srgbClr val="C00000"/>
                </a:solidFill>
                <a:effectLst>
                  <a:glow rad="101600">
                    <a:sysClr val="window" lastClr="FFFFFF">
                      <a:alpha val="88000"/>
                    </a:sysClr>
                  </a:glow>
                  <a:outerShdw blurRad="50800" dist="39000" dir="5460000" algn="tl">
                    <a:srgbClr val="000000">
                      <a:alpha val="38000"/>
                    </a:srgbClr>
                  </a:outerShdw>
                </a:effectLst>
                <a:latin typeface="方正大黑简体" pitchFamily="65" charset="-122"/>
                <a:ea typeface="方正大黑简体" pitchFamily="65" charset="-122"/>
              </a:rPr>
              <a:t>          自适应均衡技术</a:t>
            </a:r>
            <a:endParaRPr lang="zh-CN" altLang="en-US" sz="3600" b="1" kern="0" dirty="0">
              <a:ln w="11430"/>
              <a:solidFill>
                <a:srgbClr val="C00000"/>
              </a:solidFill>
              <a:effectLst>
                <a:glow rad="101600">
                  <a:sysClr val="window" lastClr="FFFFFF">
                    <a:alpha val="88000"/>
                  </a:sysClr>
                </a:glow>
                <a:outerShdw blurRad="50800" dist="39000" dir="5460000" algn="tl">
                  <a:srgbClr val="000000">
                    <a:alpha val="38000"/>
                  </a:srgbClr>
                </a:outerShdw>
              </a:effectLst>
              <a:latin typeface="方正大黑简体" pitchFamily="65" charset="-122"/>
              <a:ea typeface="方正大黑简体" pitchFamily="65" charset="-122"/>
            </a:endParaRPr>
          </a:p>
        </p:txBody>
      </p:sp>
    </p:spTree>
    <p:extLst>
      <p:ext uri="{BB962C8B-B14F-4D97-AF65-F5344CB8AC3E}">
        <p14:creationId xmlns:p14="http://schemas.microsoft.com/office/powerpoint/2010/main" val="184417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1000" fill="hold"/>
                                        <p:tgtEl>
                                          <p:spTgt spid="7"/>
                                        </p:tgtEl>
                                        <p:attrNameLst>
                                          <p:attrName>ppt_x</p:attrName>
                                        </p:attrNameLst>
                                      </p:cBhvr>
                                      <p:tavLst>
                                        <p:tav tm="0">
                                          <p:val>
                                            <p:strVal val="0-#ppt_w/2"/>
                                          </p:val>
                                        </p:tav>
                                        <p:tav tm="100000">
                                          <p:val>
                                            <p:strVal val="#ppt_x"/>
                                          </p:val>
                                        </p:tav>
                                      </p:tavLst>
                                    </p:anim>
                                    <p:anim calcmode="lin" valueType="num">
                                      <p:cBhvr additive="base">
                                        <p:cTn id="8" dur="10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标题 1"/>
          <p:cNvSpPr>
            <a:spLocks noGrp="1"/>
          </p:cNvSpPr>
          <p:nvPr>
            <p:ph type="title"/>
          </p:nvPr>
        </p:nvSpPr>
        <p:spPr>
          <a:xfrm>
            <a:off x="457200" y="214290"/>
            <a:ext cx="8229600" cy="1143000"/>
          </a:xfrm>
        </p:spPr>
        <p:txBody>
          <a:bodyPr>
            <a:normAutofit/>
          </a:bodyPr>
          <a:lstStyle/>
          <a:p>
            <a:pPr>
              <a:defRPr/>
            </a:pPr>
            <a:r>
              <a:rPr lang="zh-CN" altLang="en-US" sz="3600" dirty="0" smtClean="0">
                <a:solidFill>
                  <a:schemeClr val="bg1"/>
                </a:solidFill>
                <a:latin typeface="方正兰亭粗黑简体" pitchFamily="2" charset="-122"/>
                <a:ea typeface="方正兰亭粗黑简体" pitchFamily="2" charset="-122"/>
              </a:rPr>
              <a:t>上次课重点回顾</a:t>
            </a:r>
            <a:endParaRPr lang="zh-CN" altLang="en-US" sz="3600" dirty="0" smtClean="0">
              <a:solidFill>
                <a:schemeClr val="bg1"/>
              </a:solidFill>
              <a:latin typeface="方正兰亭粗黑简体" pitchFamily="2" charset="-122"/>
              <a:ea typeface="方正兰亭粗黑简体" pitchFamily="2" charset="-122"/>
              <a:cs typeface="+mn-cs"/>
            </a:endParaRPr>
          </a:p>
        </p:txBody>
      </p:sp>
      <p:sp>
        <p:nvSpPr>
          <p:cNvPr id="94211" name="内容占位符 2"/>
          <p:cNvSpPr>
            <a:spLocks noGrp="1"/>
          </p:cNvSpPr>
          <p:nvPr>
            <p:ph idx="1"/>
          </p:nvPr>
        </p:nvSpPr>
        <p:spPr>
          <a:xfrm>
            <a:off x="685800" y="1447800"/>
            <a:ext cx="7772400" cy="4624388"/>
          </a:xfrm>
        </p:spPr>
        <p:txBody>
          <a:bodyPr>
            <a:normAutofit/>
          </a:bodyPr>
          <a:lstStyle/>
          <a:p>
            <a:pPr>
              <a:lnSpc>
                <a:spcPct val="150000"/>
              </a:lnSpc>
              <a:spcBef>
                <a:spcPts val="1200"/>
              </a:spcBef>
              <a:buClr>
                <a:schemeClr val="accent1">
                  <a:lumMod val="75000"/>
                </a:schemeClr>
              </a:buClr>
              <a:buNone/>
              <a:defRPr/>
            </a:pPr>
            <a:r>
              <a:rPr lang="zh-CN" altLang="en-US" sz="2800" dirty="0" smtClean="0">
                <a:solidFill>
                  <a:srgbClr val="000099"/>
                </a:solidFill>
                <a:latin typeface="方正大黑简体" pitchFamily="2" charset="-122"/>
                <a:ea typeface="方正大黑简体" pitchFamily="2" charset="-122"/>
              </a:rPr>
              <a:t> </a:t>
            </a:r>
            <a:r>
              <a:rPr lang="en-US" altLang="zh-CN" sz="2800" dirty="0" smtClean="0">
                <a:solidFill>
                  <a:srgbClr val="000099"/>
                </a:solidFill>
                <a:latin typeface="方正大黑简体" pitchFamily="2" charset="-122"/>
                <a:ea typeface="方正大黑简体" pitchFamily="2" charset="-122"/>
              </a:rPr>
              <a:t>1</a:t>
            </a:r>
            <a:r>
              <a:rPr lang="zh-CN" altLang="en-US" sz="2800" dirty="0" smtClean="0">
                <a:solidFill>
                  <a:srgbClr val="000099"/>
                </a:solidFill>
                <a:latin typeface="方正大黑简体" pitchFamily="2" charset="-122"/>
                <a:ea typeface="方正大黑简体" pitchFamily="2" charset="-122"/>
              </a:rPr>
              <a:t>、分集技术的基本思想是什么？</a:t>
            </a:r>
            <a:endParaRPr lang="en-US" altLang="zh-CN" sz="2800" dirty="0" smtClean="0">
              <a:solidFill>
                <a:srgbClr val="000099"/>
              </a:solidFill>
              <a:latin typeface="方正大黑简体" pitchFamily="2" charset="-122"/>
              <a:ea typeface="方正大黑简体" pitchFamily="2" charset="-122"/>
            </a:endParaRPr>
          </a:p>
          <a:p>
            <a:pPr>
              <a:lnSpc>
                <a:spcPct val="150000"/>
              </a:lnSpc>
              <a:spcBef>
                <a:spcPts val="1200"/>
              </a:spcBef>
              <a:buClr>
                <a:schemeClr val="accent1">
                  <a:lumMod val="75000"/>
                </a:schemeClr>
              </a:buClr>
              <a:buNone/>
              <a:defRPr/>
            </a:pPr>
            <a:r>
              <a:rPr lang="zh-CN" altLang="en-US" sz="2800" dirty="0" smtClean="0">
                <a:solidFill>
                  <a:srgbClr val="000099"/>
                </a:solidFill>
                <a:latin typeface="方正大黑简体" pitchFamily="2" charset="-122"/>
                <a:ea typeface="方正大黑简体" pitchFamily="2" charset="-122"/>
              </a:rPr>
              <a:t> </a:t>
            </a:r>
            <a:r>
              <a:rPr lang="en-US" altLang="zh-CN" sz="2800" dirty="0" smtClean="0">
                <a:solidFill>
                  <a:srgbClr val="000099"/>
                </a:solidFill>
                <a:latin typeface="方正大黑简体" pitchFamily="2" charset="-122"/>
                <a:ea typeface="方正大黑简体" pitchFamily="2" charset="-122"/>
              </a:rPr>
              <a:t>2</a:t>
            </a:r>
            <a:r>
              <a:rPr lang="zh-CN" altLang="en-US" sz="2800" dirty="0" smtClean="0">
                <a:solidFill>
                  <a:srgbClr val="000099"/>
                </a:solidFill>
                <a:latin typeface="方正大黑简体" pitchFamily="2" charset="-122"/>
                <a:ea typeface="方正大黑简体" pitchFamily="2" charset="-122"/>
              </a:rPr>
              <a:t>、典型的分集方式有哪些？</a:t>
            </a:r>
            <a:endParaRPr lang="en-US" altLang="zh-CN" sz="2800" dirty="0" smtClean="0">
              <a:solidFill>
                <a:srgbClr val="000099"/>
              </a:solidFill>
              <a:latin typeface="方正大黑简体" pitchFamily="2" charset="-122"/>
              <a:ea typeface="方正大黑简体" pitchFamily="2" charset="-122"/>
            </a:endParaRPr>
          </a:p>
          <a:p>
            <a:pPr>
              <a:lnSpc>
                <a:spcPct val="150000"/>
              </a:lnSpc>
              <a:spcBef>
                <a:spcPts val="1200"/>
              </a:spcBef>
              <a:buClr>
                <a:schemeClr val="accent1">
                  <a:lumMod val="75000"/>
                </a:schemeClr>
              </a:buClr>
              <a:buNone/>
              <a:defRPr/>
            </a:pPr>
            <a:r>
              <a:rPr lang="zh-CN" altLang="en-US" sz="2800" dirty="0" smtClean="0">
                <a:solidFill>
                  <a:srgbClr val="000099"/>
                </a:solidFill>
                <a:latin typeface="方正大黑简体" pitchFamily="2" charset="-122"/>
                <a:ea typeface="方正大黑简体" pitchFamily="2" charset="-122"/>
              </a:rPr>
              <a:t> </a:t>
            </a:r>
            <a:r>
              <a:rPr lang="en-US" altLang="zh-CN" sz="2800" dirty="0" smtClean="0">
                <a:solidFill>
                  <a:srgbClr val="000099"/>
                </a:solidFill>
                <a:latin typeface="方正大黑简体" pitchFamily="2" charset="-122"/>
                <a:ea typeface="方正大黑简体" pitchFamily="2" charset="-122"/>
              </a:rPr>
              <a:t>3</a:t>
            </a:r>
            <a:r>
              <a:rPr lang="zh-CN" altLang="en-US" sz="2800" dirty="0" smtClean="0">
                <a:solidFill>
                  <a:srgbClr val="000099"/>
                </a:solidFill>
                <a:latin typeface="方正大黑简体" pitchFamily="2" charset="-122"/>
                <a:ea typeface="方正大黑简体" pitchFamily="2" charset="-122"/>
              </a:rPr>
              <a:t>、合并方式可以分为哪几种类型？</a:t>
            </a:r>
            <a:endParaRPr lang="en-US" altLang="zh-CN" sz="2800" dirty="0" smtClean="0">
              <a:solidFill>
                <a:srgbClr val="000099"/>
              </a:solidFill>
              <a:latin typeface="方正大黑简体" pitchFamily="2" charset="-122"/>
              <a:ea typeface="方正大黑简体" pitchFamily="2" charset="-122"/>
            </a:endParaRPr>
          </a:p>
          <a:p>
            <a:pPr>
              <a:lnSpc>
                <a:spcPct val="150000"/>
              </a:lnSpc>
              <a:spcBef>
                <a:spcPts val="1200"/>
              </a:spcBef>
              <a:buClr>
                <a:schemeClr val="accent1">
                  <a:lumMod val="75000"/>
                </a:schemeClr>
              </a:buClr>
              <a:buNone/>
              <a:defRPr/>
            </a:pPr>
            <a:r>
              <a:rPr lang="en-US" altLang="zh-CN" sz="2800" dirty="0" smtClean="0">
                <a:solidFill>
                  <a:srgbClr val="000099"/>
                </a:solidFill>
                <a:latin typeface="方正大黑简体" pitchFamily="2" charset="-122"/>
                <a:ea typeface="方正大黑简体" pitchFamily="2" charset="-122"/>
              </a:rPr>
              <a:t> 4</a:t>
            </a:r>
            <a:r>
              <a:rPr lang="zh-CN" altLang="en-US" sz="2800" dirty="0">
                <a:solidFill>
                  <a:srgbClr val="000099"/>
                </a:solidFill>
                <a:latin typeface="方正大黑简体" pitchFamily="2" charset="-122"/>
                <a:ea typeface="方正大黑简体" pitchFamily="2" charset="-122"/>
              </a:rPr>
              <a:t>、分集技术的代价</a:t>
            </a:r>
            <a:r>
              <a:rPr lang="zh-CN" altLang="en-US" sz="2800" dirty="0" smtClean="0">
                <a:solidFill>
                  <a:srgbClr val="000099"/>
                </a:solidFill>
                <a:latin typeface="方正大黑简体" pitchFamily="2" charset="-122"/>
                <a:ea typeface="方正大黑简体" pitchFamily="2" charset="-122"/>
              </a:rPr>
              <a:t>？分集</a:t>
            </a:r>
            <a:r>
              <a:rPr lang="zh-CN" altLang="en-US" sz="2800" dirty="0">
                <a:solidFill>
                  <a:srgbClr val="000099"/>
                </a:solidFill>
                <a:latin typeface="方正大黑简体" pitchFamily="2" charset="-122"/>
                <a:ea typeface="方正大黑简体" pitchFamily="2" charset="-122"/>
              </a:rPr>
              <a:t>技术是否一定能解决信号衰落问题？</a:t>
            </a:r>
          </a:p>
          <a:p>
            <a:pPr>
              <a:lnSpc>
                <a:spcPct val="150000"/>
              </a:lnSpc>
              <a:spcBef>
                <a:spcPts val="1200"/>
              </a:spcBef>
              <a:buClr>
                <a:schemeClr val="accent1">
                  <a:lumMod val="75000"/>
                </a:schemeClr>
              </a:buClr>
              <a:buNone/>
              <a:defRPr/>
            </a:pPr>
            <a:endParaRPr lang="zh-CN" altLang="en-US" sz="2800" dirty="0" smtClean="0">
              <a:solidFill>
                <a:srgbClr val="000099"/>
              </a:solidFill>
              <a:latin typeface="方正大黑简体" pitchFamily="2" charset="-122"/>
              <a:ea typeface="方正大黑简体" pitchFamily="2" charset="-122"/>
            </a:endParaRPr>
          </a:p>
        </p:txBody>
      </p:sp>
    </p:spTree>
    <p:extLst>
      <p:ext uri="{BB962C8B-B14F-4D97-AF65-F5344CB8AC3E}">
        <p14:creationId xmlns:p14="http://schemas.microsoft.com/office/powerpoint/2010/main" val="18034254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42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nodeType="clickEffect">
                                  <p:stCondLst>
                                    <p:cond delay="0"/>
                                  </p:stCondLst>
                                  <p:childTnLst>
                                    <p:set>
                                      <p:cBhvr>
                                        <p:cTn id="10" dur="1" fill="hold">
                                          <p:stCondLst>
                                            <p:cond delay="0"/>
                                          </p:stCondLst>
                                        </p:cTn>
                                        <p:tgtEl>
                                          <p:spTgt spid="94211">
                                            <p:txEl>
                                              <p:pRg st="1" end="1"/>
                                            </p:txEl>
                                          </p:spTgt>
                                        </p:tgtEl>
                                        <p:attrNameLst>
                                          <p:attrName>style.visibility</p:attrName>
                                        </p:attrNameLst>
                                      </p:cBhvr>
                                      <p:to>
                                        <p:strVal val="visible"/>
                                      </p:to>
                                    </p:set>
                                    <p:animEffect transition="in" filter="fade">
                                      <p:cBhvr>
                                        <p:cTn id="11" dur="1000"/>
                                        <p:tgtEl>
                                          <p:spTgt spid="94211">
                                            <p:txEl>
                                              <p:pRg st="1" end="1"/>
                                            </p:txEl>
                                          </p:spTgt>
                                        </p:tgtEl>
                                      </p:cBhvr>
                                    </p:animEffect>
                                    <p:anim calcmode="lin" valueType="num">
                                      <p:cBhvr>
                                        <p:cTn id="12" dur="1000" fill="hold"/>
                                        <p:tgtEl>
                                          <p:spTgt spid="94211">
                                            <p:txEl>
                                              <p:pRg st="1" end="1"/>
                                            </p:txEl>
                                          </p:spTgt>
                                        </p:tgtEl>
                                        <p:attrNameLst>
                                          <p:attrName>ppt_x</p:attrName>
                                        </p:attrNameLst>
                                      </p:cBhvr>
                                      <p:tavLst>
                                        <p:tav tm="0">
                                          <p:val>
                                            <p:strVal val="#ppt_x"/>
                                          </p:val>
                                        </p:tav>
                                        <p:tav tm="100000">
                                          <p:val>
                                            <p:strVal val="#ppt_x"/>
                                          </p:val>
                                        </p:tav>
                                      </p:tavLst>
                                    </p:anim>
                                    <p:anim calcmode="lin" valueType="num">
                                      <p:cBhvr>
                                        <p:cTn id="13" dur="1000" fill="hold"/>
                                        <p:tgtEl>
                                          <p:spTgt spid="94211">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nodeType="clickEffect">
                                  <p:stCondLst>
                                    <p:cond delay="0"/>
                                  </p:stCondLst>
                                  <p:childTnLst>
                                    <p:set>
                                      <p:cBhvr>
                                        <p:cTn id="17" dur="1" fill="hold">
                                          <p:stCondLst>
                                            <p:cond delay="0"/>
                                          </p:stCondLst>
                                        </p:cTn>
                                        <p:tgtEl>
                                          <p:spTgt spid="94211">
                                            <p:txEl>
                                              <p:pRg st="2" end="2"/>
                                            </p:txEl>
                                          </p:spTgt>
                                        </p:tgtEl>
                                        <p:attrNameLst>
                                          <p:attrName>style.visibility</p:attrName>
                                        </p:attrNameLst>
                                      </p:cBhvr>
                                      <p:to>
                                        <p:strVal val="visible"/>
                                      </p:to>
                                    </p:set>
                                    <p:animEffect transition="in" filter="circle(in)">
                                      <p:cBhvr>
                                        <p:cTn id="18" dur="2000"/>
                                        <p:tgtEl>
                                          <p:spTgt spid="94211">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4" presetClass="entr" presetSubtype="10" fill="hold" nodeType="clickEffect">
                                  <p:stCondLst>
                                    <p:cond delay="0"/>
                                  </p:stCondLst>
                                  <p:childTnLst>
                                    <p:set>
                                      <p:cBhvr>
                                        <p:cTn id="22" dur="1" fill="hold">
                                          <p:stCondLst>
                                            <p:cond delay="0"/>
                                          </p:stCondLst>
                                        </p:cTn>
                                        <p:tgtEl>
                                          <p:spTgt spid="94211">
                                            <p:txEl>
                                              <p:pRg st="3" end="3"/>
                                            </p:txEl>
                                          </p:spTgt>
                                        </p:tgtEl>
                                        <p:attrNameLst>
                                          <p:attrName>style.visibility</p:attrName>
                                        </p:attrNameLst>
                                      </p:cBhvr>
                                      <p:to>
                                        <p:strVal val="visible"/>
                                      </p:to>
                                    </p:set>
                                    <p:animEffect transition="in" filter="randombar(horizontal)">
                                      <p:cBhvr>
                                        <p:cTn id="23" dur="500"/>
                                        <p:tgtEl>
                                          <p:spTgt spid="9421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idx="4294967295"/>
          </p:nvPr>
        </p:nvSpPr>
        <p:spPr>
          <a:xfrm>
            <a:off x="928662" y="357166"/>
            <a:ext cx="6858000" cy="808021"/>
          </a:xfrm>
        </p:spPr>
        <p:txBody>
          <a:bodyPr>
            <a:noAutofit/>
          </a:bodyPr>
          <a:lstStyle/>
          <a:p>
            <a:r>
              <a:rPr lang="zh-CN" altLang="en-US" sz="3600" dirty="0" smtClean="0">
                <a:solidFill>
                  <a:schemeClr val="bg1"/>
                </a:solidFill>
                <a:latin typeface="方正兰亭粗黑简体" pitchFamily="2" charset="-122"/>
                <a:ea typeface="方正兰亭粗黑简体" pitchFamily="2" charset="-122"/>
                <a:cs typeface="+mn-cs"/>
              </a:rPr>
              <a:t>第</a:t>
            </a:r>
            <a:r>
              <a:rPr lang="en-US" altLang="zh-CN" sz="3600" dirty="0" smtClean="0">
                <a:solidFill>
                  <a:schemeClr val="bg1"/>
                </a:solidFill>
                <a:latin typeface="方正兰亭粗黑简体" pitchFamily="2" charset="-122"/>
                <a:ea typeface="方正兰亭粗黑简体" pitchFamily="2" charset="-122"/>
                <a:cs typeface="+mn-cs"/>
              </a:rPr>
              <a:t>5</a:t>
            </a:r>
            <a:r>
              <a:rPr lang="zh-CN" altLang="en-US" sz="3600" dirty="0" smtClean="0">
                <a:solidFill>
                  <a:schemeClr val="bg1"/>
                </a:solidFill>
                <a:latin typeface="方正兰亭粗黑简体" pitchFamily="2" charset="-122"/>
                <a:ea typeface="方正兰亭粗黑简体" pitchFamily="2" charset="-122"/>
                <a:cs typeface="+mn-cs"/>
              </a:rPr>
              <a:t>章  抗衰落技术</a:t>
            </a:r>
          </a:p>
        </p:txBody>
      </p:sp>
      <p:sp>
        <p:nvSpPr>
          <p:cNvPr id="15364" name="Rectangle 3"/>
          <p:cNvSpPr>
            <a:spLocks noGrp="1" noChangeArrowheads="1"/>
          </p:cNvSpPr>
          <p:nvPr>
            <p:ph type="body" idx="4294967295"/>
          </p:nvPr>
        </p:nvSpPr>
        <p:spPr>
          <a:xfrm>
            <a:off x="1500188" y="1214438"/>
            <a:ext cx="4786324" cy="5181600"/>
          </a:xfrm>
        </p:spPr>
        <p:txBody>
          <a:bodyPr>
            <a:normAutofit/>
          </a:bodyPr>
          <a:lstStyle/>
          <a:p>
            <a:pPr algn="ctr" eaLnBrk="1" hangingPunct="1">
              <a:lnSpc>
                <a:spcPct val="150000"/>
              </a:lnSpc>
              <a:spcBef>
                <a:spcPct val="0"/>
              </a:spcBef>
              <a:buFontTx/>
              <a:buNone/>
            </a:pPr>
            <a:r>
              <a:rPr kumimoji="1" lang="zh-CN" altLang="en-US" sz="4000" dirty="0" smtClean="0">
                <a:solidFill>
                  <a:schemeClr val="accent2"/>
                </a:solidFill>
                <a:latin typeface="方正兰亭粗黑简体" pitchFamily="2" charset="-122"/>
                <a:ea typeface="方正兰亭粗黑简体" pitchFamily="2" charset="-122"/>
              </a:rPr>
              <a:t>内容提要</a:t>
            </a:r>
          </a:p>
          <a:p>
            <a:pPr algn="just" eaLnBrk="1" hangingPunct="1">
              <a:lnSpc>
                <a:spcPct val="150000"/>
              </a:lnSpc>
              <a:spcBef>
                <a:spcPct val="0"/>
              </a:spcBef>
              <a:buFontTx/>
              <a:buNone/>
            </a:pPr>
            <a:r>
              <a:rPr kumimoji="1" lang="en-US" altLang="zh-CN" sz="2800" dirty="0" smtClean="0">
                <a:solidFill>
                  <a:srgbClr val="00B050"/>
                </a:solidFill>
                <a:latin typeface="方正兰亭粗黑简体" pitchFamily="2" charset="-122"/>
                <a:ea typeface="方正兰亭粗黑简体" pitchFamily="2" charset="-122"/>
              </a:rPr>
              <a:t>5.1  </a:t>
            </a:r>
            <a:r>
              <a:rPr kumimoji="1" lang="zh-CN" altLang="en-US" sz="2800" dirty="0" smtClean="0">
                <a:solidFill>
                  <a:srgbClr val="00B050"/>
                </a:solidFill>
                <a:latin typeface="方正兰亭粗黑简体" pitchFamily="2" charset="-122"/>
                <a:ea typeface="方正兰亭粗黑简体" pitchFamily="2" charset="-122"/>
              </a:rPr>
              <a:t>抗衰落技术的基本原理</a:t>
            </a:r>
          </a:p>
          <a:p>
            <a:pPr algn="just" eaLnBrk="1" hangingPunct="1">
              <a:lnSpc>
                <a:spcPct val="150000"/>
              </a:lnSpc>
              <a:spcBef>
                <a:spcPct val="0"/>
              </a:spcBef>
              <a:buFontTx/>
              <a:buNone/>
            </a:pPr>
            <a:r>
              <a:rPr kumimoji="1" lang="en-US" altLang="zh-CN" sz="2800" dirty="0" smtClean="0">
                <a:solidFill>
                  <a:srgbClr val="00B050"/>
                </a:solidFill>
                <a:latin typeface="方正兰亭粗黑简体" pitchFamily="2" charset="-122"/>
                <a:ea typeface="方正兰亭粗黑简体" pitchFamily="2" charset="-122"/>
              </a:rPr>
              <a:t>5.2 </a:t>
            </a:r>
            <a:r>
              <a:rPr kumimoji="1" lang="zh-CN" altLang="en-US" sz="2800" dirty="0" smtClean="0">
                <a:solidFill>
                  <a:srgbClr val="00B050"/>
                </a:solidFill>
                <a:latin typeface="方正兰亭粗黑简体" pitchFamily="2" charset="-122"/>
                <a:ea typeface="方正兰亭粗黑简体" pitchFamily="2" charset="-122"/>
              </a:rPr>
              <a:t>分集技术</a:t>
            </a:r>
          </a:p>
          <a:p>
            <a:pPr algn="just" eaLnBrk="1" hangingPunct="1">
              <a:lnSpc>
                <a:spcPct val="150000"/>
              </a:lnSpc>
              <a:spcBef>
                <a:spcPct val="0"/>
              </a:spcBef>
              <a:buFontTx/>
              <a:buNone/>
            </a:pPr>
            <a:r>
              <a:rPr lang="en-US" altLang="zh-CN" sz="2800" dirty="0" smtClean="0">
                <a:solidFill>
                  <a:srgbClr val="0000FF"/>
                </a:solidFill>
                <a:latin typeface="方正兰亭粗黑简体" pitchFamily="2" charset="-122"/>
                <a:ea typeface="方正兰亭粗黑简体" pitchFamily="2" charset="-122"/>
              </a:rPr>
              <a:t>5.3 </a:t>
            </a:r>
            <a:r>
              <a:rPr lang="zh-CN" altLang="en-US" sz="2800" dirty="0" smtClean="0">
                <a:solidFill>
                  <a:srgbClr val="0000FF"/>
                </a:solidFill>
                <a:latin typeface="方正兰亭粗黑简体" pitchFamily="2" charset="-122"/>
                <a:ea typeface="方正兰亭粗黑简体" pitchFamily="2" charset="-122"/>
              </a:rPr>
              <a:t>自适应均衡技术</a:t>
            </a:r>
          </a:p>
          <a:p>
            <a:pPr algn="just" eaLnBrk="1" hangingPunct="1">
              <a:lnSpc>
                <a:spcPct val="150000"/>
              </a:lnSpc>
              <a:spcBef>
                <a:spcPct val="0"/>
              </a:spcBef>
              <a:buFontTx/>
              <a:buNone/>
            </a:pPr>
            <a:r>
              <a:rPr kumimoji="1" lang="en-US" altLang="zh-CN" sz="2800" dirty="0" smtClean="0">
                <a:solidFill>
                  <a:srgbClr val="0070C0"/>
                </a:solidFill>
                <a:latin typeface="方正兰亭粗黑简体" pitchFamily="2" charset="-122"/>
                <a:ea typeface="方正兰亭粗黑简体" pitchFamily="2" charset="-122"/>
              </a:rPr>
              <a:t>5.4  </a:t>
            </a:r>
            <a:r>
              <a:rPr kumimoji="1" lang="zh-CN" altLang="en-US" sz="2800" dirty="0" smtClean="0">
                <a:solidFill>
                  <a:srgbClr val="0070C0"/>
                </a:solidFill>
                <a:latin typeface="方正兰亭粗黑简体" pitchFamily="2" charset="-122"/>
                <a:ea typeface="方正兰亭粗黑简体" pitchFamily="2" charset="-122"/>
              </a:rPr>
              <a:t>多径信号的分离与合并</a:t>
            </a:r>
          </a:p>
          <a:p>
            <a:pPr algn="just" eaLnBrk="1" hangingPunct="1">
              <a:lnSpc>
                <a:spcPct val="150000"/>
              </a:lnSpc>
              <a:spcBef>
                <a:spcPct val="0"/>
              </a:spcBef>
              <a:buFontTx/>
              <a:buNone/>
            </a:pPr>
            <a:r>
              <a:rPr kumimoji="1" lang="en-US" altLang="zh-CN" sz="2800" dirty="0" smtClean="0">
                <a:solidFill>
                  <a:srgbClr val="0070C0"/>
                </a:solidFill>
                <a:latin typeface="方正兰亭粗黑简体" pitchFamily="2" charset="-122"/>
                <a:ea typeface="方正兰亭粗黑简体" pitchFamily="2" charset="-122"/>
              </a:rPr>
              <a:t>5.5  </a:t>
            </a:r>
            <a:r>
              <a:rPr kumimoji="1" lang="zh-CN" altLang="en-US" sz="2800" dirty="0" smtClean="0">
                <a:solidFill>
                  <a:srgbClr val="0070C0"/>
                </a:solidFill>
                <a:latin typeface="方正兰亭粗黑简体" pitchFamily="2" charset="-122"/>
                <a:ea typeface="方正兰亭粗黑简体" pitchFamily="2" charset="-122"/>
              </a:rPr>
              <a:t>发射分集与空时编码</a:t>
            </a:r>
          </a:p>
        </p:txBody>
      </p:sp>
      <p:sp>
        <p:nvSpPr>
          <p:cNvPr id="5" name="右大括号 4"/>
          <p:cNvSpPr/>
          <p:nvPr/>
        </p:nvSpPr>
        <p:spPr bwMode="auto">
          <a:xfrm>
            <a:off x="6308618" y="2357430"/>
            <a:ext cx="71449" cy="1000124"/>
          </a:xfrm>
          <a:prstGeom prst="rightBrace">
            <a:avLst/>
          </a:prstGeom>
          <a:noFill/>
          <a:ln w="31750" cap="flat" cmpd="sng" algn="ctr">
            <a:solidFill>
              <a:schemeClr val="accent6"/>
            </a:solidFill>
            <a:prstDash val="solid"/>
            <a:round/>
            <a:headEnd type="none" w="med" len="med"/>
            <a:tailEnd type="none" w="med" len="med"/>
          </a:ln>
          <a:effectLst/>
        </p:spPr>
        <p:txBody>
          <a:bodyPr/>
          <a:lstStyle/>
          <a:p>
            <a:pPr marL="298450" indent="-298450" defTabSz="696913">
              <a:buFont typeface="Wingdings" pitchFamily="2" charset="2"/>
              <a:buNone/>
              <a:defRPr/>
            </a:pPr>
            <a:endParaRPr lang="zh-CN" altLang="en-US" dirty="0"/>
          </a:p>
        </p:txBody>
      </p:sp>
      <p:sp>
        <p:nvSpPr>
          <p:cNvPr id="6" name="右大括号 5"/>
          <p:cNvSpPr/>
          <p:nvPr/>
        </p:nvSpPr>
        <p:spPr bwMode="auto">
          <a:xfrm>
            <a:off x="6323088" y="3602044"/>
            <a:ext cx="71437" cy="398460"/>
          </a:xfrm>
          <a:prstGeom prst="rightBrace">
            <a:avLst/>
          </a:prstGeom>
          <a:noFill/>
          <a:ln w="31750" cap="flat" cmpd="sng" algn="ctr">
            <a:solidFill>
              <a:schemeClr val="accent6"/>
            </a:solidFill>
            <a:prstDash val="solid"/>
            <a:round/>
            <a:headEnd type="none" w="med" len="med"/>
            <a:tailEnd type="none" w="med" len="med"/>
          </a:ln>
          <a:effectLst/>
        </p:spPr>
        <p:txBody>
          <a:bodyPr/>
          <a:lstStyle/>
          <a:p>
            <a:pPr marL="298450" indent="-298450" defTabSz="696913">
              <a:buFont typeface="Wingdings" pitchFamily="2" charset="2"/>
              <a:buNone/>
              <a:defRPr/>
            </a:pPr>
            <a:endParaRPr lang="zh-CN" altLang="en-US" dirty="0"/>
          </a:p>
        </p:txBody>
      </p:sp>
      <p:sp>
        <p:nvSpPr>
          <p:cNvPr id="8" name="右大括号 7"/>
          <p:cNvSpPr/>
          <p:nvPr/>
        </p:nvSpPr>
        <p:spPr bwMode="auto">
          <a:xfrm>
            <a:off x="6286513" y="4305498"/>
            <a:ext cx="142876" cy="928694"/>
          </a:xfrm>
          <a:prstGeom prst="rightBrace">
            <a:avLst/>
          </a:prstGeom>
          <a:noFill/>
          <a:ln w="31750" cap="flat" cmpd="sng" algn="ctr">
            <a:solidFill>
              <a:schemeClr val="accent6"/>
            </a:solidFill>
            <a:prstDash val="solid"/>
            <a:round/>
            <a:headEnd type="none" w="med" len="med"/>
            <a:tailEnd type="none" w="med" len="med"/>
          </a:ln>
          <a:effectLst/>
        </p:spPr>
        <p:txBody>
          <a:bodyPr/>
          <a:lstStyle/>
          <a:p>
            <a:pPr marL="298450" indent="-298450" defTabSz="696913">
              <a:buFont typeface="Wingdings" pitchFamily="2" charset="2"/>
              <a:buNone/>
              <a:defRPr/>
            </a:pPr>
            <a:endParaRPr lang="zh-CN" altLang="en-US" dirty="0"/>
          </a:p>
        </p:txBody>
      </p:sp>
      <p:sp>
        <p:nvSpPr>
          <p:cNvPr id="9" name="TextBox 8"/>
          <p:cNvSpPr txBox="1">
            <a:spLocks noChangeArrowheads="1"/>
          </p:cNvSpPr>
          <p:nvPr/>
        </p:nvSpPr>
        <p:spPr bwMode="auto">
          <a:xfrm>
            <a:off x="6441027" y="2453252"/>
            <a:ext cx="1620957" cy="671209"/>
          </a:xfrm>
          <a:prstGeom prst="rect">
            <a:avLst/>
          </a:prstGeom>
          <a:noFill/>
          <a:ln w="9525">
            <a:noFill/>
            <a:miter lim="800000"/>
            <a:headEnd/>
            <a:tailEnd/>
          </a:ln>
        </p:spPr>
        <p:txBody>
          <a:bodyPr wrap="none">
            <a:spAutoFit/>
          </a:bodyPr>
          <a:lstStyle/>
          <a:p>
            <a:pPr marL="342900" indent="-342900" algn="just">
              <a:lnSpc>
                <a:spcPct val="150000"/>
              </a:lnSpc>
              <a:spcBef>
                <a:spcPct val="0"/>
              </a:spcBef>
            </a:pPr>
            <a:r>
              <a:rPr kumimoji="1" lang="zh-CN" altLang="en-US" sz="2800" dirty="0">
                <a:solidFill>
                  <a:srgbClr val="00B050"/>
                </a:solidFill>
                <a:latin typeface="方正兰亭粗黑简体" pitchFamily="2" charset="-122"/>
                <a:ea typeface="方正兰亭粗黑简体" pitchFamily="2" charset="-122"/>
              </a:rPr>
              <a:t>第一次课</a:t>
            </a:r>
          </a:p>
        </p:txBody>
      </p:sp>
      <p:sp>
        <p:nvSpPr>
          <p:cNvPr id="10" name="TextBox 9"/>
          <p:cNvSpPr txBox="1">
            <a:spLocks noChangeArrowheads="1"/>
          </p:cNvSpPr>
          <p:nvPr/>
        </p:nvSpPr>
        <p:spPr bwMode="auto">
          <a:xfrm>
            <a:off x="6460635" y="3548722"/>
            <a:ext cx="1620957" cy="523220"/>
          </a:xfrm>
          <a:prstGeom prst="rect">
            <a:avLst/>
          </a:prstGeom>
          <a:noFill/>
          <a:ln w="9525">
            <a:noFill/>
            <a:miter lim="800000"/>
            <a:headEnd/>
            <a:tailEnd/>
          </a:ln>
        </p:spPr>
        <p:txBody>
          <a:bodyPr wrap="none">
            <a:spAutoFit/>
          </a:bodyPr>
          <a:lstStyle/>
          <a:p>
            <a:r>
              <a:rPr lang="zh-CN" altLang="en-US" sz="2800" dirty="0">
                <a:solidFill>
                  <a:srgbClr val="0000FF"/>
                </a:solidFill>
                <a:latin typeface="方正兰亭粗黑简体" pitchFamily="2" charset="-122"/>
                <a:ea typeface="方正兰亭粗黑简体" pitchFamily="2" charset="-122"/>
              </a:rPr>
              <a:t>第二次课</a:t>
            </a:r>
          </a:p>
        </p:txBody>
      </p:sp>
      <p:sp>
        <p:nvSpPr>
          <p:cNvPr id="11" name="TextBox 10"/>
          <p:cNvSpPr txBox="1">
            <a:spLocks noChangeArrowheads="1"/>
          </p:cNvSpPr>
          <p:nvPr/>
        </p:nvSpPr>
        <p:spPr bwMode="auto">
          <a:xfrm>
            <a:off x="6478156" y="4500570"/>
            <a:ext cx="1620957" cy="523220"/>
          </a:xfrm>
          <a:prstGeom prst="rect">
            <a:avLst/>
          </a:prstGeom>
          <a:noFill/>
          <a:ln w="9525">
            <a:noFill/>
            <a:miter lim="800000"/>
            <a:headEnd/>
            <a:tailEnd/>
          </a:ln>
        </p:spPr>
        <p:txBody>
          <a:bodyPr wrap="none">
            <a:spAutoFit/>
          </a:bodyPr>
          <a:lstStyle/>
          <a:p>
            <a:r>
              <a:rPr kumimoji="1" lang="zh-CN" altLang="en-US" sz="2800" dirty="0">
                <a:solidFill>
                  <a:srgbClr val="0070C0"/>
                </a:solidFill>
                <a:latin typeface="方正兰亭粗黑简体" pitchFamily="2" charset="-122"/>
                <a:ea typeface="方正兰亭粗黑简体" pitchFamily="2" charset="-122"/>
              </a:rPr>
              <a:t>第三次课</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7794" name="Rectangle 2"/>
          <p:cNvSpPr>
            <a:spLocks noGrp="1" noChangeArrowheads="1"/>
          </p:cNvSpPr>
          <p:nvPr>
            <p:ph type="body" idx="1"/>
          </p:nvPr>
        </p:nvSpPr>
        <p:spPr>
          <a:xfrm>
            <a:off x="523081" y="3573016"/>
            <a:ext cx="8097837" cy="2647195"/>
          </a:xfrm>
        </p:spPr>
        <p:txBody>
          <a:bodyPr>
            <a:normAutofit lnSpcReduction="10000"/>
          </a:bodyPr>
          <a:lstStyle/>
          <a:p>
            <a:pPr marL="0" indent="0" eaLnBrk="1" hangingPunct="1">
              <a:lnSpc>
                <a:spcPct val="150000"/>
              </a:lnSpc>
              <a:spcBef>
                <a:spcPts val="0"/>
              </a:spcBef>
              <a:buFont typeface="Wingdings" pitchFamily="2" charset="2"/>
              <a:buNone/>
            </a:pPr>
            <a:r>
              <a:rPr lang="zh-CN" altLang="en-US" sz="2000" dirty="0" smtClean="0">
                <a:solidFill>
                  <a:srgbClr val="FF0000"/>
                </a:solidFill>
                <a:latin typeface="方正大黑简体" pitchFamily="2" charset="-122"/>
                <a:ea typeface="方正大黑简体" pitchFamily="2" charset="-122"/>
              </a:rPr>
              <a:t>要求：</a:t>
            </a:r>
            <a:endParaRPr lang="en-US" altLang="zh-CN" sz="2000" dirty="0" smtClean="0">
              <a:solidFill>
                <a:srgbClr val="FF0000"/>
              </a:solidFill>
              <a:latin typeface="方正大黑简体" pitchFamily="2" charset="-122"/>
              <a:ea typeface="方正大黑简体" pitchFamily="2" charset="-122"/>
            </a:endParaRPr>
          </a:p>
          <a:p>
            <a:pPr lvl="0">
              <a:lnSpc>
                <a:spcPct val="150000"/>
              </a:lnSpc>
              <a:spcBef>
                <a:spcPts val="0"/>
              </a:spcBef>
              <a:buNone/>
            </a:pPr>
            <a:r>
              <a:rPr lang="en-US" altLang="zh-CN" sz="2000" dirty="0" smtClean="0">
                <a:solidFill>
                  <a:srgbClr val="0000FF"/>
                </a:solidFill>
                <a:latin typeface="方正大黑简体" pitchFamily="2" charset="-122"/>
                <a:ea typeface="方正大黑简体" pitchFamily="2" charset="-122"/>
              </a:rPr>
              <a:t>1. </a:t>
            </a:r>
            <a:r>
              <a:rPr lang="zh-CN" altLang="en-US" sz="2000" dirty="0" smtClean="0">
                <a:solidFill>
                  <a:srgbClr val="FF0000"/>
                </a:solidFill>
                <a:latin typeface="方正大黑简体" pitchFamily="2" charset="-122"/>
                <a:ea typeface="方正大黑简体" pitchFamily="2" charset="-122"/>
              </a:rPr>
              <a:t>理解</a:t>
            </a:r>
            <a:r>
              <a:rPr lang="zh-CN" altLang="en-US" sz="2000" dirty="0" smtClean="0">
                <a:solidFill>
                  <a:srgbClr val="0000FF"/>
                </a:solidFill>
                <a:latin typeface="方正大黑简体" pitchFamily="2" charset="-122"/>
                <a:ea typeface="方正大黑简体" pitchFamily="2" charset="-122"/>
              </a:rPr>
              <a:t>自适应均衡原理。</a:t>
            </a:r>
          </a:p>
          <a:p>
            <a:pPr>
              <a:lnSpc>
                <a:spcPct val="150000"/>
              </a:lnSpc>
              <a:spcBef>
                <a:spcPts val="0"/>
              </a:spcBef>
              <a:buNone/>
            </a:pPr>
            <a:r>
              <a:rPr lang="en-US" altLang="zh-CN" sz="2000" dirty="0" smtClean="0">
                <a:solidFill>
                  <a:srgbClr val="0000FF"/>
                </a:solidFill>
                <a:latin typeface="方正大黑简体" pitchFamily="2" charset="-122"/>
                <a:ea typeface="方正大黑简体" pitchFamily="2" charset="-122"/>
              </a:rPr>
              <a:t>2. </a:t>
            </a:r>
            <a:r>
              <a:rPr lang="zh-CN" altLang="en-US" sz="2000" dirty="0" smtClean="0">
                <a:solidFill>
                  <a:srgbClr val="FF0000"/>
                </a:solidFill>
                <a:latin typeface="方正大黑简体" pitchFamily="2" charset="-122"/>
                <a:ea typeface="方正大黑简体" pitchFamily="2" charset="-122"/>
              </a:rPr>
              <a:t>了解</a:t>
            </a:r>
            <a:r>
              <a:rPr lang="zh-CN" altLang="en-US" sz="2000" dirty="0" smtClean="0">
                <a:solidFill>
                  <a:srgbClr val="0000FF"/>
                </a:solidFill>
                <a:latin typeface="方正大黑简体" pitchFamily="2" charset="-122"/>
                <a:ea typeface="方正大黑简体" pitchFamily="2" charset="-122"/>
              </a:rPr>
              <a:t>自适应均衡器的实现方法及应用</a:t>
            </a:r>
            <a:r>
              <a:rPr lang="zh-CN" altLang="en-US" sz="2000" dirty="0" smtClean="0">
                <a:latin typeface="方正大黑简体" pitchFamily="2" charset="-122"/>
                <a:ea typeface="方正大黑简体" pitchFamily="2" charset="-122"/>
              </a:rPr>
              <a:t>。 　　　　</a:t>
            </a:r>
          </a:p>
          <a:p>
            <a:pPr marL="0" indent="0" eaLnBrk="1" hangingPunct="1">
              <a:spcBef>
                <a:spcPts val="0"/>
              </a:spcBef>
              <a:buFont typeface="Wingdings" pitchFamily="2" charset="2"/>
              <a:buNone/>
            </a:pPr>
            <a:endParaRPr lang="zh-CN" altLang="en-US" sz="2000" dirty="0" smtClean="0">
              <a:latin typeface="方正大黑简体" pitchFamily="2" charset="-122"/>
              <a:ea typeface="方正大黑简体" pitchFamily="2" charset="-122"/>
            </a:endParaRPr>
          </a:p>
          <a:p>
            <a:pPr marL="0" indent="0">
              <a:lnSpc>
                <a:spcPct val="150000"/>
              </a:lnSpc>
              <a:spcBef>
                <a:spcPts val="0"/>
              </a:spcBef>
              <a:buNone/>
            </a:pPr>
            <a:r>
              <a:rPr lang="zh-CN" altLang="en-US" sz="2000" dirty="0" smtClean="0">
                <a:solidFill>
                  <a:srgbClr val="FF0000"/>
                </a:solidFill>
                <a:latin typeface="方正大黑简体" pitchFamily="2" charset="-122"/>
                <a:ea typeface="方正大黑简体" pitchFamily="2" charset="-122"/>
              </a:rPr>
              <a:t>重点：</a:t>
            </a:r>
            <a:r>
              <a:rPr lang="zh-CN" altLang="en-US" sz="2000" dirty="0" smtClean="0">
                <a:solidFill>
                  <a:srgbClr val="0000FF"/>
                </a:solidFill>
                <a:latin typeface="方正大黑简体" pitchFamily="2" charset="-122"/>
                <a:ea typeface="方正大黑简体" pitchFamily="2" charset="-122"/>
              </a:rPr>
              <a:t>自适应均衡原理</a:t>
            </a:r>
            <a:endParaRPr lang="en-US" altLang="zh-CN" sz="2000" dirty="0" smtClean="0">
              <a:solidFill>
                <a:srgbClr val="FF0000"/>
              </a:solidFill>
              <a:latin typeface="方正大黑简体" pitchFamily="2" charset="-122"/>
              <a:ea typeface="方正大黑简体" pitchFamily="2" charset="-122"/>
            </a:endParaRPr>
          </a:p>
          <a:p>
            <a:pPr marL="0" indent="0">
              <a:lnSpc>
                <a:spcPct val="150000"/>
              </a:lnSpc>
              <a:spcBef>
                <a:spcPts val="0"/>
              </a:spcBef>
              <a:buNone/>
            </a:pPr>
            <a:r>
              <a:rPr lang="zh-CN" altLang="en-US" sz="2000" dirty="0" smtClean="0">
                <a:solidFill>
                  <a:srgbClr val="FF0000"/>
                </a:solidFill>
                <a:latin typeface="方正大黑简体" pitchFamily="2" charset="-122"/>
                <a:ea typeface="方正大黑简体" pitchFamily="2" charset="-122"/>
              </a:rPr>
              <a:t>难点：</a:t>
            </a:r>
            <a:r>
              <a:rPr lang="zh-CN" altLang="en-US" sz="2000" dirty="0" smtClean="0">
                <a:solidFill>
                  <a:srgbClr val="0000FF"/>
                </a:solidFill>
                <a:latin typeface="方正大黑简体" pitchFamily="2" charset="-122"/>
                <a:ea typeface="方正大黑简体" pitchFamily="2" charset="-122"/>
              </a:rPr>
              <a:t>均衡算法的理论分析</a:t>
            </a:r>
            <a:endParaRPr lang="zh-CN" altLang="en-GB" sz="2000" dirty="0" smtClean="0">
              <a:solidFill>
                <a:srgbClr val="0000FF"/>
              </a:solidFill>
              <a:latin typeface="方正大黑简体" pitchFamily="2" charset="-122"/>
              <a:ea typeface="方正大黑简体" pitchFamily="2" charset="-122"/>
            </a:endParaRPr>
          </a:p>
        </p:txBody>
      </p:sp>
      <p:sp>
        <p:nvSpPr>
          <p:cNvPr id="417795" name="Rectangle 3"/>
          <p:cNvSpPr>
            <a:spLocks noGrp="1" noChangeArrowheads="1"/>
          </p:cNvSpPr>
          <p:nvPr>
            <p:ph type="title"/>
          </p:nvPr>
        </p:nvSpPr>
        <p:spPr>
          <a:xfrm>
            <a:off x="0" y="142852"/>
            <a:ext cx="9144000" cy="1127148"/>
          </a:xfrm>
          <a:effectLst>
            <a:outerShdw dist="35921" dir="2700000" algn="ctr" rotWithShape="0">
              <a:srgbClr val="292929"/>
            </a:outerShdw>
          </a:effectLst>
        </p:spPr>
        <p:txBody>
          <a:bodyPr lIns="101700" tIns="50850" rIns="101700" bIns="50850" anchor="ctr">
            <a:normAutofit/>
          </a:bodyPr>
          <a:lstStyle/>
          <a:p>
            <a:pPr algn="ctr" defTabSz="1017588" eaLnBrk="1" hangingPunct="1">
              <a:defRPr/>
            </a:pPr>
            <a:r>
              <a:rPr lang="zh-CN" altLang="en-US" sz="3600" dirty="0" smtClean="0">
                <a:solidFill>
                  <a:schemeClr val="bg1"/>
                </a:solidFill>
                <a:latin typeface="方正兰亭粗黑简体" pitchFamily="2" charset="-122"/>
                <a:ea typeface="方正兰亭粗黑简体" pitchFamily="2" charset="-122"/>
              </a:rPr>
              <a:t>本次课要解决的主要问题及学习要求</a:t>
            </a:r>
          </a:p>
        </p:txBody>
      </p:sp>
      <p:sp>
        <p:nvSpPr>
          <p:cNvPr id="4" name="Rectangle 3"/>
          <p:cNvSpPr txBox="1">
            <a:spLocks noChangeArrowheads="1"/>
          </p:cNvSpPr>
          <p:nvPr/>
        </p:nvSpPr>
        <p:spPr>
          <a:xfrm>
            <a:off x="540965" y="1500189"/>
            <a:ext cx="7991475" cy="2000819"/>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1200"/>
              </a:spcBef>
              <a:buClr>
                <a:schemeClr val="accent1">
                  <a:lumMod val="75000"/>
                </a:schemeClr>
              </a:buClr>
              <a:buFont typeface="Arial" pitchFamily="34" charset="0"/>
              <a:buNone/>
              <a:defRPr/>
            </a:pPr>
            <a:r>
              <a:rPr lang="en-US" altLang="zh-CN" sz="2000" dirty="0" smtClean="0">
                <a:solidFill>
                  <a:srgbClr val="0000FF"/>
                </a:solidFill>
                <a:latin typeface="方正大黑简体" pitchFamily="2" charset="-122"/>
                <a:ea typeface="方正大黑简体" pitchFamily="2" charset="-122"/>
              </a:rPr>
              <a:t>1</a:t>
            </a:r>
            <a:r>
              <a:rPr lang="zh-CN" altLang="en-US" sz="2000" dirty="0" smtClean="0">
                <a:solidFill>
                  <a:srgbClr val="0000FF"/>
                </a:solidFill>
                <a:latin typeface="方正大黑简体" pitchFamily="2" charset="-122"/>
                <a:ea typeface="方正大黑简体" pitchFamily="2" charset="-122"/>
              </a:rPr>
              <a:t>、 均衡技术的基本原理是什么？</a:t>
            </a:r>
            <a:endParaRPr lang="en-US" altLang="zh-CN" sz="2000" dirty="0" smtClean="0">
              <a:solidFill>
                <a:srgbClr val="0000FF"/>
              </a:solidFill>
              <a:latin typeface="方正大黑简体" pitchFamily="2" charset="-122"/>
              <a:ea typeface="方正大黑简体" pitchFamily="2" charset="-122"/>
            </a:endParaRPr>
          </a:p>
          <a:p>
            <a:pPr>
              <a:spcBef>
                <a:spcPts val="1200"/>
              </a:spcBef>
              <a:buClr>
                <a:schemeClr val="accent1">
                  <a:lumMod val="75000"/>
                </a:schemeClr>
              </a:buClr>
              <a:buFont typeface="Arial" pitchFamily="34" charset="0"/>
              <a:buNone/>
              <a:defRPr/>
            </a:pPr>
            <a:r>
              <a:rPr lang="en-US" altLang="zh-CN" sz="2000" dirty="0" smtClean="0">
                <a:solidFill>
                  <a:srgbClr val="0000FF"/>
                </a:solidFill>
                <a:latin typeface="方正大黑简体" pitchFamily="2" charset="-122"/>
                <a:ea typeface="方正大黑简体" pitchFamily="2" charset="-122"/>
              </a:rPr>
              <a:t>2</a:t>
            </a:r>
            <a:r>
              <a:rPr lang="zh-CN" altLang="en-US" sz="2000" dirty="0" smtClean="0">
                <a:solidFill>
                  <a:srgbClr val="0000FF"/>
                </a:solidFill>
                <a:latin typeface="方正大黑简体" pitchFamily="2" charset="-122"/>
                <a:ea typeface="方正大黑简体" pitchFamily="2" charset="-122"/>
              </a:rPr>
              <a:t>、 均衡器有哪些分类？</a:t>
            </a:r>
            <a:endParaRPr lang="en-US" altLang="zh-CN" sz="2000" dirty="0" smtClean="0">
              <a:solidFill>
                <a:srgbClr val="0000FF"/>
              </a:solidFill>
              <a:latin typeface="方正大黑简体" pitchFamily="2" charset="-122"/>
              <a:ea typeface="方正大黑简体" pitchFamily="2" charset="-122"/>
            </a:endParaRPr>
          </a:p>
          <a:p>
            <a:pPr>
              <a:spcBef>
                <a:spcPts val="1200"/>
              </a:spcBef>
              <a:buClr>
                <a:schemeClr val="accent1">
                  <a:lumMod val="75000"/>
                </a:schemeClr>
              </a:buClr>
              <a:buFont typeface="Arial" pitchFamily="34" charset="0"/>
              <a:buNone/>
              <a:defRPr/>
            </a:pPr>
            <a:r>
              <a:rPr lang="en-US" altLang="zh-CN" sz="2000" dirty="0" smtClean="0">
                <a:solidFill>
                  <a:srgbClr val="0000FF"/>
                </a:solidFill>
                <a:latin typeface="方正大黑简体" pitchFamily="2" charset="-122"/>
                <a:ea typeface="方正大黑简体" pitchFamily="2" charset="-122"/>
              </a:rPr>
              <a:t>3</a:t>
            </a:r>
            <a:r>
              <a:rPr lang="zh-CN" altLang="en-US" sz="2000" dirty="0" smtClean="0">
                <a:solidFill>
                  <a:srgbClr val="0000FF"/>
                </a:solidFill>
                <a:latin typeface="方正大黑简体" pitchFamily="2" charset="-122"/>
                <a:ea typeface="方正大黑简体" pitchFamily="2" charset="-122"/>
              </a:rPr>
              <a:t>、 典型的自适应均衡器算法有哪些？</a:t>
            </a:r>
            <a:endParaRPr lang="en-US" altLang="zh-CN" sz="2000" dirty="0" smtClean="0">
              <a:solidFill>
                <a:srgbClr val="0000FF"/>
              </a:solidFill>
              <a:latin typeface="方正大黑简体" pitchFamily="2" charset="-122"/>
              <a:ea typeface="方正大黑简体" pitchFamily="2" charset="-122"/>
            </a:endParaRPr>
          </a:p>
          <a:p>
            <a:pPr>
              <a:spcBef>
                <a:spcPts val="1200"/>
              </a:spcBef>
              <a:buClr>
                <a:schemeClr val="accent1">
                  <a:lumMod val="75000"/>
                </a:schemeClr>
              </a:buClr>
              <a:buFont typeface="Arial" pitchFamily="34" charset="0"/>
              <a:buNone/>
              <a:defRPr/>
            </a:pPr>
            <a:r>
              <a:rPr lang="en-US" altLang="zh-CN" sz="2000" dirty="0" smtClean="0">
                <a:solidFill>
                  <a:srgbClr val="0000FF"/>
                </a:solidFill>
                <a:latin typeface="方正大黑简体" pitchFamily="2" charset="-122"/>
                <a:ea typeface="方正大黑简体" pitchFamily="2" charset="-122"/>
              </a:rPr>
              <a:t>4</a:t>
            </a:r>
            <a:r>
              <a:rPr lang="zh-CN" altLang="en-US" sz="2000" dirty="0" smtClean="0">
                <a:solidFill>
                  <a:srgbClr val="0000FF"/>
                </a:solidFill>
                <a:latin typeface="方正大黑简体" pitchFamily="2" charset="-122"/>
                <a:ea typeface="方正大黑简体" pitchFamily="2" charset="-122"/>
              </a:rPr>
              <a:t>、</a:t>
            </a:r>
            <a:r>
              <a:rPr lang="en-US" altLang="zh-CN" sz="2000" dirty="0" smtClean="0">
                <a:solidFill>
                  <a:srgbClr val="0000FF"/>
                </a:solidFill>
                <a:latin typeface="方正大黑简体" pitchFamily="2" charset="-122"/>
                <a:ea typeface="方正大黑简体" pitchFamily="2" charset="-122"/>
              </a:rPr>
              <a:t> </a:t>
            </a:r>
            <a:r>
              <a:rPr lang="zh-CN" altLang="en-US" sz="2000" dirty="0" smtClean="0">
                <a:solidFill>
                  <a:srgbClr val="0000FF"/>
                </a:solidFill>
                <a:latin typeface="方正大黑简体" pitchFamily="2" charset="-122"/>
                <a:ea typeface="方正大黑简体" pitchFamily="2" charset="-122"/>
              </a:rPr>
              <a:t>如何针对特定信道条件来设计均衡器参数？</a:t>
            </a:r>
            <a:endParaRPr lang="en-US" altLang="zh-CN" sz="2000" dirty="0" smtClean="0">
              <a:solidFill>
                <a:srgbClr val="0000FF"/>
              </a:solidFill>
              <a:latin typeface="方正大黑简体" pitchFamily="2" charset="-122"/>
              <a:ea typeface="方正大黑简体" pitchFamily="2" charset="-122"/>
            </a:endParaRPr>
          </a:p>
        </p:txBody>
      </p:sp>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idx="4294967295"/>
          </p:nvPr>
        </p:nvSpPr>
        <p:spPr>
          <a:xfrm>
            <a:off x="1357290" y="332656"/>
            <a:ext cx="6858000" cy="808021"/>
          </a:xfrm>
        </p:spPr>
        <p:txBody>
          <a:bodyPr>
            <a:noAutofit/>
          </a:bodyPr>
          <a:lstStyle/>
          <a:p>
            <a:pPr eaLnBrk="1" hangingPunct="1"/>
            <a:r>
              <a:rPr lang="zh-CN" altLang="en-US" sz="3600" dirty="0" smtClean="0">
                <a:solidFill>
                  <a:schemeClr val="bg1"/>
                </a:solidFill>
                <a:latin typeface="方正兰亭粗黑简体" pitchFamily="2" charset="-122"/>
                <a:ea typeface="方正兰亭粗黑简体" pitchFamily="2" charset="-122"/>
              </a:rPr>
              <a:t>本次课的教学内容</a:t>
            </a:r>
          </a:p>
        </p:txBody>
      </p:sp>
      <p:sp>
        <p:nvSpPr>
          <p:cNvPr id="15364" name="Rectangle 3"/>
          <p:cNvSpPr>
            <a:spLocks noGrp="1" noChangeArrowheads="1"/>
          </p:cNvSpPr>
          <p:nvPr>
            <p:ph type="body" idx="4294967295"/>
          </p:nvPr>
        </p:nvSpPr>
        <p:spPr>
          <a:xfrm>
            <a:off x="857224" y="1390672"/>
            <a:ext cx="7286654" cy="3895716"/>
          </a:xfrm>
        </p:spPr>
        <p:txBody>
          <a:bodyPr/>
          <a:lstStyle/>
          <a:p>
            <a:pPr algn="just" eaLnBrk="1" hangingPunct="1">
              <a:lnSpc>
                <a:spcPct val="150000"/>
              </a:lnSpc>
              <a:spcBef>
                <a:spcPts val="1200"/>
              </a:spcBef>
              <a:buFontTx/>
              <a:buNone/>
            </a:pPr>
            <a:r>
              <a:rPr lang="en-US" altLang="zh-CN" sz="2800" dirty="0" smtClean="0">
                <a:solidFill>
                  <a:srgbClr val="FF0000"/>
                </a:solidFill>
                <a:latin typeface="方正大黑简体" pitchFamily="2" charset="-122"/>
                <a:ea typeface="方正大黑简体" pitchFamily="2" charset="-122"/>
              </a:rPr>
              <a:t>5.3.1 </a:t>
            </a:r>
            <a:r>
              <a:rPr lang="zh-CN" altLang="en-US" sz="2800" dirty="0" smtClean="0">
                <a:solidFill>
                  <a:srgbClr val="FF0000"/>
                </a:solidFill>
                <a:latin typeface="方正大黑简体" pitchFamily="2" charset="-122"/>
                <a:ea typeface="方正大黑简体" pitchFamily="2" charset="-122"/>
              </a:rPr>
              <a:t>自适应均衡原理</a:t>
            </a:r>
          </a:p>
          <a:p>
            <a:pPr algn="just" eaLnBrk="1" hangingPunct="1">
              <a:lnSpc>
                <a:spcPct val="150000"/>
              </a:lnSpc>
              <a:spcBef>
                <a:spcPts val="1200"/>
              </a:spcBef>
              <a:buFontTx/>
              <a:buNone/>
            </a:pPr>
            <a:r>
              <a:rPr lang="en-US" altLang="zh-CN" sz="2800" dirty="0" smtClean="0">
                <a:solidFill>
                  <a:srgbClr val="0000FF"/>
                </a:solidFill>
                <a:latin typeface="方正大黑简体" pitchFamily="2" charset="-122"/>
                <a:ea typeface="方正大黑简体" pitchFamily="2" charset="-122"/>
              </a:rPr>
              <a:t>5.3.2 </a:t>
            </a:r>
            <a:r>
              <a:rPr lang="zh-CN" altLang="en-US" sz="2800" dirty="0" smtClean="0">
                <a:solidFill>
                  <a:srgbClr val="0000FF"/>
                </a:solidFill>
                <a:latin typeface="方正大黑简体" pitchFamily="2" charset="-122"/>
                <a:ea typeface="方正大黑简体" pitchFamily="2" charset="-122"/>
              </a:rPr>
              <a:t>均衡器类型</a:t>
            </a:r>
            <a:endParaRPr lang="en-US" altLang="zh-CN" sz="2800" dirty="0" smtClean="0">
              <a:solidFill>
                <a:srgbClr val="0000FF"/>
              </a:solidFill>
              <a:latin typeface="方正大黑简体" pitchFamily="2" charset="-122"/>
              <a:ea typeface="方正大黑简体" pitchFamily="2" charset="-122"/>
            </a:endParaRPr>
          </a:p>
          <a:p>
            <a:pPr algn="just" eaLnBrk="1" hangingPunct="1">
              <a:lnSpc>
                <a:spcPct val="150000"/>
              </a:lnSpc>
              <a:spcBef>
                <a:spcPts val="1200"/>
              </a:spcBef>
              <a:buFontTx/>
              <a:buNone/>
            </a:pPr>
            <a:r>
              <a:rPr lang="en-US" altLang="zh-CN" sz="2800" dirty="0" smtClean="0">
                <a:solidFill>
                  <a:srgbClr val="0000FF"/>
                </a:solidFill>
                <a:latin typeface="方正大黑简体" pitchFamily="2" charset="-122"/>
                <a:ea typeface="方正大黑简体" pitchFamily="2" charset="-122"/>
              </a:rPr>
              <a:t>5.3.3 </a:t>
            </a:r>
            <a:r>
              <a:rPr lang="zh-CN" altLang="en-US" sz="2800" dirty="0" smtClean="0">
                <a:solidFill>
                  <a:srgbClr val="0000FF"/>
                </a:solidFill>
                <a:latin typeface="方正大黑简体" pitchFamily="2" charset="-122"/>
                <a:ea typeface="方正大黑简体" pitchFamily="2" charset="-122"/>
              </a:rPr>
              <a:t>均衡算法</a:t>
            </a:r>
          </a:p>
          <a:p>
            <a:pPr algn="just" eaLnBrk="1" hangingPunct="1">
              <a:lnSpc>
                <a:spcPct val="150000"/>
              </a:lnSpc>
              <a:spcBef>
                <a:spcPts val="1200"/>
              </a:spcBef>
              <a:buFontTx/>
              <a:buNone/>
            </a:pPr>
            <a:r>
              <a:rPr lang="en-US" altLang="zh-CN" sz="2800" dirty="0" smtClean="0">
                <a:solidFill>
                  <a:srgbClr val="0000FF"/>
                </a:solidFill>
                <a:latin typeface="方正大黑简体" pitchFamily="2" charset="-122"/>
                <a:ea typeface="方正大黑简体" pitchFamily="2" charset="-122"/>
              </a:rPr>
              <a:t>5.3.4 </a:t>
            </a:r>
            <a:r>
              <a:rPr lang="zh-CN" altLang="en-US" sz="2800" dirty="0" smtClean="0">
                <a:solidFill>
                  <a:srgbClr val="0000FF"/>
                </a:solidFill>
                <a:latin typeface="方正大黑简体" pitchFamily="2" charset="-122"/>
                <a:ea typeface="方正大黑简体" pitchFamily="2" charset="-122"/>
              </a:rPr>
              <a:t>自适应均衡器的应用</a:t>
            </a:r>
          </a:p>
        </p:txBody>
      </p:sp>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a:xfrm>
            <a:off x="1000100" y="252968"/>
            <a:ext cx="7315200" cy="914400"/>
          </a:xfrm>
        </p:spPr>
        <p:txBody>
          <a:bodyPr vert="horz" lIns="91440" tIns="45720" rIns="91440" bIns="45720" rtlCol="0" anchor="ctr">
            <a:noAutofit/>
          </a:bodyPr>
          <a:lstStyle/>
          <a:p>
            <a:pPr>
              <a:defRPr/>
            </a:pPr>
            <a:r>
              <a:rPr lang="zh-CN" altLang="en-US" sz="3600" dirty="0" smtClean="0">
                <a:solidFill>
                  <a:schemeClr val="bg1"/>
                </a:solidFill>
                <a:latin typeface="方正兰亭粗黑简体" pitchFamily="2" charset="-122"/>
                <a:ea typeface="方正兰亭粗黑简体" pitchFamily="2" charset="-122"/>
                <a:cs typeface="+mn-cs"/>
              </a:rPr>
              <a:t>一、自适应均衡原理</a:t>
            </a:r>
          </a:p>
        </p:txBody>
      </p:sp>
      <p:sp>
        <p:nvSpPr>
          <p:cNvPr id="20484" name="Rectangle 3"/>
          <p:cNvSpPr>
            <a:spLocks noGrp="1" noChangeArrowheads="1"/>
          </p:cNvSpPr>
          <p:nvPr>
            <p:ph type="body" idx="1"/>
          </p:nvPr>
        </p:nvSpPr>
        <p:spPr>
          <a:xfrm>
            <a:off x="571500" y="1285860"/>
            <a:ext cx="7772400" cy="4786312"/>
          </a:xfrm>
        </p:spPr>
        <p:txBody>
          <a:bodyPr>
            <a:normAutofit lnSpcReduction="10000"/>
          </a:bodyPr>
          <a:lstStyle/>
          <a:p>
            <a:pPr>
              <a:lnSpc>
                <a:spcPct val="150000"/>
              </a:lnSpc>
              <a:spcBef>
                <a:spcPts val="600"/>
              </a:spcBef>
              <a:buClr>
                <a:schemeClr val="accent1">
                  <a:lumMod val="75000"/>
                </a:schemeClr>
              </a:buClr>
              <a:buNone/>
              <a:defRPr/>
            </a:pPr>
            <a:r>
              <a:rPr lang="en-US" altLang="zh-CN" sz="3000" dirty="0" smtClean="0">
                <a:solidFill>
                  <a:srgbClr val="000099"/>
                </a:solidFill>
                <a:latin typeface="方正大黑简体" pitchFamily="2" charset="-122"/>
                <a:ea typeface="方正大黑简体" pitchFamily="2" charset="-122"/>
              </a:rPr>
              <a:t>1</a:t>
            </a:r>
            <a:r>
              <a:rPr lang="zh-CN" altLang="en-US" sz="3000" dirty="0" smtClean="0">
                <a:solidFill>
                  <a:srgbClr val="000099"/>
                </a:solidFill>
                <a:latin typeface="方正大黑简体" pitchFamily="2" charset="-122"/>
                <a:ea typeface="方正大黑简体" pitchFamily="2" charset="-122"/>
              </a:rPr>
              <a:t>、均衡技术的作用 </a:t>
            </a:r>
            <a:endParaRPr lang="en-US" altLang="zh-CN" sz="3000" dirty="0" smtClean="0">
              <a:solidFill>
                <a:srgbClr val="000099"/>
              </a:solidFill>
              <a:latin typeface="方正大黑简体" pitchFamily="2" charset="-122"/>
              <a:ea typeface="方正大黑简体" pitchFamily="2" charset="-122"/>
            </a:endParaRPr>
          </a:p>
          <a:p>
            <a:pPr>
              <a:lnSpc>
                <a:spcPct val="150000"/>
              </a:lnSpc>
              <a:spcBef>
                <a:spcPts val="600"/>
              </a:spcBef>
              <a:buClr>
                <a:srgbClr val="0000FF"/>
              </a:buClr>
              <a:buFont typeface="Wingdings" pitchFamily="2" charset="2"/>
              <a:buChar char="p"/>
              <a:defRPr/>
            </a:pPr>
            <a:r>
              <a:rPr lang="zh-CN" altLang="en-US" sz="2800" dirty="0" smtClean="0">
                <a:solidFill>
                  <a:srgbClr val="0000FF"/>
                </a:solidFill>
                <a:latin typeface="方正大黑简体" pitchFamily="2" charset="-122"/>
                <a:ea typeface="方正大黑简体" pitchFamily="2" charset="-122"/>
              </a:rPr>
              <a:t>信道的多径分布  </a:t>
            </a:r>
            <a:r>
              <a:rPr lang="en-US" altLang="zh-CN" sz="2800" dirty="0" smtClean="0">
                <a:solidFill>
                  <a:srgbClr val="FF0000"/>
                </a:solidFill>
                <a:latin typeface="方正大黑简体" pitchFamily="2" charset="-122"/>
                <a:ea typeface="方正大黑简体" pitchFamily="2" charset="-122"/>
                <a:sym typeface="Wingdings" pitchFamily="2" charset="2"/>
              </a:rPr>
              <a:t> </a:t>
            </a:r>
            <a:r>
              <a:rPr lang="zh-CN" altLang="en-US" sz="2800" dirty="0" smtClean="0">
                <a:solidFill>
                  <a:srgbClr val="FF0000"/>
                </a:solidFill>
                <a:latin typeface="方正大黑简体" pitchFamily="2" charset="-122"/>
                <a:ea typeface="方正大黑简体" pitchFamily="2" charset="-122"/>
                <a:sym typeface="Wingdings" pitchFamily="2" charset="2"/>
              </a:rPr>
              <a:t>相关带宽</a:t>
            </a:r>
            <a:endParaRPr lang="en-US" altLang="zh-CN" sz="2800" dirty="0" smtClean="0">
              <a:solidFill>
                <a:srgbClr val="FF0000"/>
              </a:solidFill>
              <a:latin typeface="方正大黑简体" pitchFamily="2" charset="-122"/>
              <a:ea typeface="方正大黑简体" pitchFamily="2" charset="-122"/>
              <a:sym typeface="Wingdings" pitchFamily="2" charset="2"/>
            </a:endParaRPr>
          </a:p>
          <a:p>
            <a:pPr lvl="1">
              <a:lnSpc>
                <a:spcPct val="150000"/>
              </a:lnSpc>
              <a:spcBef>
                <a:spcPts val="600"/>
              </a:spcBef>
              <a:buClr>
                <a:srgbClr val="FF0000"/>
              </a:buClr>
              <a:buFont typeface="Wingdings" pitchFamily="2" charset="2"/>
              <a:buChar char="ü"/>
              <a:defRPr/>
            </a:pPr>
            <a:r>
              <a:rPr lang="en-US" altLang="zh-CN" dirty="0" smtClean="0">
                <a:solidFill>
                  <a:srgbClr val="0000FF"/>
                </a:solidFill>
                <a:latin typeface="方正大黑简体" pitchFamily="2" charset="-122"/>
                <a:ea typeface="方正大黑简体" pitchFamily="2" charset="-122"/>
                <a:sym typeface="Wingdings" pitchFamily="2" charset="2"/>
              </a:rPr>
              <a:t> </a:t>
            </a:r>
            <a:r>
              <a:rPr lang="zh-CN" altLang="en-US" dirty="0" smtClean="0">
                <a:solidFill>
                  <a:srgbClr val="0000FF"/>
                </a:solidFill>
                <a:latin typeface="方正大黑简体" pitchFamily="2" charset="-122"/>
                <a:ea typeface="方正大黑简体" pitchFamily="2" charset="-122"/>
                <a:sym typeface="Wingdings" pitchFamily="2" charset="2"/>
              </a:rPr>
              <a:t>从时域上看，多径引起？</a:t>
            </a:r>
            <a:endParaRPr lang="en-US" altLang="zh-CN" dirty="0" smtClean="0">
              <a:solidFill>
                <a:srgbClr val="0000FF"/>
              </a:solidFill>
              <a:latin typeface="方正大黑简体" pitchFamily="2" charset="-122"/>
              <a:ea typeface="方正大黑简体" pitchFamily="2" charset="-122"/>
              <a:sym typeface="Wingdings" pitchFamily="2" charset="2"/>
            </a:endParaRPr>
          </a:p>
          <a:p>
            <a:pPr lvl="1">
              <a:lnSpc>
                <a:spcPct val="150000"/>
              </a:lnSpc>
              <a:spcBef>
                <a:spcPts val="600"/>
              </a:spcBef>
              <a:buClr>
                <a:srgbClr val="FF0000"/>
              </a:buClr>
              <a:buFont typeface="Wingdings" pitchFamily="2" charset="2"/>
              <a:buChar char="ü"/>
              <a:defRPr/>
            </a:pPr>
            <a:r>
              <a:rPr lang="en-US" altLang="zh-CN" dirty="0" smtClean="0">
                <a:solidFill>
                  <a:srgbClr val="0000FF"/>
                </a:solidFill>
                <a:latin typeface="方正大黑简体" pitchFamily="2" charset="-122"/>
                <a:ea typeface="方正大黑简体" pitchFamily="2" charset="-122"/>
                <a:sym typeface="Wingdings" pitchFamily="2" charset="2"/>
              </a:rPr>
              <a:t> </a:t>
            </a:r>
            <a:r>
              <a:rPr lang="zh-CN" altLang="en-US" dirty="0" smtClean="0">
                <a:solidFill>
                  <a:srgbClr val="0000FF"/>
                </a:solidFill>
                <a:latin typeface="方正大黑简体" pitchFamily="2" charset="-122"/>
                <a:ea typeface="方正大黑简体" pitchFamily="2" charset="-122"/>
                <a:sym typeface="Wingdings" pitchFamily="2" charset="2"/>
              </a:rPr>
              <a:t>从频域上看，多径引起？</a:t>
            </a:r>
            <a:endParaRPr lang="en-US" altLang="zh-CN" dirty="0" smtClean="0">
              <a:solidFill>
                <a:srgbClr val="0000FF"/>
              </a:solidFill>
              <a:latin typeface="方正大黑简体" pitchFamily="2" charset="-122"/>
              <a:ea typeface="方正大黑简体" pitchFamily="2" charset="-122"/>
              <a:sym typeface="Wingdings" pitchFamily="2" charset="2"/>
            </a:endParaRPr>
          </a:p>
          <a:p>
            <a:pPr>
              <a:lnSpc>
                <a:spcPct val="150000"/>
              </a:lnSpc>
              <a:buClr>
                <a:srgbClr val="0000FF"/>
              </a:buClr>
              <a:buFont typeface="Wingdings" pitchFamily="2" charset="2"/>
              <a:buChar char="p"/>
              <a:defRPr/>
            </a:pPr>
            <a:r>
              <a:rPr lang="en-US" altLang="zh-CN" sz="2800" dirty="0" smtClean="0">
                <a:solidFill>
                  <a:srgbClr val="0000FF"/>
                </a:solidFill>
                <a:latin typeface="方正大黑简体" pitchFamily="2" charset="-122"/>
                <a:ea typeface="方正大黑简体" pitchFamily="2" charset="-122"/>
                <a:sym typeface="Wingdings" pitchFamily="2" charset="2"/>
              </a:rPr>
              <a:t> </a:t>
            </a:r>
            <a:r>
              <a:rPr lang="zh-CN" altLang="en-US" sz="2800" dirty="0" smtClean="0">
                <a:solidFill>
                  <a:srgbClr val="0000FF"/>
                </a:solidFill>
                <a:latin typeface="方正大黑简体" pitchFamily="2" charset="-122"/>
                <a:ea typeface="方正大黑简体" pitchFamily="2" charset="-122"/>
                <a:sym typeface="Wingdings" pitchFamily="2" charset="2"/>
              </a:rPr>
              <a:t>码间串扰是移动无线信道中传输高速率数据的主要障碍，而均衡（</a:t>
            </a:r>
            <a:r>
              <a:rPr lang="en-US" altLang="zh-CN" sz="2800" dirty="0" smtClean="0">
                <a:solidFill>
                  <a:srgbClr val="0000FF"/>
                </a:solidFill>
                <a:latin typeface="方正大黑简体" pitchFamily="2" charset="-122"/>
                <a:ea typeface="方正大黑简体" pitchFamily="2" charset="-122"/>
                <a:sym typeface="Wingdings" pitchFamily="2" charset="2"/>
              </a:rPr>
              <a:t>Equalization</a:t>
            </a:r>
            <a:r>
              <a:rPr lang="zh-CN" altLang="en-US" sz="2800" dirty="0" smtClean="0">
                <a:solidFill>
                  <a:srgbClr val="0000FF"/>
                </a:solidFill>
                <a:latin typeface="方正大黑简体" pitchFamily="2" charset="-122"/>
                <a:ea typeface="方正大黑简体" pitchFamily="2" charset="-122"/>
                <a:sym typeface="Wingdings" pitchFamily="2" charset="2"/>
              </a:rPr>
              <a:t>）技术可克服码间串扰。</a:t>
            </a:r>
            <a:endParaRPr lang="zh-CN" altLang="en-US" sz="2800" dirty="0">
              <a:latin typeface="方正大黑简体" pitchFamily="2" charset="-122"/>
              <a:ea typeface="方正大黑简体" pitchFamily="2" charset="-122"/>
            </a:endParaRPr>
          </a:p>
        </p:txBody>
      </p:sp>
      <p:grpSp>
        <p:nvGrpSpPr>
          <p:cNvPr id="5" name="组合 4"/>
          <p:cNvGrpSpPr/>
          <p:nvPr/>
        </p:nvGrpSpPr>
        <p:grpSpPr>
          <a:xfrm>
            <a:off x="5440120" y="2708920"/>
            <a:ext cx="1949698" cy="572464"/>
            <a:chOff x="6072198" y="1878698"/>
            <a:chExt cx="1949698" cy="572464"/>
          </a:xfrm>
        </p:grpSpPr>
        <p:sp>
          <p:nvSpPr>
            <p:cNvPr id="6" name="矩形 5"/>
            <p:cNvSpPr/>
            <p:nvPr/>
          </p:nvSpPr>
          <p:spPr>
            <a:xfrm>
              <a:off x="6606124" y="1878698"/>
              <a:ext cx="1415772" cy="572464"/>
            </a:xfrm>
            <a:prstGeom prst="rect">
              <a:avLst/>
            </a:prstGeom>
          </p:spPr>
          <p:txBody>
            <a:bodyPr wrap="none">
              <a:spAutoFit/>
            </a:bodyPr>
            <a:lstStyle/>
            <a:p>
              <a:pPr>
                <a:lnSpc>
                  <a:spcPct val="130000"/>
                </a:lnSpc>
              </a:pPr>
              <a:r>
                <a:rPr lang="zh-CN" altLang="en-US" sz="2400" dirty="0" smtClean="0">
                  <a:solidFill>
                    <a:srgbClr val="FF0000"/>
                  </a:solidFill>
                  <a:latin typeface="方正大黑简体" pitchFamily="2" charset="-122"/>
                  <a:ea typeface="方正大黑简体" pitchFamily="2" charset="-122"/>
                </a:rPr>
                <a:t>码间串扰</a:t>
              </a:r>
            </a:p>
          </p:txBody>
        </p:sp>
        <p:sp>
          <p:nvSpPr>
            <p:cNvPr id="7" name="右箭头 6"/>
            <p:cNvSpPr/>
            <p:nvPr/>
          </p:nvSpPr>
          <p:spPr>
            <a:xfrm>
              <a:off x="6072198" y="2071678"/>
              <a:ext cx="500066" cy="214314"/>
            </a:xfrm>
            <a:prstGeom prst="rightArrow">
              <a:avLst/>
            </a:prstGeom>
            <a:solidFill>
              <a:srgbClr val="FF00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latin typeface="方正大黑简体" pitchFamily="2" charset="-122"/>
                <a:ea typeface="方正大黑简体" pitchFamily="2" charset="-122"/>
              </a:endParaRPr>
            </a:p>
          </p:txBody>
        </p:sp>
      </p:grpSp>
      <p:grpSp>
        <p:nvGrpSpPr>
          <p:cNvPr id="8" name="组合 7"/>
          <p:cNvGrpSpPr/>
          <p:nvPr/>
        </p:nvGrpSpPr>
        <p:grpSpPr>
          <a:xfrm>
            <a:off x="5429256" y="3411149"/>
            <a:ext cx="2873028" cy="572464"/>
            <a:chOff x="6072198" y="1878698"/>
            <a:chExt cx="2873028" cy="572464"/>
          </a:xfrm>
        </p:grpSpPr>
        <p:sp>
          <p:nvSpPr>
            <p:cNvPr id="9" name="矩形 8"/>
            <p:cNvSpPr/>
            <p:nvPr/>
          </p:nvSpPr>
          <p:spPr>
            <a:xfrm>
              <a:off x="6606124" y="1878698"/>
              <a:ext cx="2339102" cy="572464"/>
            </a:xfrm>
            <a:prstGeom prst="rect">
              <a:avLst/>
            </a:prstGeom>
          </p:spPr>
          <p:txBody>
            <a:bodyPr wrap="none">
              <a:spAutoFit/>
            </a:bodyPr>
            <a:lstStyle/>
            <a:p>
              <a:pPr>
                <a:lnSpc>
                  <a:spcPct val="130000"/>
                </a:lnSpc>
              </a:pPr>
              <a:r>
                <a:rPr lang="zh-CN" altLang="en-US" sz="2400" dirty="0" smtClean="0">
                  <a:solidFill>
                    <a:srgbClr val="FF0000"/>
                  </a:solidFill>
                  <a:latin typeface="方正大黑简体" pitchFamily="2" charset="-122"/>
                  <a:ea typeface="方正大黑简体" pitchFamily="2" charset="-122"/>
                </a:rPr>
                <a:t>频率选择性衰落</a:t>
              </a:r>
            </a:p>
          </p:txBody>
        </p:sp>
        <p:sp>
          <p:nvSpPr>
            <p:cNvPr id="10" name="右箭头 9"/>
            <p:cNvSpPr/>
            <p:nvPr/>
          </p:nvSpPr>
          <p:spPr>
            <a:xfrm>
              <a:off x="6072198" y="2071678"/>
              <a:ext cx="500066" cy="214314"/>
            </a:xfrm>
            <a:prstGeom prst="rightArrow">
              <a:avLst/>
            </a:prstGeom>
            <a:solidFill>
              <a:srgbClr val="FF00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latin typeface="方正大黑简体" pitchFamily="2" charset="-122"/>
                <a:ea typeface="方正大黑简体"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0484">
                                            <p:txEl>
                                              <p:pRg st="1" end="1"/>
                                            </p:txEl>
                                          </p:spTgt>
                                        </p:tgtEl>
                                        <p:attrNameLst>
                                          <p:attrName>style.visibility</p:attrName>
                                        </p:attrNameLst>
                                      </p:cBhvr>
                                      <p:to>
                                        <p:strVal val="visible"/>
                                      </p:to>
                                    </p:set>
                                    <p:anim calcmode="lin" valueType="num">
                                      <p:cBhvr additive="base">
                                        <p:cTn id="7" dur="500" fill="hold"/>
                                        <p:tgtEl>
                                          <p:spTgt spid="20484">
                                            <p:txEl>
                                              <p:pRg st="1" end="1"/>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0484">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7" presetClass="entr" presetSubtype="0" fill="hold" nodeType="clickEffect">
                                  <p:stCondLst>
                                    <p:cond delay="0"/>
                                  </p:stCondLst>
                                  <p:iterate type="lt">
                                    <p:tmPct val="50000"/>
                                  </p:iterate>
                                  <p:childTnLst>
                                    <p:set>
                                      <p:cBhvr>
                                        <p:cTn id="12" dur="1" fill="hold">
                                          <p:stCondLst>
                                            <p:cond delay="0"/>
                                          </p:stCondLst>
                                        </p:cTn>
                                        <p:tgtEl>
                                          <p:spTgt spid="20484">
                                            <p:txEl>
                                              <p:pRg st="2" end="2"/>
                                            </p:txEl>
                                          </p:spTgt>
                                        </p:tgtEl>
                                        <p:attrNameLst>
                                          <p:attrName>style.visibility</p:attrName>
                                        </p:attrNameLst>
                                      </p:cBhvr>
                                      <p:to>
                                        <p:strVal val="visible"/>
                                      </p:to>
                                    </p:set>
                                    <p:anim calcmode="discrete" valueType="clr">
                                      <p:cBhvr override="childStyle">
                                        <p:cTn id="13" dur="80"/>
                                        <p:tgtEl>
                                          <p:spTgt spid="20484">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4" dur="80"/>
                                        <p:tgtEl>
                                          <p:spTgt spid="20484">
                                            <p:txEl>
                                              <p:pRg st="2" end="2"/>
                                            </p:txEl>
                                          </p:spTgt>
                                        </p:tgtEl>
                                        <p:attrNameLst>
                                          <p:attrName>fillcolor</p:attrName>
                                        </p:attrNameLst>
                                      </p:cBhvr>
                                      <p:tavLst>
                                        <p:tav tm="0">
                                          <p:val>
                                            <p:clrVal>
                                              <a:schemeClr val="accent2"/>
                                            </p:clrVal>
                                          </p:val>
                                        </p:tav>
                                        <p:tav tm="50000">
                                          <p:val>
                                            <p:clrVal>
                                              <a:schemeClr val="hlink"/>
                                            </p:clrVal>
                                          </p:val>
                                        </p:tav>
                                      </p:tavLst>
                                    </p:anim>
                                    <p:set>
                                      <p:cBhvr>
                                        <p:cTn id="15" dur="80"/>
                                        <p:tgtEl>
                                          <p:spTgt spid="20484">
                                            <p:txEl>
                                              <p:pRg st="2" end="2"/>
                                            </p:txEl>
                                          </p:spTgt>
                                        </p:tgtEl>
                                        <p:attrNameLst>
                                          <p:attrName>fill.type</p:attrName>
                                        </p:attrNameLst>
                                      </p:cBhvr>
                                      <p:to>
                                        <p:strVal val="solid"/>
                                      </p:to>
                                    </p:set>
                                  </p:childTnLst>
                                </p:cTn>
                              </p:par>
                            </p:childTnLst>
                          </p:cTn>
                        </p:par>
                      </p:childTnLst>
                    </p:cTn>
                  </p:par>
                  <p:par>
                    <p:cTn id="16" fill="hold">
                      <p:stCondLst>
                        <p:cond delay="indefinite"/>
                      </p:stCondLst>
                      <p:childTnLst>
                        <p:par>
                          <p:cTn id="17" fill="hold">
                            <p:stCondLst>
                              <p:cond delay="0"/>
                            </p:stCondLst>
                            <p:childTnLst>
                              <p:par>
                                <p:cTn id="18" presetID="27" presetClass="entr" presetSubtype="0" fill="hold" nodeType="clickEffect">
                                  <p:stCondLst>
                                    <p:cond delay="0"/>
                                  </p:stCondLst>
                                  <p:iterate type="lt">
                                    <p:tmPct val="50000"/>
                                  </p:iterate>
                                  <p:childTnLst>
                                    <p:set>
                                      <p:cBhvr>
                                        <p:cTn id="19" dur="1" fill="hold">
                                          <p:stCondLst>
                                            <p:cond delay="0"/>
                                          </p:stCondLst>
                                        </p:cTn>
                                        <p:tgtEl>
                                          <p:spTgt spid="20484">
                                            <p:txEl>
                                              <p:pRg st="3" end="3"/>
                                            </p:txEl>
                                          </p:spTgt>
                                        </p:tgtEl>
                                        <p:attrNameLst>
                                          <p:attrName>style.visibility</p:attrName>
                                        </p:attrNameLst>
                                      </p:cBhvr>
                                      <p:to>
                                        <p:strVal val="visible"/>
                                      </p:to>
                                    </p:set>
                                    <p:anim calcmode="discrete" valueType="clr">
                                      <p:cBhvr override="childStyle">
                                        <p:cTn id="20" dur="80"/>
                                        <p:tgtEl>
                                          <p:spTgt spid="20484">
                                            <p:txEl>
                                              <p:pRg st="3" end="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1" dur="80"/>
                                        <p:tgtEl>
                                          <p:spTgt spid="20484">
                                            <p:txEl>
                                              <p:pRg st="3" end="3"/>
                                            </p:txEl>
                                          </p:spTgt>
                                        </p:tgtEl>
                                        <p:attrNameLst>
                                          <p:attrName>fillcolor</p:attrName>
                                        </p:attrNameLst>
                                      </p:cBhvr>
                                      <p:tavLst>
                                        <p:tav tm="0">
                                          <p:val>
                                            <p:clrVal>
                                              <a:schemeClr val="accent2"/>
                                            </p:clrVal>
                                          </p:val>
                                        </p:tav>
                                        <p:tav tm="50000">
                                          <p:val>
                                            <p:clrVal>
                                              <a:schemeClr val="hlink"/>
                                            </p:clrVal>
                                          </p:val>
                                        </p:tav>
                                      </p:tavLst>
                                    </p:anim>
                                    <p:set>
                                      <p:cBhvr>
                                        <p:cTn id="22" dur="80"/>
                                        <p:tgtEl>
                                          <p:spTgt spid="20484">
                                            <p:txEl>
                                              <p:pRg st="3" end="3"/>
                                            </p:txEl>
                                          </p:spTgt>
                                        </p:tgtEl>
                                        <p:attrNameLst>
                                          <p:attrName>fill.type</p:attrName>
                                        </p:attrNameLst>
                                      </p:cBhvr>
                                      <p:to>
                                        <p:strVal val="solid"/>
                                      </p:to>
                                    </p:set>
                                  </p:childTnLst>
                                </p:cTn>
                              </p:par>
                            </p:childTnLst>
                          </p:cTn>
                        </p:par>
                      </p:childTnLst>
                    </p:cTn>
                  </p:par>
                  <p:par>
                    <p:cTn id="23" fill="hold">
                      <p:stCondLst>
                        <p:cond delay="indefinite"/>
                      </p:stCondLst>
                      <p:childTnLst>
                        <p:par>
                          <p:cTn id="24" fill="hold">
                            <p:stCondLst>
                              <p:cond delay="0"/>
                            </p:stCondLst>
                            <p:childTnLst>
                              <p:par>
                                <p:cTn id="25" presetID="12" presetClass="entr" presetSubtype="8"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slide(fromLeft)">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8"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slide(fromLeft)">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20484">
                                            <p:txEl>
                                              <p:pRg st="4" end="4"/>
                                            </p:txEl>
                                          </p:spTgt>
                                        </p:tgtEl>
                                        <p:attrNameLst>
                                          <p:attrName>style.visibility</p:attrName>
                                        </p:attrNameLst>
                                      </p:cBhvr>
                                      <p:to>
                                        <p:strVal val="visible"/>
                                      </p:to>
                                    </p:set>
                                    <p:animEffect transition="in" filter="blinds(horizontal)">
                                      <p:cBhvr>
                                        <p:cTn id="37" dur="500"/>
                                        <p:tgtEl>
                                          <p:spTgt spid="2048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Rectangle 3"/>
          <p:cNvSpPr>
            <a:spLocks noGrp="1" noChangeArrowheads="1"/>
          </p:cNvSpPr>
          <p:nvPr>
            <p:ph type="body" idx="1"/>
          </p:nvPr>
        </p:nvSpPr>
        <p:spPr>
          <a:xfrm>
            <a:off x="251520" y="1357313"/>
            <a:ext cx="8640960" cy="4786312"/>
          </a:xfrm>
        </p:spPr>
        <p:txBody>
          <a:bodyPr>
            <a:normAutofit/>
          </a:bodyPr>
          <a:lstStyle/>
          <a:p>
            <a:pPr>
              <a:lnSpc>
                <a:spcPct val="150000"/>
              </a:lnSpc>
              <a:buClr>
                <a:schemeClr val="accent1">
                  <a:lumMod val="75000"/>
                </a:schemeClr>
              </a:buClr>
              <a:buNone/>
              <a:defRPr/>
            </a:pPr>
            <a:r>
              <a:rPr lang="en-US" altLang="zh-CN" sz="2800" dirty="0" smtClean="0">
                <a:solidFill>
                  <a:srgbClr val="000099"/>
                </a:solidFill>
                <a:latin typeface="方正大黑简体" pitchFamily="2" charset="-122"/>
                <a:ea typeface="方正大黑简体" pitchFamily="2" charset="-122"/>
              </a:rPr>
              <a:t>2</a:t>
            </a:r>
            <a:r>
              <a:rPr lang="zh-CN" altLang="en-US" sz="2800" dirty="0" smtClean="0">
                <a:solidFill>
                  <a:srgbClr val="000099"/>
                </a:solidFill>
                <a:latin typeface="方正大黑简体" pitchFamily="2" charset="-122"/>
                <a:ea typeface="方正大黑简体" pitchFamily="2" charset="-122"/>
              </a:rPr>
              <a:t>、均衡的定义</a:t>
            </a:r>
            <a:endParaRPr lang="en-US" altLang="zh-CN" sz="2800" dirty="0" smtClean="0">
              <a:solidFill>
                <a:srgbClr val="000099"/>
              </a:solidFill>
              <a:latin typeface="方正大黑简体" pitchFamily="2" charset="-122"/>
              <a:ea typeface="方正大黑简体" pitchFamily="2" charset="-122"/>
            </a:endParaRPr>
          </a:p>
          <a:p>
            <a:pPr>
              <a:lnSpc>
                <a:spcPct val="150000"/>
              </a:lnSpc>
              <a:buClr>
                <a:srgbClr val="0000FF"/>
              </a:buClr>
              <a:buFont typeface="Wingdings" pitchFamily="2" charset="2"/>
              <a:buChar char="p"/>
              <a:defRPr/>
            </a:pPr>
            <a:r>
              <a:rPr lang="zh-CN" altLang="en-US" sz="2800" dirty="0" smtClean="0">
                <a:latin typeface="方正大黑简体" pitchFamily="2" charset="-122"/>
                <a:ea typeface="方正大黑简体" pitchFamily="2" charset="-122"/>
              </a:rPr>
              <a:t> </a:t>
            </a:r>
            <a:r>
              <a:rPr lang="zh-CN" altLang="en-US" sz="2800" dirty="0" smtClean="0">
                <a:solidFill>
                  <a:srgbClr val="0000FF"/>
                </a:solidFill>
                <a:latin typeface="方正大黑简体" pitchFamily="2" charset="-122"/>
                <a:ea typeface="方正大黑简体" pitchFamily="2" charset="-122"/>
              </a:rPr>
              <a:t>从广义上讲，均衡指</a:t>
            </a:r>
            <a:r>
              <a:rPr lang="zh-CN" altLang="en-US" sz="2800" b="1" dirty="0" smtClean="0">
                <a:solidFill>
                  <a:srgbClr val="0000FF"/>
                </a:solidFill>
                <a:latin typeface="方正大黑简体" pitchFamily="2" charset="-122"/>
                <a:ea typeface="方正大黑简体" pitchFamily="2" charset="-122"/>
              </a:rPr>
              <a:t>任何</a:t>
            </a:r>
            <a:r>
              <a:rPr lang="zh-CN" altLang="en-US" sz="2800" dirty="0" smtClean="0">
                <a:solidFill>
                  <a:srgbClr val="0000FF"/>
                </a:solidFill>
                <a:latin typeface="方正大黑简体" pitchFamily="2" charset="-122"/>
                <a:ea typeface="方正大黑简体" pitchFamily="2" charset="-122"/>
              </a:rPr>
              <a:t>可以用来</a:t>
            </a:r>
            <a:r>
              <a:rPr lang="zh-CN" altLang="en-US" sz="2800" b="1" dirty="0" smtClean="0">
                <a:solidFill>
                  <a:srgbClr val="0000FF"/>
                </a:solidFill>
                <a:latin typeface="方正大黑简体" pitchFamily="2" charset="-122"/>
                <a:ea typeface="方正大黑简体" pitchFamily="2" charset="-122"/>
              </a:rPr>
              <a:t>削弱码间串扰</a:t>
            </a:r>
            <a:r>
              <a:rPr lang="zh-CN" altLang="en-US" sz="2800" dirty="0" smtClean="0">
                <a:solidFill>
                  <a:srgbClr val="0000FF"/>
                </a:solidFill>
                <a:latin typeface="方正大黑简体" pitchFamily="2" charset="-122"/>
                <a:ea typeface="方正大黑简体" pitchFamily="2" charset="-122"/>
              </a:rPr>
              <a:t>的信号处理</a:t>
            </a:r>
            <a:r>
              <a:rPr lang="zh-CN" altLang="en-US" sz="2800" b="1" dirty="0" smtClean="0">
                <a:solidFill>
                  <a:srgbClr val="0000FF"/>
                </a:solidFill>
                <a:latin typeface="方正大黑简体" pitchFamily="2" charset="-122"/>
                <a:ea typeface="方正大黑简体" pitchFamily="2" charset="-122"/>
              </a:rPr>
              <a:t>方法</a:t>
            </a:r>
            <a:r>
              <a:rPr lang="zh-CN" altLang="en-US" sz="2800" dirty="0" smtClean="0">
                <a:solidFill>
                  <a:srgbClr val="0000FF"/>
                </a:solidFill>
                <a:latin typeface="方正大黑简体" pitchFamily="2" charset="-122"/>
                <a:ea typeface="方正大黑简体" pitchFamily="2" charset="-122"/>
              </a:rPr>
              <a:t>。</a:t>
            </a:r>
            <a:endParaRPr lang="en-US" altLang="zh-CN" sz="2800" dirty="0" smtClean="0">
              <a:solidFill>
                <a:srgbClr val="0000FF"/>
              </a:solidFill>
              <a:latin typeface="方正大黑简体" pitchFamily="2" charset="-122"/>
              <a:ea typeface="方正大黑简体" pitchFamily="2" charset="-122"/>
            </a:endParaRPr>
          </a:p>
          <a:p>
            <a:pPr>
              <a:lnSpc>
                <a:spcPct val="150000"/>
              </a:lnSpc>
              <a:buClr>
                <a:srgbClr val="0000FF"/>
              </a:buClr>
              <a:buFont typeface="Wingdings" pitchFamily="2" charset="2"/>
              <a:buChar char="p"/>
              <a:defRPr/>
            </a:pPr>
            <a:r>
              <a:rPr lang="zh-CN" altLang="en-US" sz="2800" dirty="0" smtClean="0">
                <a:solidFill>
                  <a:srgbClr val="FF0000"/>
                </a:solidFill>
                <a:latin typeface="方正大黑简体" pitchFamily="2" charset="-122"/>
                <a:ea typeface="方正大黑简体" pitchFamily="2" charset="-122"/>
                <a:sym typeface="Wingdings" pitchFamily="2" charset="2"/>
              </a:rPr>
              <a:t> 思考：</a:t>
            </a:r>
            <a:r>
              <a:rPr lang="zh-CN" altLang="en-US" sz="2800" dirty="0" smtClean="0">
                <a:solidFill>
                  <a:srgbClr val="0000FF"/>
                </a:solidFill>
                <a:latin typeface="方正大黑简体" pitchFamily="2" charset="-122"/>
                <a:ea typeface="方正大黑简体" pitchFamily="2" charset="-122"/>
                <a:sym typeface="Wingdings" pitchFamily="2" charset="2"/>
              </a:rPr>
              <a:t>为什么要采用自适应均衡？</a:t>
            </a:r>
            <a:r>
              <a:rPr lang="en-US" altLang="zh-CN" sz="2800" dirty="0" smtClean="0">
                <a:solidFill>
                  <a:srgbClr val="0000FF"/>
                </a:solidFill>
                <a:latin typeface="方正大黑简体" pitchFamily="2" charset="-122"/>
                <a:ea typeface="方正大黑简体" pitchFamily="2" charset="-122"/>
                <a:sym typeface="Wingdings" pitchFamily="2" charset="2"/>
              </a:rPr>
              <a:t> </a:t>
            </a:r>
          </a:p>
          <a:p>
            <a:pPr lvl="1">
              <a:lnSpc>
                <a:spcPct val="150000"/>
              </a:lnSpc>
              <a:buClr>
                <a:srgbClr val="FF0000"/>
              </a:buClr>
              <a:buFont typeface="Wingdings" pitchFamily="2" charset="2"/>
              <a:buChar char="ü"/>
              <a:defRPr/>
            </a:pPr>
            <a:r>
              <a:rPr lang="zh-CN" altLang="en-US" sz="2400" dirty="0" smtClean="0">
                <a:solidFill>
                  <a:srgbClr val="0000FF"/>
                </a:solidFill>
                <a:latin typeface="方正大黑简体" pitchFamily="2" charset="-122"/>
                <a:ea typeface="方正大黑简体" pitchFamily="2" charset="-122"/>
                <a:sym typeface="Wingdings" pitchFamily="2" charset="2"/>
              </a:rPr>
              <a:t>由于移动无线信道的时变特性，要求均衡器能够实时跟踪信道的变化  </a:t>
            </a:r>
            <a:r>
              <a:rPr lang="en-US" altLang="zh-CN" sz="2400" dirty="0" smtClean="0">
                <a:solidFill>
                  <a:srgbClr val="0000FF"/>
                </a:solidFill>
                <a:latin typeface="方正大黑简体" pitchFamily="2" charset="-122"/>
                <a:ea typeface="方正大黑简体" pitchFamily="2" charset="-122"/>
                <a:sym typeface="Wingdings" pitchFamily="2" charset="2"/>
              </a:rPr>
              <a:t>  </a:t>
            </a:r>
            <a:r>
              <a:rPr lang="zh-CN" altLang="en-US" sz="2400" dirty="0" smtClean="0">
                <a:solidFill>
                  <a:srgbClr val="0000FF"/>
                </a:solidFill>
                <a:latin typeface="方正大黑简体" pitchFamily="2" charset="-122"/>
                <a:ea typeface="方正大黑简体" pitchFamily="2" charset="-122"/>
                <a:sym typeface="Wingdings" pitchFamily="2" charset="2"/>
              </a:rPr>
              <a:t>自适应均衡器（</a:t>
            </a:r>
            <a:r>
              <a:rPr lang="en-US" altLang="zh-CN" sz="2400" dirty="0" smtClean="0">
                <a:solidFill>
                  <a:srgbClr val="0000FF"/>
                </a:solidFill>
                <a:latin typeface="方正大黑简体" pitchFamily="2" charset="-122"/>
                <a:ea typeface="方正大黑简体" pitchFamily="2" charset="-122"/>
                <a:sym typeface="Wingdings" pitchFamily="2" charset="2"/>
              </a:rPr>
              <a:t>Adaptive Equalizer</a:t>
            </a:r>
            <a:r>
              <a:rPr lang="zh-CN" altLang="en-US" sz="2400" dirty="0" smtClean="0">
                <a:solidFill>
                  <a:srgbClr val="0000FF"/>
                </a:solidFill>
                <a:latin typeface="方正大黑简体" pitchFamily="2" charset="-122"/>
                <a:ea typeface="方正大黑简体" pitchFamily="2" charset="-122"/>
                <a:sym typeface="Wingdings" pitchFamily="2" charset="2"/>
              </a:rPr>
              <a:t>）。</a:t>
            </a:r>
            <a:r>
              <a:rPr lang="en-US" altLang="zh-CN" sz="2400" dirty="0" smtClean="0">
                <a:latin typeface="方正大黑简体" pitchFamily="2" charset="-122"/>
                <a:ea typeface="方正大黑简体" pitchFamily="2" charset="-122"/>
                <a:sym typeface="Wingdings" pitchFamily="2" charset="2"/>
              </a:rPr>
              <a:t> </a:t>
            </a:r>
            <a:endParaRPr lang="zh-CN" altLang="en-US" sz="2400" dirty="0">
              <a:latin typeface="方正大黑简体" pitchFamily="2" charset="-122"/>
              <a:ea typeface="方正大黑简体" pitchFamily="2" charset="-122"/>
            </a:endParaRPr>
          </a:p>
        </p:txBody>
      </p:sp>
      <p:sp>
        <p:nvSpPr>
          <p:cNvPr id="6" name="Rectangle 2"/>
          <p:cNvSpPr>
            <a:spLocks noGrp="1" noChangeArrowheads="1"/>
          </p:cNvSpPr>
          <p:nvPr>
            <p:ph type="title"/>
          </p:nvPr>
        </p:nvSpPr>
        <p:spPr>
          <a:xfrm>
            <a:off x="1000100" y="252968"/>
            <a:ext cx="7315200" cy="914400"/>
          </a:xfrm>
        </p:spPr>
        <p:txBody>
          <a:bodyPr vert="horz" lIns="91440" tIns="45720" rIns="91440" bIns="45720" rtlCol="0" anchor="ctr">
            <a:noAutofit/>
          </a:bodyPr>
          <a:lstStyle/>
          <a:p>
            <a:pPr>
              <a:defRPr/>
            </a:pPr>
            <a:r>
              <a:rPr lang="zh-CN" altLang="en-US" sz="3600" dirty="0" smtClean="0">
                <a:solidFill>
                  <a:schemeClr val="bg1"/>
                </a:solidFill>
                <a:latin typeface="方正兰亭粗黑简体" pitchFamily="2" charset="-122"/>
                <a:ea typeface="方正兰亭粗黑简体" pitchFamily="2" charset="-122"/>
                <a:cs typeface="+mn-cs"/>
              </a:rPr>
              <a:t>一、自适应均衡原理</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0484">
                                            <p:txEl>
                                              <p:pRg st="2" end="2"/>
                                            </p:txEl>
                                          </p:spTgt>
                                        </p:tgtEl>
                                        <p:attrNameLst>
                                          <p:attrName>style.visibility</p:attrName>
                                        </p:attrNameLst>
                                      </p:cBhvr>
                                      <p:to>
                                        <p:strVal val="visible"/>
                                      </p:to>
                                    </p:set>
                                    <p:animEffect transition="in" filter="blinds(horizontal)">
                                      <p:cBhvr>
                                        <p:cTn id="7" dur="500"/>
                                        <p:tgtEl>
                                          <p:spTgt spid="20484">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0484">
                                            <p:txEl>
                                              <p:pRg st="3" end="3"/>
                                            </p:txEl>
                                          </p:spTgt>
                                        </p:tgtEl>
                                        <p:attrNameLst>
                                          <p:attrName>style.visibility</p:attrName>
                                        </p:attrNameLst>
                                      </p:cBhvr>
                                      <p:to>
                                        <p:strVal val="visible"/>
                                      </p:to>
                                    </p:set>
                                    <p:animEffect transition="in" filter="blinds(horizontal)">
                                      <p:cBhvr>
                                        <p:cTn id="12" dur="500"/>
                                        <p:tgtEl>
                                          <p:spTgt spid="2048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Rectangle 3"/>
          <p:cNvSpPr>
            <a:spLocks noGrp="1" noChangeArrowheads="1"/>
          </p:cNvSpPr>
          <p:nvPr>
            <p:ph type="body" idx="1"/>
          </p:nvPr>
        </p:nvSpPr>
        <p:spPr>
          <a:xfrm>
            <a:off x="571500" y="1357313"/>
            <a:ext cx="7929563" cy="4786312"/>
          </a:xfrm>
        </p:spPr>
        <p:txBody>
          <a:bodyPr>
            <a:normAutofit/>
          </a:bodyPr>
          <a:lstStyle/>
          <a:p>
            <a:pPr algn="just">
              <a:lnSpc>
                <a:spcPct val="150000"/>
              </a:lnSpc>
              <a:buClr>
                <a:schemeClr val="accent1">
                  <a:lumMod val="75000"/>
                </a:schemeClr>
              </a:buClr>
              <a:buNone/>
              <a:defRPr/>
            </a:pPr>
            <a:r>
              <a:rPr lang="en-US" altLang="zh-CN" sz="2800" dirty="0" smtClean="0">
                <a:solidFill>
                  <a:srgbClr val="000099"/>
                </a:solidFill>
                <a:latin typeface="方正大黑简体" pitchFamily="2" charset="-122"/>
                <a:ea typeface="方正大黑简体" pitchFamily="2" charset="-122"/>
              </a:rPr>
              <a:t>2</a:t>
            </a:r>
            <a:r>
              <a:rPr lang="zh-CN" altLang="en-US" sz="2800" dirty="0" smtClean="0">
                <a:solidFill>
                  <a:srgbClr val="000099"/>
                </a:solidFill>
                <a:latin typeface="方正大黑简体" pitchFamily="2" charset="-122"/>
                <a:ea typeface="方正大黑简体" pitchFamily="2" charset="-122"/>
              </a:rPr>
              <a:t>、均衡的定义</a:t>
            </a:r>
            <a:endParaRPr lang="en-US" altLang="zh-CN" sz="2800" dirty="0" smtClean="0">
              <a:solidFill>
                <a:srgbClr val="000099"/>
              </a:solidFill>
              <a:latin typeface="方正大黑简体" pitchFamily="2" charset="-122"/>
              <a:ea typeface="方正大黑简体" pitchFamily="2" charset="-122"/>
            </a:endParaRPr>
          </a:p>
          <a:p>
            <a:pPr algn="just">
              <a:lnSpc>
                <a:spcPct val="150000"/>
              </a:lnSpc>
              <a:buClr>
                <a:srgbClr val="0000FF"/>
              </a:buClr>
              <a:buFont typeface="Wingdings" pitchFamily="2" charset="2"/>
              <a:buChar char="p"/>
              <a:defRPr/>
            </a:pPr>
            <a:r>
              <a:rPr lang="zh-CN" altLang="en-US" sz="2800" dirty="0" smtClean="0">
                <a:solidFill>
                  <a:srgbClr val="0000FF"/>
                </a:solidFill>
                <a:latin typeface="方正大黑简体" pitchFamily="2" charset="-122"/>
                <a:ea typeface="方正大黑简体" pitchFamily="2" charset="-122"/>
              </a:rPr>
              <a:t> </a:t>
            </a:r>
            <a:r>
              <a:rPr lang="zh-CN" altLang="en-US" sz="2800" dirty="0" smtClean="0">
                <a:solidFill>
                  <a:srgbClr val="FF0000"/>
                </a:solidFill>
                <a:latin typeface="方正大黑简体" pitchFamily="2" charset="-122"/>
                <a:ea typeface="方正大黑简体" pitchFamily="2" charset="-122"/>
              </a:rPr>
              <a:t>出发点：</a:t>
            </a:r>
            <a:endParaRPr lang="en-US" altLang="zh-CN" sz="2800" dirty="0" smtClean="0">
              <a:solidFill>
                <a:srgbClr val="FF0000"/>
              </a:solidFill>
              <a:latin typeface="方正大黑简体" pitchFamily="2" charset="-122"/>
              <a:ea typeface="方正大黑简体" pitchFamily="2" charset="-122"/>
            </a:endParaRPr>
          </a:p>
          <a:p>
            <a:pPr algn="just">
              <a:lnSpc>
                <a:spcPct val="150000"/>
              </a:lnSpc>
              <a:buClr>
                <a:srgbClr val="0000FF"/>
              </a:buClr>
              <a:buFont typeface="Wingdings" pitchFamily="2" charset="2"/>
              <a:buChar char="p"/>
              <a:defRPr/>
            </a:pPr>
            <a:endParaRPr lang="en-US" altLang="zh-CN" sz="2800" dirty="0" smtClean="0">
              <a:solidFill>
                <a:srgbClr val="0000FF"/>
              </a:solidFill>
              <a:latin typeface="方正大黑简体" pitchFamily="2" charset="-122"/>
              <a:ea typeface="方正大黑简体" pitchFamily="2" charset="-122"/>
            </a:endParaRPr>
          </a:p>
          <a:p>
            <a:pPr algn="just">
              <a:lnSpc>
                <a:spcPct val="150000"/>
              </a:lnSpc>
              <a:buClr>
                <a:srgbClr val="0000FF"/>
              </a:buClr>
              <a:buFont typeface="Wingdings" pitchFamily="2" charset="2"/>
              <a:buChar char="p"/>
              <a:defRPr/>
            </a:pPr>
            <a:r>
              <a:rPr lang="zh-CN" altLang="en-US" sz="2800" dirty="0" smtClean="0">
                <a:solidFill>
                  <a:srgbClr val="0000FF"/>
                </a:solidFill>
                <a:latin typeface="方正大黑简体" pitchFamily="2" charset="-122"/>
                <a:ea typeface="方正大黑简体" pitchFamily="2" charset="-122"/>
              </a:rPr>
              <a:t> </a:t>
            </a:r>
            <a:r>
              <a:rPr lang="zh-CN" altLang="en-US" sz="2800" dirty="0" smtClean="0">
                <a:solidFill>
                  <a:srgbClr val="FF0000"/>
                </a:solidFill>
                <a:latin typeface="方正大黑简体" pitchFamily="2" charset="-122"/>
                <a:ea typeface="方正大黑简体" pitchFamily="2" charset="-122"/>
              </a:rPr>
              <a:t>方法：</a:t>
            </a:r>
            <a:endParaRPr lang="en-US" altLang="zh-CN" sz="2800" dirty="0" smtClean="0">
              <a:solidFill>
                <a:srgbClr val="FF0000"/>
              </a:solidFill>
              <a:latin typeface="方正大黑简体" pitchFamily="2" charset="-122"/>
              <a:ea typeface="方正大黑简体" pitchFamily="2" charset="-122"/>
            </a:endParaRPr>
          </a:p>
          <a:p>
            <a:pPr algn="just">
              <a:lnSpc>
                <a:spcPct val="150000"/>
              </a:lnSpc>
              <a:buClr>
                <a:srgbClr val="0000FF"/>
              </a:buClr>
              <a:buFont typeface="Wingdings" pitchFamily="2" charset="2"/>
              <a:buChar char="p"/>
              <a:defRPr/>
            </a:pPr>
            <a:endParaRPr lang="en-US" altLang="zh-CN" sz="2800" dirty="0">
              <a:solidFill>
                <a:srgbClr val="FF0000"/>
              </a:solidFill>
              <a:latin typeface="方正大黑简体" pitchFamily="2" charset="-122"/>
              <a:ea typeface="方正大黑简体" pitchFamily="2" charset="-122"/>
            </a:endParaRPr>
          </a:p>
          <a:p>
            <a:pPr algn="just">
              <a:lnSpc>
                <a:spcPct val="150000"/>
              </a:lnSpc>
              <a:buClr>
                <a:srgbClr val="0000FF"/>
              </a:buClr>
              <a:buFont typeface="Wingdings" pitchFamily="2" charset="2"/>
              <a:buChar char="p"/>
              <a:defRPr/>
            </a:pPr>
            <a:r>
              <a:rPr lang="zh-CN" altLang="en-US" sz="2800" dirty="0" smtClean="0">
                <a:solidFill>
                  <a:srgbClr val="FF0000"/>
                </a:solidFill>
                <a:latin typeface="方正大黑简体" pitchFamily="2" charset="-122"/>
                <a:ea typeface="方正大黑简体" pitchFamily="2" charset="-122"/>
              </a:rPr>
              <a:t> 目标：</a:t>
            </a:r>
            <a:endParaRPr lang="zh-CN" altLang="en-US" sz="2800" dirty="0">
              <a:latin typeface="方正大黑简体" pitchFamily="2" charset="-122"/>
              <a:ea typeface="方正大黑简体" pitchFamily="2" charset="-122"/>
            </a:endParaRPr>
          </a:p>
        </p:txBody>
      </p:sp>
      <p:sp>
        <p:nvSpPr>
          <p:cNvPr id="6" name="Rectangle 2"/>
          <p:cNvSpPr>
            <a:spLocks noGrp="1" noChangeArrowheads="1"/>
          </p:cNvSpPr>
          <p:nvPr>
            <p:ph type="title"/>
          </p:nvPr>
        </p:nvSpPr>
        <p:spPr>
          <a:xfrm>
            <a:off x="928662" y="252968"/>
            <a:ext cx="7315200" cy="914400"/>
          </a:xfrm>
        </p:spPr>
        <p:txBody>
          <a:bodyPr vert="horz" lIns="91440" tIns="45720" rIns="91440" bIns="45720" rtlCol="0" anchor="ctr">
            <a:noAutofit/>
          </a:bodyPr>
          <a:lstStyle/>
          <a:p>
            <a:pPr>
              <a:defRPr/>
            </a:pPr>
            <a:r>
              <a:rPr lang="zh-CN" altLang="en-US" sz="3600" dirty="0" smtClean="0">
                <a:solidFill>
                  <a:schemeClr val="bg1"/>
                </a:solidFill>
                <a:latin typeface="方正兰亭粗黑简体" pitchFamily="2" charset="-122"/>
                <a:ea typeface="方正兰亭粗黑简体" pitchFamily="2" charset="-122"/>
                <a:cs typeface="+mn-cs"/>
              </a:rPr>
              <a:t>一、自适应均衡原理</a:t>
            </a:r>
          </a:p>
        </p:txBody>
      </p:sp>
      <p:sp>
        <p:nvSpPr>
          <p:cNvPr id="2" name="矩形 1"/>
          <p:cNvSpPr/>
          <p:nvPr/>
        </p:nvSpPr>
        <p:spPr>
          <a:xfrm>
            <a:off x="2411760" y="2060848"/>
            <a:ext cx="6318448" cy="1384995"/>
          </a:xfrm>
          <a:prstGeom prst="rect">
            <a:avLst/>
          </a:prstGeom>
        </p:spPr>
        <p:txBody>
          <a:bodyPr wrap="square">
            <a:spAutoFit/>
          </a:bodyPr>
          <a:lstStyle/>
          <a:p>
            <a:pPr>
              <a:lnSpc>
                <a:spcPct val="150000"/>
              </a:lnSpc>
            </a:pPr>
            <a:r>
              <a:rPr lang="zh-CN" altLang="en-US" sz="2800" dirty="0">
                <a:solidFill>
                  <a:srgbClr val="0000FF"/>
                </a:solidFill>
                <a:latin typeface="方正大黑简体" pitchFamily="2" charset="-122"/>
                <a:ea typeface="方正大黑简体" pitchFamily="2" charset="-122"/>
              </a:rPr>
              <a:t>对移动信道特性进行均衡，矫正信道传输函数使其</a:t>
            </a:r>
            <a:r>
              <a:rPr lang="zh-CN" altLang="en-US" sz="2800" b="1" dirty="0">
                <a:solidFill>
                  <a:srgbClr val="0000FF"/>
                </a:solidFill>
                <a:latin typeface="方正大黑简体" pitchFamily="2" charset="-122"/>
                <a:ea typeface="方正大黑简体" pitchFamily="2" charset="-122"/>
              </a:rPr>
              <a:t>满足无</a:t>
            </a:r>
            <a:r>
              <a:rPr lang="zh-CN" altLang="en-US" sz="2800" b="1" dirty="0" smtClean="0">
                <a:solidFill>
                  <a:srgbClr val="0000FF"/>
                </a:solidFill>
                <a:latin typeface="方正大黑简体" pitchFamily="2" charset="-122"/>
                <a:ea typeface="方正大黑简体" pitchFamily="2" charset="-122"/>
              </a:rPr>
              <a:t>失真</a:t>
            </a:r>
            <a:r>
              <a:rPr lang="zh-CN" altLang="en-US" sz="2800" b="1" dirty="0">
                <a:solidFill>
                  <a:srgbClr val="0000FF"/>
                </a:solidFill>
                <a:latin typeface="方正大黑简体" pitchFamily="2" charset="-122"/>
                <a:ea typeface="方正大黑简体" pitchFamily="2" charset="-122"/>
              </a:rPr>
              <a:t>传输条件</a:t>
            </a:r>
            <a:r>
              <a:rPr lang="zh-CN" altLang="en-US" sz="2800" dirty="0">
                <a:solidFill>
                  <a:srgbClr val="0000FF"/>
                </a:solidFill>
                <a:latin typeface="方正大黑简体" pitchFamily="2" charset="-122"/>
                <a:ea typeface="方正大黑简体" pitchFamily="2" charset="-122"/>
              </a:rPr>
              <a:t>。 </a:t>
            </a:r>
            <a:endParaRPr lang="zh-CN" altLang="en-US" sz="2800" dirty="0"/>
          </a:p>
        </p:txBody>
      </p:sp>
      <p:sp>
        <p:nvSpPr>
          <p:cNvPr id="3" name="矩形 2"/>
          <p:cNvSpPr/>
          <p:nvPr/>
        </p:nvSpPr>
        <p:spPr>
          <a:xfrm>
            <a:off x="2358008" y="3573016"/>
            <a:ext cx="6372200" cy="1384995"/>
          </a:xfrm>
          <a:prstGeom prst="rect">
            <a:avLst/>
          </a:prstGeom>
        </p:spPr>
        <p:txBody>
          <a:bodyPr wrap="square">
            <a:spAutoFit/>
          </a:bodyPr>
          <a:lstStyle/>
          <a:p>
            <a:pPr algn="just">
              <a:lnSpc>
                <a:spcPct val="150000"/>
              </a:lnSpc>
              <a:buClr>
                <a:srgbClr val="0000FF"/>
              </a:buClr>
              <a:defRPr/>
            </a:pPr>
            <a:r>
              <a:rPr lang="zh-CN" altLang="en-US" sz="2800" dirty="0">
                <a:solidFill>
                  <a:srgbClr val="0000FF"/>
                </a:solidFill>
                <a:latin typeface="方正大黑简体" pitchFamily="2" charset="-122"/>
                <a:ea typeface="方正大黑简体" pitchFamily="2" charset="-122"/>
              </a:rPr>
              <a:t>接收端产生与信道相反的特性，抵消时变多径传播特性引起的码间串扰。</a:t>
            </a:r>
          </a:p>
        </p:txBody>
      </p:sp>
      <p:sp>
        <p:nvSpPr>
          <p:cNvPr id="4" name="矩形 3"/>
          <p:cNvSpPr/>
          <p:nvPr/>
        </p:nvSpPr>
        <p:spPr>
          <a:xfrm>
            <a:off x="2388522" y="5013176"/>
            <a:ext cx="6647974" cy="738664"/>
          </a:xfrm>
          <a:prstGeom prst="rect">
            <a:avLst/>
          </a:prstGeom>
        </p:spPr>
        <p:txBody>
          <a:bodyPr wrap="none">
            <a:spAutoFit/>
          </a:bodyPr>
          <a:lstStyle/>
          <a:p>
            <a:pPr algn="just">
              <a:lnSpc>
                <a:spcPct val="150000"/>
              </a:lnSpc>
              <a:buClr>
                <a:srgbClr val="0000FF"/>
              </a:buClr>
              <a:defRPr/>
            </a:pPr>
            <a:r>
              <a:rPr lang="zh-CN" altLang="en-US" sz="2800" dirty="0">
                <a:solidFill>
                  <a:srgbClr val="0000FF"/>
                </a:solidFill>
                <a:latin typeface="方正大黑简体" pitchFamily="2" charset="-122"/>
                <a:ea typeface="方正大黑简体" pitchFamily="2" charset="-122"/>
              </a:rPr>
              <a:t>消除信道的选择性（如频、时、空等）。</a:t>
            </a:r>
            <a:endParaRPr lang="zh-CN" altLang="en-US" sz="2800" dirty="0">
              <a:latin typeface="方正大黑简体" pitchFamily="2" charset="-122"/>
              <a:ea typeface="方正大黑简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484">
                                            <p:txEl>
                                              <p:pRg st="1" end="1"/>
                                            </p:txEl>
                                          </p:spTgt>
                                        </p:tgtEl>
                                        <p:attrNameLst>
                                          <p:attrName>style.visibility</p:attrName>
                                        </p:attrNameLst>
                                      </p:cBhvr>
                                      <p:to>
                                        <p:strVal val="visible"/>
                                      </p:to>
                                    </p:set>
                                    <p:anim calcmode="lin" valueType="num">
                                      <p:cBhvr additive="base">
                                        <p:cTn id="7" dur="500" fill="hold"/>
                                        <p:tgtEl>
                                          <p:spTgt spid="20484">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0484">
                                            <p:txEl>
                                              <p:pRg st="1" end="1"/>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16" presetClass="entr" presetSubtype="21" fill="hold" nodeType="afterEffect">
                                  <p:stCondLst>
                                    <p:cond delay="0"/>
                                  </p:stCondLst>
                                  <p:childTnLst>
                                    <p:set>
                                      <p:cBhvr>
                                        <p:cTn id="11" dur="1" fill="hold">
                                          <p:stCondLst>
                                            <p:cond delay="0"/>
                                          </p:stCondLst>
                                        </p:cTn>
                                        <p:tgtEl>
                                          <p:spTgt spid="20484">
                                            <p:txEl>
                                              <p:pRg st="3" end="3"/>
                                            </p:txEl>
                                          </p:spTgt>
                                        </p:tgtEl>
                                        <p:attrNameLst>
                                          <p:attrName>style.visibility</p:attrName>
                                        </p:attrNameLst>
                                      </p:cBhvr>
                                      <p:to>
                                        <p:strVal val="visible"/>
                                      </p:to>
                                    </p:set>
                                    <p:animEffect transition="in" filter="barn(inVertical)">
                                      <p:cBhvr>
                                        <p:cTn id="12" dur="500"/>
                                        <p:tgtEl>
                                          <p:spTgt spid="20484">
                                            <p:txEl>
                                              <p:pRg st="3" end="3"/>
                                            </p:txEl>
                                          </p:spTgt>
                                        </p:tgtEl>
                                      </p:cBhvr>
                                    </p:animEffect>
                                  </p:childTnLst>
                                </p:cTn>
                              </p:par>
                            </p:childTnLst>
                          </p:cTn>
                        </p:par>
                        <p:par>
                          <p:cTn id="13" fill="hold">
                            <p:stCondLst>
                              <p:cond delay="1000"/>
                            </p:stCondLst>
                            <p:childTnLst>
                              <p:par>
                                <p:cTn id="14" presetID="16" presetClass="entr" presetSubtype="21" fill="hold" nodeType="afterEffect">
                                  <p:stCondLst>
                                    <p:cond delay="0"/>
                                  </p:stCondLst>
                                  <p:childTnLst>
                                    <p:set>
                                      <p:cBhvr>
                                        <p:cTn id="15" dur="1" fill="hold">
                                          <p:stCondLst>
                                            <p:cond delay="0"/>
                                          </p:stCondLst>
                                        </p:cTn>
                                        <p:tgtEl>
                                          <p:spTgt spid="20484">
                                            <p:txEl>
                                              <p:pRg st="5" end="5"/>
                                            </p:txEl>
                                          </p:spTgt>
                                        </p:tgtEl>
                                        <p:attrNameLst>
                                          <p:attrName>style.visibility</p:attrName>
                                        </p:attrNameLst>
                                      </p:cBhvr>
                                      <p:to>
                                        <p:strVal val="visible"/>
                                      </p:to>
                                    </p:set>
                                    <p:animEffect transition="in" filter="barn(inVertical)">
                                      <p:cBhvr>
                                        <p:cTn id="16" dur="500"/>
                                        <p:tgtEl>
                                          <p:spTgt spid="20484">
                                            <p:txEl>
                                              <p:pRg st="5" end="5"/>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2">
                                            <p:txEl>
                                              <p:pRg st="0" end="0"/>
                                            </p:txEl>
                                          </p:spTgt>
                                        </p:tgtEl>
                                        <p:attrNameLst>
                                          <p:attrName>style.visibility</p:attrName>
                                        </p:attrNameLst>
                                      </p:cBhvr>
                                      <p:to>
                                        <p:strVal val="visible"/>
                                      </p:to>
                                    </p:set>
                                    <p:anim calcmode="lin" valueType="num">
                                      <p:cBhvr additive="base">
                                        <p:cTn id="21"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nodeType="clickEffect">
                                  <p:stCondLst>
                                    <p:cond delay="0"/>
                                  </p:stCondLst>
                                  <p:childTnLst>
                                    <p:set>
                                      <p:cBhvr>
                                        <p:cTn id="26" dur="1" fill="hold">
                                          <p:stCondLst>
                                            <p:cond delay="0"/>
                                          </p:stCondLst>
                                        </p:cTn>
                                        <p:tgtEl>
                                          <p:spTgt spid="3">
                                            <p:txEl>
                                              <p:pRg st="0" end="0"/>
                                            </p:txEl>
                                          </p:spTgt>
                                        </p:tgtEl>
                                        <p:attrNameLst>
                                          <p:attrName>style.visibility</p:attrName>
                                        </p:attrNameLst>
                                      </p:cBhvr>
                                      <p:to>
                                        <p:strVal val="visible"/>
                                      </p:to>
                                    </p:set>
                                    <p:animEffect transition="in" filter="randombar(horizontal)">
                                      <p:cBhvr>
                                        <p:cTn id="27" dur="500"/>
                                        <p:tgtEl>
                                          <p:spTgt spid="3">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nodeType="clickEffect">
                                  <p:stCondLst>
                                    <p:cond delay="0"/>
                                  </p:stCondLst>
                                  <p:childTnLst>
                                    <p:set>
                                      <p:cBhvr>
                                        <p:cTn id="31" dur="1" fill="hold">
                                          <p:stCondLst>
                                            <p:cond delay="0"/>
                                          </p:stCondLst>
                                        </p:cTn>
                                        <p:tgtEl>
                                          <p:spTgt spid="4">
                                            <p:txEl>
                                              <p:pRg st="0" end="0"/>
                                            </p:txEl>
                                          </p:spTgt>
                                        </p:tgtEl>
                                        <p:attrNameLst>
                                          <p:attrName>style.visibility</p:attrName>
                                        </p:attrNameLst>
                                      </p:cBhvr>
                                      <p:to>
                                        <p:strVal val="visible"/>
                                      </p:to>
                                    </p:set>
                                    <p:animEffect transition="in" filter="fade">
                                      <p:cBhvr>
                                        <p:cTn id="32" dur="1000"/>
                                        <p:tgtEl>
                                          <p:spTgt spid="4">
                                            <p:txEl>
                                              <p:pRg st="0" end="0"/>
                                            </p:txEl>
                                          </p:spTgt>
                                        </p:tgtEl>
                                      </p:cBhvr>
                                    </p:animEffect>
                                    <p:anim calcmode="lin" valueType="num">
                                      <p:cBhvr>
                                        <p:cTn id="33"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34"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64257" name="Picture 1"/>
          <p:cNvPicPr>
            <a:picLocks noChangeAspect="1" noChangeArrowheads="1"/>
          </p:cNvPicPr>
          <p:nvPr/>
        </p:nvPicPr>
        <p:blipFill>
          <a:blip r:embed="rId2"/>
          <a:srcRect/>
          <a:stretch>
            <a:fillRect/>
          </a:stretch>
        </p:blipFill>
        <p:spPr bwMode="auto">
          <a:xfrm>
            <a:off x="357158" y="2143115"/>
            <a:ext cx="6215106" cy="4357719"/>
          </a:xfrm>
          <a:prstGeom prst="rect">
            <a:avLst/>
          </a:prstGeom>
          <a:noFill/>
          <a:ln w="9525">
            <a:noFill/>
            <a:miter lim="800000"/>
            <a:headEnd/>
            <a:tailEnd/>
          </a:ln>
          <a:effectLst/>
        </p:spPr>
      </p:pic>
      <p:grpSp>
        <p:nvGrpSpPr>
          <p:cNvPr id="2" name="组合 11"/>
          <p:cNvGrpSpPr>
            <a:grpSpLocks/>
          </p:cNvGrpSpPr>
          <p:nvPr/>
        </p:nvGrpSpPr>
        <p:grpSpPr bwMode="auto">
          <a:xfrm>
            <a:off x="1071538" y="2049009"/>
            <a:ext cx="8001056" cy="4480658"/>
            <a:chOff x="1357267" y="1435756"/>
            <a:chExt cx="8001123" cy="4479886"/>
          </a:xfrm>
        </p:grpSpPr>
        <p:grpSp>
          <p:nvGrpSpPr>
            <p:cNvPr id="3" name="组合 8"/>
            <p:cNvGrpSpPr>
              <a:grpSpLocks/>
            </p:cNvGrpSpPr>
            <p:nvPr/>
          </p:nvGrpSpPr>
          <p:grpSpPr bwMode="auto">
            <a:xfrm>
              <a:off x="5715022" y="1650032"/>
              <a:ext cx="3643368" cy="4265610"/>
              <a:chOff x="5715022" y="1650032"/>
              <a:chExt cx="3643368" cy="4265610"/>
            </a:xfrm>
          </p:grpSpPr>
          <p:sp>
            <p:nvSpPr>
              <p:cNvPr id="6" name="矩形 7"/>
              <p:cNvSpPr>
                <a:spLocks noChangeArrowheads="1"/>
              </p:cNvSpPr>
              <p:nvPr/>
            </p:nvSpPr>
            <p:spPr bwMode="auto">
              <a:xfrm>
                <a:off x="6929494" y="2462984"/>
                <a:ext cx="2428896" cy="3452658"/>
              </a:xfrm>
              <a:prstGeom prst="rect">
                <a:avLst/>
              </a:prstGeom>
              <a:solidFill>
                <a:srgbClr val="00B050"/>
              </a:solidFill>
              <a:ln>
                <a:solidFill>
                  <a:schemeClr val="accent5">
                    <a:lumMod val="75000"/>
                  </a:schemeClr>
                </a:solidFill>
                <a:headEnd/>
                <a:tailEnd/>
              </a:ln>
            </p:spPr>
            <p:style>
              <a:lnRef idx="1">
                <a:schemeClr val="accent6"/>
              </a:lnRef>
              <a:fillRef idx="3">
                <a:schemeClr val="accent6"/>
              </a:fillRef>
              <a:effectRef idx="2">
                <a:schemeClr val="accent6"/>
              </a:effectRef>
              <a:fontRef idx="minor">
                <a:schemeClr val="lt1"/>
              </a:fontRef>
            </p:style>
            <p:txBody>
              <a:bodyPr>
                <a:spAutoFit/>
              </a:bodyPr>
              <a:lstStyle/>
              <a:p>
                <a:pPr>
                  <a:lnSpc>
                    <a:spcPct val="130000"/>
                  </a:lnSpc>
                  <a:spcBef>
                    <a:spcPct val="20000"/>
                  </a:spcBef>
                  <a:buClr>
                    <a:schemeClr val="accent1"/>
                  </a:buClr>
                  <a:buFont typeface="Wingdings" pitchFamily="2" charset="2"/>
                  <a:buNone/>
                  <a:defRPr/>
                </a:pPr>
                <a:r>
                  <a:rPr lang="en-US" altLang="zh-CN" sz="2400" i="1" dirty="0">
                    <a:latin typeface="方正大黑简体" pitchFamily="2" charset="-122"/>
                    <a:ea typeface="方正大黑简体" pitchFamily="2" charset="-122"/>
                  </a:rPr>
                  <a:t>   </a:t>
                </a:r>
                <a:r>
                  <a:rPr lang="en-US" altLang="zh-CN" sz="2400" i="1" dirty="0">
                    <a:latin typeface="方正大黑简体" pitchFamily="2" charset="-122"/>
                    <a:ea typeface="方正大黑简体" pitchFamily="2" charset="-122"/>
                    <a:cs typeface="Times New Roman" pitchFamily="18" charset="0"/>
                  </a:rPr>
                  <a:t>f</a:t>
                </a:r>
                <a:r>
                  <a:rPr lang="en-US" altLang="zh-CN" sz="2400" dirty="0">
                    <a:latin typeface="方正大黑简体" pitchFamily="2" charset="-122"/>
                    <a:ea typeface="方正大黑简体" pitchFamily="2" charset="-122"/>
                    <a:cs typeface="Times New Roman" pitchFamily="18" charset="0"/>
                  </a:rPr>
                  <a:t>(</a:t>
                </a:r>
                <a:r>
                  <a:rPr lang="en-US" altLang="zh-CN" sz="2400" i="1" dirty="0">
                    <a:latin typeface="方正大黑简体" pitchFamily="2" charset="-122"/>
                    <a:ea typeface="方正大黑简体" pitchFamily="2" charset="-122"/>
                    <a:cs typeface="Times New Roman" pitchFamily="18" charset="0"/>
                  </a:rPr>
                  <a:t>t </a:t>
                </a:r>
                <a:r>
                  <a:rPr lang="en-US" altLang="zh-CN" sz="2400" dirty="0">
                    <a:latin typeface="方正大黑简体" pitchFamily="2" charset="-122"/>
                    <a:ea typeface="方正大黑简体" pitchFamily="2" charset="-122"/>
                    <a:cs typeface="Times New Roman" pitchFamily="18" charset="0"/>
                  </a:rPr>
                  <a:t>)</a:t>
                </a:r>
                <a:r>
                  <a:rPr lang="zh-CN" altLang="en-US" sz="2400" dirty="0">
                    <a:latin typeface="方正大黑简体" pitchFamily="2" charset="-122"/>
                    <a:ea typeface="方正大黑简体" pitchFamily="2" charset="-122"/>
                  </a:rPr>
                  <a:t>是等效的基带冲激响应，综合反映了发射机、信道和接收机的射频、中频部分总</a:t>
                </a:r>
                <a:r>
                  <a:rPr lang="zh-CN" altLang="en-US" sz="2400" dirty="0" smtClean="0">
                    <a:latin typeface="方正大黑简体" pitchFamily="2" charset="-122"/>
                    <a:ea typeface="方正大黑简体" pitchFamily="2" charset="-122"/>
                  </a:rPr>
                  <a:t>的冲击响应。</a:t>
                </a:r>
                <a:endParaRPr lang="zh-CN" altLang="en-US" sz="2400" dirty="0">
                  <a:latin typeface="方正大黑简体" pitchFamily="2" charset="-122"/>
                  <a:ea typeface="方正大黑简体" pitchFamily="2" charset="-122"/>
                </a:endParaRPr>
              </a:p>
            </p:txBody>
          </p:sp>
          <p:cxnSp>
            <p:nvCxnSpPr>
              <p:cNvPr id="7" name="直接箭头连接符 6"/>
              <p:cNvCxnSpPr/>
              <p:nvPr/>
            </p:nvCxnSpPr>
            <p:spPr bwMode="auto">
              <a:xfrm>
                <a:off x="5715022" y="1650032"/>
                <a:ext cx="2000259" cy="707936"/>
              </a:xfrm>
              <a:prstGeom prst="straightConnector1">
                <a:avLst/>
              </a:prstGeom>
              <a:ln>
                <a:headEnd type="none" w="med" len="med"/>
                <a:tailEnd type="arrow"/>
              </a:ln>
            </p:spPr>
            <p:style>
              <a:lnRef idx="3">
                <a:schemeClr val="accent6"/>
              </a:lnRef>
              <a:fillRef idx="0">
                <a:schemeClr val="accent6"/>
              </a:fillRef>
              <a:effectRef idx="2">
                <a:schemeClr val="accent6"/>
              </a:effectRef>
              <a:fontRef idx="minor">
                <a:schemeClr val="tx1"/>
              </a:fontRef>
            </p:style>
          </p:cxnSp>
        </p:grpSp>
        <p:sp>
          <p:nvSpPr>
            <p:cNvPr id="27657" name="矩形 9"/>
            <p:cNvSpPr>
              <a:spLocks noChangeArrowheads="1"/>
            </p:cNvSpPr>
            <p:nvPr/>
          </p:nvSpPr>
          <p:spPr bwMode="auto">
            <a:xfrm>
              <a:off x="1357267" y="1435756"/>
              <a:ext cx="5429333" cy="2214195"/>
            </a:xfrm>
            <a:prstGeom prst="rect">
              <a:avLst/>
            </a:prstGeom>
            <a:noFill/>
            <a:ln w="47625" algn="ctr">
              <a:solidFill>
                <a:srgbClr val="FF0000"/>
              </a:solidFill>
              <a:round/>
              <a:headEnd/>
              <a:tailEnd/>
            </a:ln>
          </p:spPr>
          <p:txBody>
            <a:bodyPr/>
            <a:lstStyle/>
            <a:p>
              <a:pPr marL="298450" indent="-298450" defTabSz="696913">
                <a:spcBef>
                  <a:spcPct val="20000"/>
                </a:spcBef>
                <a:buClr>
                  <a:schemeClr val="accent1"/>
                </a:buClr>
                <a:buFont typeface="Wingdings" pitchFamily="2" charset="2"/>
                <a:buChar char="Ø"/>
              </a:pPr>
              <a:endParaRPr lang="zh-CN" altLang="en-US">
                <a:latin typeface="方正大黑简体" pitchFamily="2" charset="-122"/>
                <a:ea typeface="方正大黑简体" pitchFamily="2" charset="-122"/>
              </a:endParaRPr>
            </a:p>
          </p:txBody>
        </p:sp>
      </p:grpSp>
      <p:sp>
        <p:nvSpPr>
          <p:cNvPr id="11" name="矩形 10"/>
          <p:cNvSpPr/>
          <p:nvPr/>
        </p:nvSpPr>
        <p:spPr>
          <a:xfrm>
            <a:off x="500034" y="1236599"/>
            <a:ext cx="8104414" cy="738664"/>
          </a:xfrm>
          <a:prstGeom prst="rect">
            <a:avLst/>
          </a:prstGeom>
        </p:spPr>
        <p:txBody>
          <a:bodyPr wrap="square">
            <a:spAutoFit/>
          </a:bodyPr>
          <a:lstStyle/>
          <a:p>
            <a:pPr algn="just">
              <a:lnSpc>
                <a:spcPct val="150000"/>
              </a:lnSpc>
              <a:buClr>
                <a:schemeClr val="accent1">
                  <a:lumMod val="75000"/>
                </a:schemeClr>
              </a:buClr>
              <a:buNone/>
              <a:defRPr/>
            </a:pPr>
            <a:r>
              <a:rPr lang="en-US" altLang="zh-CN" sz="2800" dirty="0" smtClean="0">
                <a:solidFill>
                  <a:srgbClr val="000099"/>
                </a:solidFill>
                <a:latin typeface="方正大黑简体" pitchFamily="2" charset="-122"/>
                <a:ea typeface="方正大黑简体" pitchFamily="2" charset="-122"/>
              </a:rPr>
              <a:t>3</a:t>
            </a:r>
            <a:r>
              <a:rPr lang="zh-CN" altLang="en-US" sz="2800" dirty="0" smtClean="0">
                <a:solidFill>
                  <a:srgbClr val="000099"/>
                </a:solidFill>
                <a:latin typeface="方正大黑简体" pitchFamily="2" charset="-122"/>
                <a:ea typeface="方正大黑简体" pitchFamily="2" charset="-122"/>
              </a:rPr>
              <a:t>、自适应均衡器的工作原理 </a:t>
            </a:r>
            <a:endParaRPr lang="en-US" altLang="zh-CN" sz="2800" dirty="0" smtClean="0">
              <a:solidFill>
                <a:srgbClr val="000099"/>
              </a:solidFill>
              <a:latin typeface="方正大黑简体" pitchFamily="2" charset="-122"/>
              <a:ea typeface="方正大黑简体" pitchFamily="2" charset="-122"/>
            </a:endParaRPr>
          </a:p>
        </p:txBody>
      </p:sp>
      <p:sp>
        <p:nvSpPr>
          <p:cNvPr id="18" name="Rectangle 2"/>
          <p:cNvSpPr>
            <a:spLocks noGrp="1" noChangeArrowheads="1"/>
          </p:cNvSpPr>
          <p:nvPr>
            <p:ph type="title"/>
          </p:nvPr>
        </p:nvSpPr>
        <p:spPr>
          <a:xfrm>
            <a:off x="928662" y="252968"/>
            <a:ext cx="7315200" cy="914400"/>
          </a:xfrm>
        </p:spPr>
        <p:txBody>
          <a:bodyPr vert="horz" lIns="91440" tIns="45720" rIns="91440" bIns="45720" rtlCol="0" anchor="ctr">
            <a:noAutofit/>
          </a:bodyPr>
          <a:lstStyle/>
          <a:p>
            <a:pPr>
              <a:defRPr/>
            </a:pPr>
            <a:r>
              <a:rPr lang="zh-CN" altLang="en-US" sz="3600" dirty="0" smtClean="0">
                <a:solidFill>
                  <a:schemeClr val="bg1"/>
                </a:solidFill>
                <a:latin typeface="方正兰亭粗黑简体" pitchFamily="2" charset="-122"/>
                <a:ea typeface="方正兰亭粗黑简体" pitchFamily="2" charset="-122"/>
                <a:cs typeface="+mn-cs"/>
              </a:rPr>
              <a:t>一、自适应均衡原理</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3" name="Rectangle 3"/>
          <p:cNvSpPr>
            <a:spLocks noGrp="1" noChangeArrowheads="1"/>
          </p:cNvSpPr>
          <p:nvPr>
            <p:ph type="body" idx="1"/>
          </p:nvPr>
        </p:nvSpPr>
        <p:spPr>
          <a:xfrm>
            <a:off x="764830" y="4619648"/>
            <a:ext cx="7772400" cy="2024062"/>
          </a:xfrm>
        </p:spPr>
        <p:txBody>
          <a:bodyPr>
            <a:normAutofit/>
          </a:bodyPr>
          <a:lstStyle/>
          <a:p>
            <a:pPr eaLnBrk="1" hangingPunct="1">
              <a:lnSpc>
                <a:spcPct val="150000"/>
              </a:lnSpc>
              <a:spcBef>
                <a:spcPts val="0"/>
              </a:spcBef>
              <a:buClr>
                <a:srgbClr val="0000FF"/>
              </a:buClr>
              <a:buFont typeface="Wingdings" pitchFamily="2" charset="2"/>
              <a:buChar char="p"/>
              <a:defRPr/>
            </a:pPr>
            <a:r>
              <a:rPr lang="zh-CN" altLang="en-US" sz="2400" dirty="0" smtClean="0">
                <a:solidFill>
                  <a:srgbClr val="0000FF"/>
                </a:solidFill>
                <a:latin typeface="方正大黑简体" pitchFamily="2" charset="-122"/>
                <a:ea typeface="方正大黑简体" pitchFamily="2" charset="-122"/>
              </a:rPr>
              <a:t>均衡器的输入为：</a:t>
            </a:r>
          </a:p>
          <a:p>
            <a:pPr lvl="1" eaLnBrk="1" hangingPunct="1">
              <a:lnSpc>
                <a:spcPct val="150000"/>
              </a:lnSpc>
              <a:spcBef>
                <a:spcPts val="0"/>
              </a:spcBef>
              <a:buClr>
                <a:srgbClr val="FF0000"/>
              </a:buClr>
              <a:buFont typeface="Wingdings" pitchFamily="2" charset="2"/>
              <a:buChar char="ü"/>
              <a:defRPr/>
            </a:pPr>
            <a:r>
              <a:rPr lang="en-US" altLang="zh-CN" sz="2400" dirty="0" smtClean="0">
                <a:solidFill>
                  <a:srgbClr val="0000FF"/>
                </a:solidFill>
                <a:latin typeface="方正大黑简体" pitchFamily="2" charset="-122"/>
                <a:ea typeface="方正大黑简体" pitchFamily="2" charset="-122"/>
              </a:rPr>
              <a:t> </a:t>
            </a:r>
            <a:r>
              <a:rPr lang="en-US" altLang="zh-CN" sz="2400" i="1" dirty="0" smtClean="0">
                <a:solidFill>
                  <a:srgbClr val="0000FF"/>
                </a:solidFill>
                <a:latin typeface="Times New Roman" panose="02020603050405020304" pitchFamily="18" charset="0"/>
                <a:ea typeface="方正大黑简体" pitchFamily="2" charset="-122"/>
                <a:cs typeface="Times New Roman" panose="02020603050405020304" pitchFamily="18" charset="0"/>
              </a:rPr>
              <a:t>f </a:t>
            </a:r>
            <a:r>
              <a:rPr lang="en-US" altLang="zh-CN" sz="2400" dirty="0" smtClean="0">
                <a:solidFill>
                  <a:srgbClr val="0000FF"/>
                </a:solidFill>
                <a:latin typeface="Times New Roman" panose="02020603050405020304" pitchFamily="18" charset="0"/>
                <a:ea typeface="方正大黑简体" pitchFamily="2" charset="-122"/>
                <a:cs typeface="Times New Roman" panose="02020603050405020304" pitchFamily="18" charset="0"/>
              </a:rPr>
              <a:t>(</a:t>
            </a:r>
            <a:r>
              <a:rPr lang="en-US" altLang="zh-CN" sz="2400" i="1" dirty="0" smtClean="0">
                <a:solidFill>
                  <a:srgbClr val="0000FF"/>
                </a:solidFill>
                <a:latin typeface="Times New Roman" panose="02020603050405020304" pitchFamily="18" charset="0"/>
                <a:ea typeface="方正大黑简体" pitchFamily="2" charset="-122"/>
                <a:cs typeface="Times New Roman" panose="02020603050405020304" pitchFamily="18" charset="0"/>
              </a:rPr>
              <a:t>t</a:t>
            </a:r>
            <a:r>
              <a:rPr lang="en-US" altLang="zh-CN" sz="2400" dirty="0" smtClean="0">
                <a:solidFill>
                  <a:srgbClr val="0000FF"/>
                </a:solidFill>
                <a:latin typeface="Times New Roman" panose="02020603050405020304" pitchFamily="18" charset="0"/>
                <a:ea typeface="方正大黑简体" pitchFamily="2" charset="-122"/>
                <a:cs typeface="Times New Roman" panose="02020603050405020304" pitchFamily="18" charset="0"/>
              </a:rPr>
              <a:t>)</a:t>
            </a:r>
            <a:r>
              <a:rPr lang="zh-CN" altLang="en-US" sz="2400" dirty="0" smtClean="0">
                <a:solidFill>
                  <a:srgbClr val="0000FF"/>
                </a:solidFill>
                <a:latin typeface="方正大黑简体" pitchFamily="2" charset="-122"/>
                <a:ea typeface="方正大黑简体" pitchFamily="2" charset="-122"/>
              </a:rPr>
              <a:t>：等效信道冲激响应</a:t>
            </a:r>
            <a:endParaRPr lang="en-US" altLang="zh-CN" sz="2400" dirty="0" smtClean="0">
              <a:solidFill>
                <a:srgbClr val="0000FF"/>
              </a:solidFill>
              <a:latin typeface="方正大黑简体" pitchFamily="2" charset="-122"/>
              <a:ea typeface="方正大黑简体" pitchFamily="2" charset="-122"/>
            </a:endParaRPr>
          </a:p>
          <a:p>
            <a:pPr lvl="1" eaLnBrk="1" hangingPunct="1">
              <a:lnSpc>
                <a:spcPct val="150000"/>
              </a:lnSpc>
              <a:spcBef>
                <a:spcPts val="0"/>
              </a:spcBef>
              <a:buClr>
                <a:srgbClr val="FF0000"/>
              </a:buClr>
              <a:buFont typeface="Wingdings" pitchFamily="2" charset="2"/>
              <a:buChar char="ü"/>
              <a:defRPr/>
            </a:pPr>
            <a:r>
              <a:rPr lang="en-US" altLang="zh-CN" sz="2400" dirty="0" smtClean="0">
                <a:solidFill>
                  <a:srgbClr val="0000FF"/>
                </a:solidFill>
                <a:latin typeface="方正大黑简体" pitchFamily="2" charset="-122"/>
                <a:ea typeface="方正大黑简体" pitchFamily="2" charset="-122"/>
              </a:rPr>
              <a:t> </a:t>
            </a:r>
            <a:r>
              <a:rPr lang="en-US" altLang="zh-CN" sz="2400" i="1" dirty="0" err="1" smtClean="0">
                <a:solidFill>
                  <a:srgbClr val="0000FF"/>
                </a:solidFill>
                <a:latin typeface="Times New Roman" panose="02020603050405020304" pitchFamily="18" charset="0"/>
                <a:ea typeface="方正大黑简体" pitchFamily="2" charset="-122"/>
                <a:cs typeface="Times New Roman" panose="02020603050405020304" pitchFamily="18" charset="0"/>
              </a:rPr>
              <a:t>n</a:t>
            </a:r>
            <a:r>
              <a:rPr lang="en-US" altLang="zh-CN" sz="2400" i="1" baseline="-25000" dirty="0" err="1" smtClean="0">
                <a:solidFill>
                  <a:srgbClr val="0000FF"/>
                </a:solidFill>
                <a:latin typeface="Times New Roman" panose="02020603050405020304" pitchFamily="18" charset="0"/>
                <a:ea typeface="方正大黑简体" pitchFamily="2" charset="-122"/>
                <a:cs typeface="Times New Roman" panose="02020603050405020304" pitchFamily="18" charset="0"/>
              </a:rPr>
              <a:t>b</a:t>
            </a:r>
            <a:r>
              <a:rPr lang="en-US" altLang="zh-CN" sz="2400" dirty="0" smtClean="0">
                <a:solidFill>
                  <a:srgbClr val="0000FF"/>
                </a:solidFill>
                <a:latin typeface="Times New Roman" panose="02020603050405020304" pitchFamily="18" charset="0"/>
                <a:ea typeface="方正大黑简体" pitchFamily="2" charset="-122"/>
                <a:cs typeface="Times New Roman" panose="02020603050405020304" pitchFamily="18" charset="0"/>
              </a:rPr>
              <a:t>(</a:t>
            </a:r>
            <a:r>
              <a:rPr lang="en-US" altLang="zh-CN" sz="2400" i="1" dirty="0" smtClean="0">
                <a:solidFill>
                  <a:srgbClr val="0000FF"/>
                </a:solidFill>
                <a:latin typeface="Times New Roman" panose="02020603050405020304" pitchFamily="18" charset="0"/>
                <a:ea typeface="方正大黑简体" pitchFamily="2" charset="-122"/>
                <a:cs typeface="Times New Roman" panose="02020603050405020304" pitchFamily="18" charset="0"/>
              </a:rPr>
              <a:t>t</a:t>
            </a:r>
            <a:r>
              <a:rPr lang="en-US" altLang="zh-CN" sz="2400" dirty="0" smtClean="0">
                <a:solidFill>
                  <a:srgbClr val="0000FF"/>
                </a:solidFill>
                <a:latin typeface="Times New Roman" panose="02020603050405020304" pitchFamily="18" charset="0"/>
                <a:ea typeface="方正大黑简体" pitchFamily="2" charset="-122"/>
                <a:cs typeface="Times New Roman" panose="02020603050405020304" pitchFamily="18" charset="0"/>
              </a:rPr>
              <a:t>)</a:t>
            </a:r>
            <a:r>
              <a:rPr lang="zh-CN" altLang="en-US" sz="2400" dirty="0" smtClean="0">
                <a:solidFill>
                  <a:srgbClr val="0000FF"/>
                </a:solidFill>
                <a:latin typeface="方正大黑简体" pitchFamily="2" charset="-122"/>
                <a:ea typeface="方正大黑简体" pitchFamily="2" charset="-122"/>
              </a:rPr>
              <a:t>：均衡器输入端的等效基带噪声</a:t>
            </a:r>
          </a:p>
        </p:txBody>
      </p:sp>
      <p:sp>
        <p:nvSpPr>
          <p:cNvPr id="8" name="Rectangle 2"/>
          <p:cNvSpPr>
            <a:spLocks noGrp="1" noChangeArrowheads="1"/>
          </p:cNvSpPr>
          <p:nvPr>
            <p:ph type="title"/>
          </p:nvPr>
        </p:nvSpPr>
        <p:spPr>
          <a:xfrm>
            <a:off x="928662" y="252968"/>
            <a:ext cx="7315200" cy="914400"/>
          </a:xfrm>
        </p:spPr>
        <p:txBody>
          <a:bodyPr vert="horz" lIns="91440" tIns="45720" rIns="91440" bIns="45720" rtlCol="0" anchor="ctr">
            <a:noAutofit/>
          </a:bodyPr>
          <a:lstStyle/>
          <a:p>
            <a:pPr>
              <a:defRPr/>
            </a:pPr>
            <a:r>
              <a:rPr lang="zh-CN" altLang="en-US" sz="3600" dirty="0" smtClean="0">
                <a:solidFill>
                  <a:schemeClr val="bg1"/>
                </a:solidFill>
                <a:latin typeface="方正兰亭粗黑简体" pitchFamily="2" charset="-122"/>
                <a:ea typeface="方正兰亭粗黑简体" pitchFamily="2" charset="-122"/>
                <a:cs typeface="+mn-cs"/>
              </a:rPr>
              <a:t>一、自适应均衡原理</a:t>
            </a:r>
          </a:p>
        </p:txBody>
      </p:sp>
      <p:sp>
        <p:nvSpPr>
          <p:cNvPr id="9" name="矩形 8"/>
          <p:cNvSpPr/>
          <p:nvPr/>
        </p:nvSpPr>
        <p:spPr>
          <a:xfrm>
            <a:off x="500034" y="1236599"/>
            <a:ext cx="6786562" cy="668901"/>
          </a:xfrm>
          <a:prstGeom prst="rect">
            <a:avLst/>
          </a:prstGeom>
        </p:spPr>
        <p:txBody>
          <a:bodyPr>
            <a:spAutoFit/>
          </a:bodyPr>
          <a:lstStyle/>
          <a:p>
            <a:pPr algn="just">
              <a:lnSpc>
                <a:spcPct val="150000"/>
              </a:lnSpc>
              <a:buClr>
                <a:schemeClr val="accent1">
                  <a:lumMod val="75000"/>
                </a:schemeClr>
              </a:buClr>
              <a:buNone/>
              <a:defRPr/>
            </a:pPr>
            <a:r>
              <a:rPr lang="en-US" altLang="zh-CN" sz="2800" dirty="0" smtClean="0">
                <a:solidFill>
                  <a:srgbClr val="000099"/>
                </a:solidFill>
                <a:latin typeface="方正大黑简体" pitchFamily="2" charset="-122"/>
                <a:ea typeface="方正大黑简体" pitchFamily="2" charset="-122"/>
              </a:rPr>
              <a:t>3</a:t>
            </a:r>
            <a:r>
              <a:rPr lang="zh-CN" altLang="en-US" sz="2800" dirty="0" smtClean="0">
                <a:solidFill>
                  <a:srgbClr val="000099"/>
                </a:solidFill>
                <a:latin typeface="方正大黑简体" pitchFamily="2" charset="-122"/>
                <a:ea typeface="方正大黑简体" pitchFamily="2" charset="-122"/>
              </a:rPr>
              <a:t>、自适应均衡器的工作原理 </a:t>
            </a:r>
            <a:endParaRPr lang="en-US" altLang="zh-CN" sz="2800" dirty="0" smtClean="0">
              <a:solidFill>
                <a:srgbClr val="000099"/>
              </a:solidFill>
              <a:latin typeface="方正大黑简体" pitchFamily="2" charset="-122"/>
              <a:ea typeface="方正大黑简体" pitchFamily="2" charset="-122"/>
            </a:endParaRPr>
          </a:p>
        </p:txBody>
      </p:sp>
      <p:pic>
        <p:nvPicPr>
          <p:cNvPr id="10" name="Picture 5"/>
          <p:cNvPicPr>
            <a:picLocks noChangeAspect="1" noChangeArrowheads="1"/>
          </p:cNvPicPr>
          <p:nvPr/>
        </p:nvPicPr>
        <p:blipFill>
          <a:blip r:embed="rId2"/>
          <a:srcRect/>
          <a:stretch>
            <a:fillRect/>
          </a:stretch>
        </p:blipFill>
        <p:spPr bwMode="auto">
          <a:xfrm>
            <a:off x="1357290" y="1928802"/>
            <a:ext cx="6215106" cy="2681924"/>
          </a:xfrm>
          <a:prstGeom prst="rect">
            <a:avLst/>
          </a:prstGeom>
          <a:noFill/>
          <a:ln w="9525">
            <a:noFill/>
            <a:miter lim="800000"/>
            <a:headEnd/>
            <a:tailEnd/>
          </a:ln>
          <a:effectLst/>
        </p:spPr>
      </p:pic>
      <p:pic>
        <p:nvPicPr>
          <p:cNvPr id="2" name="图片 1"/>
          <p:cNvPicPr>
            <a:picLocks noChangeAspect="1"/>
          </p:cNvPicPr>
          <p:nvPr/>
        </p:nvPicPr>
        <p:blipFill>
          <a:blip r:embed="rId3"/>
          <a:stretch>
            <a:fillRect/>
          </a:stretch>
        </p:blipFill>
        <p:spPr>
          <a:xfrm>
            <a:off x="3563888" y="4725144"/>
            <a:ext cx="3456384" cy="43204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2053">
                                            <p:txEl>
                                              <p:pRg st="1" end="1"/>
                                            </p:txEl>
                                          </p:spTgt>
                                        </p:tgtEl>
                                        <p:attrNameLst>
                                          <p:attrName>style.visibility</p:attrName>
                                        </p:attrNameLst>
                                      </p:cBhvr>
                                      <p:to>
                                        <p:strVal val="visible"/>
                                      </p:to>
                                    </p:set>
                                    <p:animEffect transition="in" filter="randombar(horizontal)">
                                      <p:cBhvr>
                                        <p:cTn id="17" dur="500"/>
                                        <p:tgtEl>
                                          <p:spTgt spid="2053">
                                            <p:txEl>
                                              <p:pRg st="1" end="1"/>
                                            </p:txEl>
                                          </p:spTgt>
                                        </p:tgtEl>
                                      </p:cBhvr>
                                    </p:animEffect>
                                  </p:childTnLst>
                                </p:cTn>
                              </p:par>
                              <p:par>
                                <p:cTn id="18" presetID="14" presetClass="entr" presetSubtype="10" fill="hold" nodeType="withEffect">
                                  <p:stCondLst>
                                    <p:cond delay="0"/>
                                  </p:stCondLst>
                                  <p:childTnLst>
                                    <p:set>
                                      <p:cBhvr>
                                        <p:cTn id="19" dur="1" fill="hold">
                                          <p:stCondLst>
                                            <p:cond delay="0"/>
                                          </p:stCondLst>
                                        </p:cTn>
                                        <p:tgtEl>
                                          <p:spTgt spid="2053">
                                            <p:txEl>
                                              <p:pRg st="2" end="2"/>
                                            </p:txEl>
                                          </p:spTgt>
                                        </p:tgtEl>
                                        <p:attrNameLst>
                                          <p:attrName>style.visibility</p:attrName>
                                        </p:attrNameLst>
                                      </p:cBhvr>
                                      <p:to>
                                        <p:strVal val="visible"/>
                                      </p:to>
                                    </p:set>
                                    <p:animEffect transition="in" filter="randombar(horizontal)">
                                      <p:cBhvr>
                                        <p:cTn id="20" dur="500"/>
                                        <p:tgtEl>
                                          <p:spTgt spid="205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8" name="Rectangle 3"/>
          <p:cNvSpPr>
            <a:spLocks noGrp="1" noChangeArrowheads="1"/>
          </p:cNvSpPr>
          <p:nvPr>
            <p:ph type="body" idx="1"/>
          </p:nvPr>
        </p:nvSpPr>
        <p:spPr>
          <a:xfrm>
            <a:off x="685800" y="4331597"/>
            <a:ext cx="7772400" cy="1357322"/>
          </a:xfrm>
        </p:spPr>
        <p:txBody>
          <a:bodyPr/>
          <a:lstStyle/>
          <a:p>
            <a:pPr eaLnBrk="1" hangingPunct="1">
              <a:lnSpc>
                <a:spcPct val="110000"/>
              </a:lnSpc>
              <a:buClr>
                <a:srgbClr val="0000FF"/>
              </a:buClr>
              <a:buFont typeface="Wingdings" pitchFamily="2" charset="2"/>
              <a:buChar char="p"/>
              <a:defRPr/>
            </a:pPr>
            <a:r>
              <a:rPr lang="zh-CN" altLang="en-US" sz="2800" dirty="0" smtClean="0">
                <a:solidFill>
                  <a:srgbClr val="0000FF"/>
                </a:solidFill>
                <a:latin typeface="方正大黑简体" pitchFamily="2" charset="-122"/>
                <a:ea typeface="方正大黑简体" pitchFamily="2" charset="-122"/>
              </a:rPr>
              <a:t> 均衡器的输出为：</a:t>
            </a:r>
          </a:p>
          <a:p>
            <a:pPr eaLnBrk="1" hangingPunct="1">
              <a:lnSpc>
                <a:spcPct val="110000"/>
              </a:lnSpc>
              <a:defRPr/>
            </a:pPr>
            <a:endParaRPr lang="zh-CN" altLang="en-US" sz="2800" dirty="0" smtClean="0">
              <a:latin typeface="方正大黑简体" pitchFamily="2" charset="-122"/>
              <a:ea typeface="方正大黑简体" pitchFamily="2" charset="-122"/>
            </a:endParaRPr>
          </a:p>
          <a:p>
            <a:pPr eaLnBrk="1" hangingPunct="1">
              <a:lnSpc>
                <a:spcPct val="110000"/>
              </a:lnSpc>
              <a:defRPr/>
            </a:pPr>
            <a:endParaRPr lang="zh-CN" altLang="en-US" sz="2800" dirty="0" smtClean="0">
              <a:latin typeface="方正大黑简体" pitchFamily="2" charset="-122"/>
              <a:ea typeface="方正大黑简体" pitchFamily="2" charset="-122"/>
            </a:endParaRPr>
          </a:p>
        </p:txBody>
      </p:sp>
      <p:pic>
        <p:nvPicPr>
          <p:cNvPr id="863236" name="Picture 4"/>
          <p:cNvPicPr>
            <a:picLocks noChangeAspect="1" noChangeArrowheads="1"/>
          </p:cNvPicPr>
          <p:nvPr/>
        </p:nvPicPr>
        <p:blipFill>
          <a:blip r:embed="rId2"/>
          <a:srcRect/>
          <a:stretch>
            <a:fillRect/>
          </a:stretch>
        </p:blipFill>
        <p:spPr bwMode="auto">
          <a:xfrm>
            <a:off x="1285852" y="1867842"/>
            <a:ext cx="6172244" cy="2571768"/>
          </a:xfrm>
          <a:prstGeom prst="rect">
            <a:avLst/>
          </a:prstGeom>
          <a:noFill/>
          <a:ln w="9525">
            <a:noFill/>
            <a:miter lim="800000"/>
            <a:headEnd/>
            <a:tailEnd/>
          </a:ln>
          <a:effectLst/>
        </p:spPr>
      </p:pic>
      <p:sp>
        <p:nvSpPr>
          <p:cNvPr id="12" name="Rectangle 2"/>
          <p:cNvSpPr>
            <a:spLocks noGrp="1" noChangeArrowheads="1"/>
          </p:cNvSpPr>
          <p:nvPr>
            <p:ph type="title"/>
          </p:nvPr>
        </p:nvSpPr>
        <p:spPr>
          <a:xfrm>
            <a:off x="928662" y="252968"/>
            <a:ext cx="7315200" cy="914400"/>
          </a:xfrm>
        </p:spPr>
        <p:txBody>
          <a:bodyPr vert="horz" lIns="91440" tIns="45720" rIns="91440" bIns="45720" rtlCol="0" anchor="ctr">
            <a:noAutofit/>
          </a:bodyPr>
          <a:lstStyle/>
          <a:p>
            <a:pPr>
              <a:defRPr/>
            </a:pPr>
            <a:r>
              <a:rPr lang="zh-CN" altLang="en-US" sz="3600" dirty="0" smtClean="0">
                <a:solidFill>
                  <a:schemeClr val="bg1"/>
                </a:solidFill>
                <a:latin typeface="方正兰亭粗黑简体" pitchFamily="2" charset="-122"/>
                <a:ea typeface="方正兰亭粗黑简体" pitchFamily="2" charset="-122"/>
                <a:cs typeface="+mn-cs"/>
              </a:rPr>
              <a:t>一、自适应均衡原理</a:t>
            </a:r>
          </a:p>
        </p:txBody>
      </p:sp>
      <p:sp>
        <p:nvSpPr>
          <p:cNvPr id="13" name="矩形 12"/>
          <p:cNvSpPr/>
          <p:nvPr/>
        </p:nvSpPr>
        <p:spPr>
          <a:xfrm>
            <a:off x="500034" y="1175639"/>
            <a:ext cx="6786562" cy="668901"/>
          </a:xfrm>
          <a:prstGeom prst="rect">
            <a:avLst/>
          </a:prstGeom>
        </p:spPr>
        <p:txBody>
          <a:bodyPr>
            <a:spAutoFit/>
          </a:bodyPr>
          <a:lstStyle/>
          <a:p>
            <a:pPr algn="just">
              <a:lnSpc>
                <a:spcPct val="150000"/>
              </a:lnSpc>
              <a:buClr>
                <a:schemeClr val="accent1">
                  <a:lumMod val="75000"/>
                </a:schemeClr>
              </a:buClr>
              <a:buNone/>
              <a:defRPr/>
            </a:pPr>
            <a:r>
              <a:rPr lang="en-US" altLang="zh-CN" sz="2800" dirty="0" smtClean="0">
                <a:solidFill>
                  <a:srgbClr val="000099"/>
                </a:solidFill>
                <a:latin typeface="方正大黑简体" pitchFamily="2" charset="-122"/>
                <a:ea typeface="方正大黑简体" pitchFamily="2" charset="-122"/>
              </a:rPr>
              <a:t>3</a:t>
            </a:r>
            <a:r>
              <a:rPr lang="zh-CN" altLang="en-US" sz="2800" dirty="0" smtClean="0">
                <a:solidFill>
                  <a:srgbClr val="000099"/>
                </a:solidFill>
                <a:latin typeface="方正大黑简体" pitchFamily="2" charset="-122"/>
                <a:ea typeface="方正大黑简体" pitchFamily="2" charset="-122"/>
              </a:rPr>
              <a:t>、自适应均衡器的工作原理 </a:t>
            </a:r>
            <a:endParaRPr lang="en-US" altLang="zh-CN" sz="2800" dirty="0" smtClean="0">
              <a:solidFill>
                <a:srgbClr val="000099"/>
              </a:solidFill>
              <a:latin typeface="方正大黑简体" pitchFamily="2" charset="-122"/>
              <a:ea typeface="方正大黑简体" pitchFamily="2" charset="-122"/>
            </a:endParaRPr>
          </a:p>
        </p:txBody>
      </p:sp>
      <p:sp>
        <p:nvSpPr>
          <p:cNvPr id="14" name="AutoShape 8"/>
          <p:cNvSpPr>
            <a:spLocks noChangeArrowheads="1"/>
          </p:cNvSpPr>
          <p:nvPr/>
        </p:nvSpPr>
        <p:spPr bwMode="auto">
          <a:xfrm>
            <a:off x="928662" y="3000372"/>
            <a:ext cx="7632700" cy="1357322"/>
          </a:xfrm>
          <a:prstGeom prst="roundRect">
            <a:avLst>
              <a:gd name="adj" fmla="val 16667"/>
            </a:avLst>
          </a:prstGeom>
          <a:gradFill rotWithShape="1">
            <a:gsLst>
              <a:gs pos="0">
                <a:srgbClr val="CCECFF"/>
              </a:gs>
              <a:gs pos="50000">
                <a:srgbClr val="FFFFFF"/>
              </a:gs>
              <a:gs pos="100000">
                <a:srgbClr val="CCECFF"/>
              </a:gs>
            </a:gsLst>
            <a:lin ang="5400000" scaled="1"/>
          </a:gradFill>
          <a:ln w="28575" algn="ctr">
            <a:solidFill>
              <a:srgbClr val="003399"/>
            </a:solidFill>
            <a:round/>
            <a:headEnd/>
            <a:tailEnd/>
          </a:ln>
          <a:effectLst>
            <a:outerShdw dist="107763" dir="18900000" algn="ctr" rotWithShape="0">
              <a:srgbClr val="B2B2B2">
                <a:alpha val="50000"/>
              </a:srgbClr>
            </a:outerShdw>
          </a:effectLst>
        </p:spPr>
        <p:txBody>
          <a:bodyPr anchor="ctr"/>
          <a:lstStyle/>
          <a:p>
            <a:pPr marL="0" lvl="1" fontAlgn="auto">
              <a:lnSpc>
                <a:spcPct val="150000"/>
              </a:lnSpc>
              <a:spcBef>
                <a:spcPct val="20000"/>
              </a:spcBef>
              <a:spcAft>
                <a:spcPts val="0"/>
              </a:spcAft>
              <a:buClr>
                <a:schemeClr val="accent1"/>
              </a:buClr>
              <a:buFont typeface="Wingdings" pitchFamily="2" charset="2"/>
              <a:buNone/>
              <a:defRPr/>
            </a:pPr>
            <a:r>
              <a:rPr kumimoji="1" lang="en-US" altLang="zh-CN" sz="2800" kern="0" dirty="0">
                <a:latin typeface="方正大黑简体" pitchFamily="2" charset="-122"/>
                <a:ea typeface="方正大黑简体" pitchFamily="2" charset="-122"/>
              </a:rPr>
              <a:t>    </a:t>
            </a:r>
            <a:r>
              <a:rPr kumimoji="1" lang="en-US" altLang="zh-CN" sz="2800" kern="0" dirty="0" smtClean="0">
                <a:latin typeface="方正大黑简体" pitchFamily="2" charset="-122"/>
                <a:ea typeface="方正大黑简体" pitchFamily="2" charset="-122"/>
              </a:rPr>
              <a:t> </a:t>
            </a:r>
            <a:r>
              <a:rPr kumimoji="1" lang="en-US" altLang="zh-CN" sz="2800" kern="0" dirty="0" smtClean="0">
                <a:solidFill>
                  <a:srgbClr val="002060"/>
                </a:solidFill>
                <a:latin typeface="方正大黑简体" pitchFamily="2" charset="-122"/>
                <a:ea typeface="方正大黑简体" pitchFamily="2" charset="-122"/>
              </a:rPr>
              <a:t>g(t</a:t>
            </a:r>
            <a:r>
              <a:rPr kumimoji="1" lang="en-US" altLang="zh-CN" sz="2800" kern="0" dirty="0">
                <a:solidFill>
                  <a:srgbClr val="002060"/>
                </a:solidFill>
                <a:latin typeface="方正大黑简体" pitchFamily="2" charset="-122"/>
                <a:ea typeface="方正大黑简体" pitchFamily="2" charset="-122"/>
              </a:rPr>
              <a:t>)</a:t>
            </a:r>
            <a:r>
              <a:rPr kumimoji="1" lang="zh-CN" altLang="en-US" sz="2800" kern="0" dirty="0">
                <a:solidFill>
                  <a:srgbClr val="002060"/>
                </a:solidFill>
                <a:latin typeface="方正大黑简体" pitchFamily="2" charset="-122"/>
                <a:ea typeface="方正大黑简体" pitchFamily="2" charset="-122"/>
              </a:rPr>
              <a:t>是</a:t>
            </a:r>
            <a:r>
              <a:rPr kumimoji="1" lang="zh-CN" altLang="en-US" sz="2800" kern="0" dirty="0" smtClean="0">
                <a:solidFill>
                  <a:srgbClr val="FF0000"/>
                </a:solidFill>
                <a:latin typeface="方正大黑简体" pitchFamily="2" charset="-122"/>
                <a:ea typeface="方正大黑简体" pitchFamily="2" charset="-122"/>
              </a:rPr>
              <a:t>发射机、信道、接收机</a:t>
            </a:r>
            <a:r>
              <a:rPr kumimoji="1" lang="zh-CN" altLang="en-US" sz="2800" kern="0" dirty="0">
                <a:solidFill>
                  <a:srgbClr val="FF0000"/>
                </a:solidFill>
                <a:latin typeface="方正大黑简体" pitchFamily="2" charset="-122"/>
                <a:ea typeface="方正大黑简体" pitchFamily="2" charset="-122"/>
              </a:rPr>
              <a:t>的</a:t>
            </a:r>
            <a:r>
              <a:rPr kumimoji="1" lang="zh-CN" altLang="en-US" sz="2800" kern="0" dirty="0" smtClean="0">
                <a:solidFill>
                  <a:srgbClr val="FF0000"/>
                </a:solidFill>
                <a:latin typeface="方正大黑简体" pitchFamily="2" charset="-122"/>
                <a:ea typeface="方正大黑简体" pitchFamily="2" charset="-122"/>
              </a:rPr>
              <a:t>射频及中频</a:t>
            </a:r>
            <a:r>
              <a:rPr kumimoji="1" lang="zh-CN" altLang="en-US" sz="2800" kern="0" dirty="0">
                <a:solidFill>
                  <a:srgbClr val="FF0000"/>
                </a:solidFill>
                <a:latin typeface="方正大黑简体" pitchFamily="2" charset="-122"/>
                <a:ea typeface="方正大黑简体" pitchFamily="2" charset="-122"/>
              </a:rPr>
              <a:t>部分和均衡器</a:t>
            </a:r>
            <a:r>
              <a:rPr kumimoji="1" lang="zh-CN" altLang="en-US" sz="2800" kern="0" dirty="0">
                <a:solidFill>
                  <a:srgbClr val="002060"/>
                </a:solidFill>
                <a:latin typeface="方正大黑简体" pitchFamily="2" charset="-122"/>
                <a:ea typeface="方正大黑简体" pitchFamily="2" charset="-122"/>
              </a:rPr>
              <a:t>四者的等效冲激响应。</a:t>
            </a:r>
          </a:p>
        </p:txBody>
      </p:sp>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07704" y="4878728"/>
            <a:ext cx="5725825" cy="122299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3078">
                                            <p:txEl>
                                              <p:pRg st="0" end="0"/>
                                            </p:txEl>
                                          </p:spTgt>
                                        </p:tgtEl>
                                        <p:attrNameLst>
                                          <p:attrName>style.visibility</p:attrName>
                                        </p:attrNameLst>
                                      </p:cBhvr>
                                      <p:to>
                                        <p:strVal val="visible"/>
                                      </p:to>
                                    </p:set>
                                    <p:anim calcmode="discrete" valueType="clr">
                                      <p:cBhvr override="childStyle">
                                        <p:cTn id="7" dur="80"/>
                                        <p:tgtEl>
                                          <p:spTgt spid="3078">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3078">
                                            <p:txEl>
                                              <p:pRg st="0" end="0"/>
                                            </p:txEl>
                                          </p:spTgt>
                                        </p:tgtEl>
                                        <p:attrNameLst>
                                          <p:attrName>fillcolor</p:attrName>
                                        </p:attrNameLst>
                                      </p:cBhvr>
                                      <p:tavLst>
                                        <p:tav tm="0">
                                          <p:val>
                                            <p:clrVal>
                                              <a:schemeClr val="accent2"/>
                                            </p:clrVal>
                                          </p:val>
                                        </p:tav>
                                        <p:tav tm="50000">
                                          <p:val>
                                            <p:clrVal>
                                              <a:schemeClr val="hlink"/>
                                            </p:clrVal>
                                          </p:val>
                                        </p:tav>
                                      </p:tavLst>
                                    </p:anim>
                                    <p:set>
                                      <p:cBhvr>
                                        <p:cTn id="9" dur="80"/>
                                        <p:tgtEl>
                                          <p:spTgt spid="3078">
                                            <p:txEl>
                                              <p:pRg st="0" end="0"/>
                                            </p:txEl>
                                          </p:spTgt>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3"/>
                                        </p:tgtEl>
                                        <p:attrNameLst>
                                          <p:attrName>style.visibility</p:attrName>
                                        </p:attrNameLst>
                                      </p:cBhvr>
                                      <p:to>
                                        <p:strVal val="visible"/>
                                      </p:to>
                                    </p:set>
                                    <p:anim calcmode="lin" valueType="num">
                                      <p:cBhvr additive="base">
                                        <p:cTn id="14" dur="500" fill="hold"/>
                                        <p:tgtEl>
                                          <p:spTgt spid="3"/>
                                        </p:tgtEl>
                                        <p:attrNameLst>
                                          <p:attrName>ppt_x</p:attrName>
                                        </p:attrNameLst>
                                      </p:cBhvr>
                                      <p:tavLst>
                                        <p:tav tm="0">
                                          <p:val>
                                            <p:strVal val="#ppt_x"/>
                                          </p:val>
                                        </p:tav>
                                        <p:tav tm="100000">
                                          <p:val>
                                            <p:strVal val="#ppt_x"/>
                                          </p:val>
                                        </p:tav>
                                      </p:tavLst>
                                    </p:anim>
                                    <p:anim calcmode="lin" valueType="num">
                                      <p:cBhvr additive="base">
                                        <p:cTn id="15"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4" presetClass="entr" presetSubtype="10" fill="hold" grpId="1" nodeType="click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randombar(horizontal)">
                                      <p:cBhvr>
                                        <p:cTn id="2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8" grpId="0" build="p"/>
      <p:bldP spid="14" grpId="1"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7664" y="2708920"/>
            <a:ext cx="6079990" cy="1361423"/>
          </a:xfrm>
          <a:prstGeom prst="rect">
            <a:avLst/>
          </a:prstGeom>
        </p:spPr>
      </p:pic>
      <p:sp>
        <p:nvSpPr>
          <p:cNvPr id="2" name="Rectangle 3"/>
          <p:cNvSpPr>
            <a:spLocks noGrp="1" noChangeArrowheads="1"/>
          </p:cNvSpPr>
          <p:nvPr>
            <p:ph type="body" idx="1"/>
          </p:nvPr>
        </p:nvSpPr>
        <p:spPr>
          <a:xfrm>
            <a:off x="785786" y="1785926"/>
            <a:ext cx="8143875" cy="4811426"/>
          </a:xfrm>
        </p:spPr>
        <p:txBody>
          <a:bodyPr>
            <a:normAutofit/>
          </a:bodyPr>
          <a:lstStyle/>
          <a:p>
            <a:pPr eaLnBrk="1" hangingPunct="1">
              <a:lnSpc>
                <a:spcPct val="150000"/>
              </a:lnSpc>
              <a:spcBef>
                <a:spcPts val="0"/>
              </a:spcBef>
              <a:buClr>
                <a:srgbClr val="0000FF"/>
              </a:buClr>
              <a:buFont typeface="Wingdings" pitchFamily="2" charset="2"/>
              <a:buChar char="p"/>
              <a:defRPr/>
            </a:pPr>
            <a:r>
              <a:rPr lang="zh-CN" altLang="en-US" sz="2800" dirty="0" smtClean="0">
                <a:solidFill>
                  <a:srgbClr val="0000FF"/>
                </a:solidFill>
                <a:latin typeface="方正大黑简体" pitchFamily="2" charset="-122"/>
                <a:ea typeface="方正大黑简体" pitchFamily="2" charset="-122"/>
              </a:rPr>
              <a:t> </a:t>
            </a:r>
            <a:r>
              <a:rPr lang="zh-CN" altLang="en-US" sz="2800" dirty="0" smtClean="0">
                <a:solidFill>
                  <a:srgbClr val="FF0000"/>
                </a:solidFill>
                <a:latin typeface="方正大黑简体" pitchFamily="2" charset="-122"/>
                <a:ea typeface="方正大黑简体" pitchFamily="2" charset="-122"/>
              </a:rPr>
              <a:t>思考：</a:t>
            </a:r>
            <a:r>
              <a:rPr lang="zh-CN" altLang="en-US" sz="2800" dirty="0" smtClean="0">
                <a:solidFill>
                  <a:srgbClr val="0000FF"/>
                </a:solidFill>
                <a:latin typeface="方正大黑简体" pitchFamily="2" charset="-122"/>
                <a:ea typeface="方正大黑简体" pitchFamily="2" charset="-122"/>
              </a:rPr>
              <a:t>均衡器期望的输出信号是什么？</a:t>
            </a:r>
            <a:endParaRPr lang="en-US" altLang="zh-CN" sz="2800" dirty="0" smtClean="0">
              <a:solidFill>
                <a:srgbClr val="0000FF"/>
              </a:solidFill>
              <a:latin typeface="方正大黑简体" pitchFamily="2" charset="-122"/>
              <a:ea typeface="方正大黑简体" pitchFamily="2" charset="-122"/>
            </a:endParaRPr>
          </a:p>
          <a:p>
            <a:pPr eaLnBrk="1" hangingPunct="1">
              <a:lnSpc>
                <a:spcPct val="150000"/>
              </a:lnSpc>
              <a:spcBef>
                <a:spcPts val="0"/>
              </a:spcBef>
              <a:buClr>
                <a:srgbClr val="0000FF"/>
              </a:buClr>
              <a:buFont typeface="Wingdings" pitchFamily="2" charset="2"/>
              <a:buChar char="p"/>
              <a:defRPr/>
            </a:pPr>
            <a:endParaRPr lang="en-US" altLang="zh-CN" sz="2400" dirty="0" smtClean="0">
              <a:solidFill>
                <a:srgbClr val="0000FF"/>
              </a:solidFill>
              <a:latin typeface="方正大黑简体" pitchFamily="2" charset="-122"/>
              <a:ea typeface="方正大黑简体" pitchFamily="2" charset="-122"/>
            </a:endParaRPr>
          </a:p>
          <a:p>
            <a:pPr eaLnBrk="1" hangingPunct="1">
              <a:spcBef>
                <a:spcPts val="0"/>
              </a:spcBef>
              <a:buClr>
                <a:srgbClr val="0000FF"/>
              </a:buClr>
              <a:buFont typeface="Wingdings" pitchFamily="2" charset="2"/>
              <a:buChar char="p"/>
              <a:defRPr/>
            </a:pPr>
            <a:endParaRPr lang="en-US" altLang="zh-CN" sz="2400" dirty="0" smtClean="0">
              <a:solidFill>
                <a:srgbClr val="0000FF"/>
              </a:solidFill>
              <a:latin typeface="方正大黑简体" pitchFamily="2" charset="-122"/>
              <a:ea typeface="方正大黑简体" pitchFamily="2" charset="-122"/>
            </a:endParaRPr>
          </a:p>
          <a:p>
            <a:pPr eaLnBrk="1" hangingPunct="1">
              <a:spcBef>
                <a:spcPts val="0"/>
              </a:spcBef>
              <a:buClr>
                <a:srgbClr val="0000FF"/>
              </a:buClr>
              <a:buFont typeface="Wingdings" pitchFamily="2" charset="2"/>
              <a:buChar char="p"/>
              <a:defRPr/>
            </a:pPr>
            <a:endParaRPr lang="en-US" altLang="zh-CN" sz="2400" dirty="0" smtClean="0">
              <a:solidFill>
                <a:srgbClr val="0000FF"/>
              </a:solidFill>
              <a:latin typeface="方正大黑简体" pitchFamily="2" charset="-122"/>
              <a:ea typeface="方正大黑简体" pitchFamily="2" charset="-122"/>
            </a:endParaRPr>
          </a:p>
          <a:p>
            <a:pPr eaLnBrk="1" hangingPunct="1">
              <a:lnSpc>
                <a:spcPct val="150000"/>
              </a:lnSpc>
              <a:spcBef>
                <a:spcPts val="0"/>
              </a:spcBef>
              <a:buClr>
                <a:srgbClr val="0000FF"/>
              </a:buClr>
              <a:buFont typeface="Wingdings" pitchFamily="2" charset="2"/>
              <a:buChar char="p"/>
              <a:defRPr/>
            </a:pPr>
            <a:endParaRPr lang="en-US" altLang="zh-CN" sz="2400" dirty="0" smtClean="0">
              <a:solidFill>
                <a:srgbClr val="0000FF"/>
              </a:solidFill>
              <a:latin typeface="方正大黑简体" pitchFamily="2" charset="-122"/>
              <a:ea typeface="方正大黑简体" pitchFamily="2" charset="-122"/>
            </a:endParaRPr>
          </a:p>
          <a:p>
            <a:pPr lvl="1">
              <a:lnSpc>
                <a:spcPct val="150000"/>
              </a:lnSpc>
              <a:spcBef>
                <a:spcPts val="0"/>
              </a:spcBef>
              <a:buClr>
                <a:srgbClr val="FF0000"/>
              </a:buClr>
              <a:buFont typeface="Wingdings" pitchFamily="2" charset="2"/>
              <a:buChar char="ü"/>
              <a:defRPr/>
            </a:pPr>
            <a:r>
              <a:rPr lang="zh-CN" altLang="en-US" sz="2400" dirty="0" smtClean="0">
                <a:solidFill>
                  <a:srgbClr val="0000FF"/>
                </a:solidFill>
                <a:latin typeface="方正大黑简体" pitchFamily="2" charset="-122"/>
                <a:ea typeface="方正大黑简体" pitchFamily="2" charset="-122"/>
              </a:rPr>
              <a:t> 期望输出原始信息</a:t>
            </a:r>
            <a:r>
              <a:rPr lang="en-US" altLang="zh-CN" sz="2400" i="1" dirty="0" smtClean="0">
                <a:solidFill>
                  <a:srgbClr val="0000FF"/>
                </a:solidFill>
                <a:latin typeface="Times New Roman" panose="02020603050405020304" pitchFamily="18" charset="0"/>
                <a:ea typeface="方正大黑简体" pitchFamily="2" charset="-122"/>
                <a:cs typeface="Times New Roman" panose="02020603050405020304" pitchFamily="18" charset="0"/>
              </a:rPr>
              <a:t>x</a:t>
            </a:r>
            <a:r>
              <a:rPr lang="en-US" altLang="zh-CN" sz="2400" dirty="0" smtClean="0">
                <a:solidFill>
                  <a:srgbClr val="0000FF"/>
                </a:solidFill>
                <a:latin typeface="方正大黑简体" pitchFamily="2" charset="-122"/>
                <a:ea typeface="方正大黑简体" pitchFamily="2" charset="-122"/>
              </a:rPr>
              <a:t>(</a:t>
            </a:r>
            <a:r>
              <a:rPr lang="en-US" altLang="zh-CN" sz="2400" i="1" dirty="0" smtClean="0">
                <a:solidFill>
                  <a:srgbClr val="0000FF"/>
                </a:solidFill>
                <a:latin typeface="Times New Roman" panose="02020603050405020304" pitchFamily="18" charset="0"/>
                <a:ea typeface="方正大黑简体" pitchFamily="2" charset="-122"/>
                <a:cs typeface="Times New Roman" panose="02020603050405020304" pitchFamily="18" charset="0"/>
              </a:rPr>
              <a:t>t</a:t>
            </a:r>
            <a:r>
              <a:rPr lang="en-US" altLang="zh-CN" sz="2400" dirty="0" smtClean="0">
                <a:solidFill>
                  <a:srgbClr val="0000FF"/>
                </a:solidFill>
                <a:latin typeface="方正大黑简体" pitchFamily="2" charset="-122"/>
                <a:ea typeface="方正大黑简体" pitchFamily="2" charset="-122"/>
              </a:rPr>
              <a:t>)</a:t>
            </a:r>
          </a:p>
          <a:p>
            <a:pPr eaLnBrk="1" hangingPunct="1">
              <a:lnSpc>
                <a:spcPct val="150000"/>
              </a:lnSpc>
              <a:buClr>
                <a:schemeClr val="accent1">
                  <a:lumMod val="75000"/>
                </a:schemeClr>
              </a:buClr>
              <a:buFont typeface="Wingdings" pitchFamily="2" charset="2"/>
              <a:buChar char="p"/>
              <a:defRPr/>
            </a:pPr>
            <a:r>
              <a:rPr lang="zh-CN" altLang="en-US" sz="2800" dirty="0" smtClean="0">
                <a:solidFill>
                  <a:srgbClr val="FF0000"/>
                </a:solidFill>
                <a:latin typeface="方正大黑简体" pitchFamily="2" charset="-122"/>
                <a:ea typeface="方正大黑简体" pitchFamily="2" charset="-122"/>
              </a:rPr>
              <a:t> 思考</a:t>
            </a:r>
            <a:r>
              <a:rPr lang="zh-CN" altLang="en-US" sz="2800" dirty="0">
                <a:solidFill>
                  <a:srgbClr val="FF0000"/>
                </a:solidFill>
                <a:latin typeface="方正大黑简体" pitchFamily="2" charset="-122"/>
                <a:ea typeface="方正大黑简体" pitchFamily="2" charset="-122"/>
              </a:rPr>
              <a:t>：</a:t>
            </a:r>
            <a:r>
              <a:rPr lang="zh-CN" altLang="en-US" sz="2800" dirty="0" smtClean="0">
                <a:solidFill>
                  <a:srgbClr val="0000FF"/>
                </a:solidFill>
                <a:latin typeface="方正大黑简体" pitchFamily="2" charset="-122"/>
                <a:ea typeface="方正大黑简体" pitchFamily="2" charset="-122"/>
              </a:rPr>
              <a:t>对</a:t>
            </a:r>
            <a:r>
              <a:rPr lang="en-US" altLang="zh-CN" sz="2800" dirty="0">
                <a:solidFill>
                  <a:srgbClr val="0000FF"/>
                </a:solidFill>
                <a:latin typeface="方正大黑简体" pitchFamily="2" charset="-122"/>
                <a:ea typeface="方正大黑简体" pitchFamily="2" charset="-122"/>
              </a:rPr>
              <a:t>g(t)</a:t>
            </a:r>
            <a:r>
              <a:rPr lang="zh-CN" altLang="en-US" sz="2800" dirty="0">
                <a:solidFill>
                  <a:srgbClr val="0000FF"/>
                </a:solidFill>
                <a:latin typeface="方正大黑简体" pitchFamily="2" charset="-122"/>
                <a:ea typeface="方正大黑简体" pitchFamily="2" charset="-122"/>
              </a:rPr>
              <a:t>有什么要求呢？</a:t>
            </a:r>
            <a:endParaRPr lang="en-US" altLang="zh-CN" sz="2800" dirty="0">
              <a:solidFill>
                <a:srgbClr val="0000FF"/>
              </a:solidFill>
              <a:latin typeface="方正大黑简体" pitchFamily="2" charset="-122"/>
              <a:ea typeface="方正大黑简体" pitchFamily="2" charset="-122"/>
            </a:endParaRPr>
          </a:p>
          <a:p>
            <a:pPr eaLnBrk="1" hangingPunct="1">
              <a:lnSpc>
                <a:spcPct val="150000"/>
              </a:lnSpc>
              <a:buClr>
                <a:schemeClr val="accent1">
                  <a:lumMod val="75000"/>
                </a:schemeClr>
              </a:buClr>
              <a:buFont typeface="Wingdings" pitchFamily="2" charset="2"/>
              <a:buChar char="p"/>
              <a:defRPr/>
            </a:pPr>
            <a:endParaRPr lang="en-US" altLang="zh-CN" sz="2800" dirty="0" smtClean="0">
              <a:latin typeface="方正大黑简体" pitchFamily="2" charset="-122"/>
              <a:ea typeface="方正大黑简体" pitchFamily="2" charset="-122"/>
            </a:endParaRPr>
          </a:p>
          <a:p>
            <a:pPr eaLnBrk="1" hangingPunct="1">
              <a:lnSpc>
                <a:spcPct val="110000"/>
              </a:lnSpc>
              <a:defRPr/>
            </a:pPr>
            <a:endParaRPr lang="en-US" altLang="zh-CN" sz="2800" dirty="0" smtClean="0">
              <a:latin typeface="方正大黑简体" pitchFamily="2" charset="-122"/>
              <a:ea typeface="方正大黑简体" pitchFamily="2" charset="-122"/>
            </a:endParaRPr>
          </a:p>
        </p:txBody>
      </p:sp>
      <p:sp>
        <p:nvSpPr>
          <p:cNvPr id="13" name="Rectangle 2"/>
          <p:cNvSpPr>
            <a:spLocks noGrp="1" noChangeArrowheads="1"/>
          </p:cNvSpPr>
          <p:nvPr>
            <p:ph type="title"/>
          </p:nvPr>
        </p:nvSpPr>
        <p:spPr>
          <a:xfrm>
            <a:off x="928662" y="252968"/>
            <a:ext cx="7315200" cy="914400"/>
          </a:xfrm>
        </p:spPr>
        <p:txBody>
          <a:bodyPr vert="horz" lIns="91440" tIns="45720" rIns="91440" bIns="45720" rtlCol="0" anchor="ctr">
            <a:noAutofit/>
          </a:bodyPr>
          <a:lstStyle/>
          <a:p>
            <a:pPr>
              <a:defRPr/>
            </a:pPr>
            <a:r>
              <a:rPr lang="zh-CN" altLang="en-US" sz="3600" dirty="0" smtClean="0">
                <a:solidFill>
                  <a:schemeClr val="bg1"/>
                </a:solidFill>
                <a:latin typeface="方正兰亭粗黑简体" pitchFamily="2" charset="-122"/>
                <a:ea typeface="方正兰亭粗黑简体" pitchFamily="2" charset="-122"/>
                <a:cs typeface="+mn-cs"/>
              </a:rPr>
              <a:t>一、自适应均衡原理</a:t>
            </a:r>
          </a:p>
        </p:txBody>
      </p:sp>
      <p:sp>
        <p:nvSpPr>
          <p:cNvPr id="15" name="矩形 14"/>
          <p:cNvSpPr/>
          <p:nvPr/>
        </p:nvSpPr>
        <p:spPr>
          <a:xfrm>
            <a:off x="500034" y="1175639"/>
            <a:ext cx="6786562" cy="668901"/>
          </a:xfrm>
          <a:prstGeom prst="rect">
            <a:avLst/>
          </a:prstGeom>
        </p:spPr>
        <p:txBody>
          <a:bodyPr>
            <a:spAutoFit/>
          </a:bodyPr>
          <a:lstStyle/>
          <a:p>
            <a:pPr algn="just">
              <a:lnSpc>
                <a:spcPct val="150000"/>
              </a:lnSpc>
              <a:buClr>
                <a:schemeClr val="accent1">
                  <a:lumMod val="75000"/>
                </a:schemeClr>
              </a:buClr>
              <a:buNone/>
              <a:defRPr/>
            </a:pPr>
            <a:r>
              <a:rPr lang="en-US" altLang="zh-CN" sz="2800" dirty="0" smtClean="0">
                <a:solidFill>
                  <a:srgbClr val="000099"/>
                </a:solidFill>
                <a:latin typeface="方正大黑简体" pitchFamily="2" charset="-122"/>
                <a:ea typeface="方正大黑简体" pitchFamily="2" charset="-122"/>
              </a:rPr>
              <a:t>3</a:t>
            </a:r>
            <a:r>
              <a:rPr lang="zh-CN" altLang="en-US" sz="2800" dirty="0" smtClean="0">
                <a:solidFill>
                  <a:srgbClr val="000099"/>
                </a:solidFill>
                <a:latin typeface="方正大黑简体" pitchFamily="2" charset="-122"/>
                <a:ea typeface="方正大黑简体" pitchFamily="2" charset="-122"/>
              </a:rPr>
              <a:t>、自适应均衡器的工作原理 </a:t>
            </a:r>
            <a:endParaRPr lang="en-US" altLang="zh-CN" sz="2800" dirty="0" smtClean="0">
              <a:solidFill>
                <a:srgbClr val="000099"/>
              </a:solidFill>
              <a:latin typeface="方正大黑简体" pitchFamily="2" charset="-122"/>
              <a:ea typeface="方正大黑简体" pitchFamily="2" charset="-122"/>
            </a:endParaRPr>
          </a:p>
        </p:txBody>
      </p:sp>
      <p:sp>
        <p:nvSpPr>
          <p:cNvPr id="20" name="椭圆 19"/>
          <p:cNvSpPr/>
          <p:nvPr/>
        </p:nvSpPr>
        <p:spPr>
          <a:xfrm>
            <a:off x="3500430" y="3501008"/>
            <a:ext cx="785818" cy="571504"/>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方正大黑简体" pitchFamily="2" charset="-122"/>
              <a:ea typeface="方正大黑简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xEl>
                                              <p:pRg st="5" end="5"/>
                                            </p:txEl>
                                          </p:spTgt>
                                        </p:tgtEl>
                                        <p:attrNameLst>
                                          <p:attrName>style.visibility</p:attrName>
                                        </p:attrNameLst>
                                      </p:cBhvr>
                                      <p:to>
                                        <p:strVal val="visible"/>
                                      </p:to>
                                    </p:set>
                                    <p:animEffect transition="in" filter="blinds(horizontal)">
                                      <p:cBhvr>
                                        <p:cTn id="7" dur="500"/>
                                        <p:tgtEl>
                                          <p:spTgt spid="2">
                                            <p:txEl>
                                              <p:pRg st="5" end="5"/>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xEl>
                                              <p:pRg st="6" end="6"/>
                                            </p:txEl>
                                          </p:spTgt>
                                        </p:tgtEl>
                                        <p:attrNameLst>
                                          <p:attrName>style.visibility</p:attrName>
                                        </p:attrNameLst>
                                      </p:cBhvr>
                                      <p:to>
                                        <p:strVal val="visible"/>
                                      </p:to>
                                    </p:set>
                                    <p:animEffect transition="in" filter="blinds(horizontal)">
                                      <p:cBhvr>
                                        <p:cTn id="12" dur="500"/>
                                        <p:tgtEl>
                                          <p:spTgt spid="2">
                                            <p:txEl>
                                              <p:pRg st="6" end="6"/>
                                            </p:txEl>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blinds(horizontal)">
                                      <p:cBhvr>
                                        <p:cTn id="15"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a:spLocks noGrp="1" noChangeArrowheads="1"/>
          </p:cNvSpPr>
          <p:nvPr>
            <p:ph type="body" idx="1"/>
          </p:nvPr>
        </p:nvSpPr>
        <p:spPr>
          <a:xfrm>
            <a:off x="571500" y="1857364"/>
            <a:ext cx="8143875" cy="3071834"/>
          </a:xfrm>
        </p:spPr>
        <p:txBody>
          <a:bodyPr/>
          <a:lstStyle/>
          <a:p>
            <a:pPr eaLnBrk="1" hangingPunct="1">
              <a:lnSpc>
                <a:spcPct val="150000"/>
              </a:lnSpc>
              <a:buClr>
                <a:srgbClr val="0000FF"/>
              </a:buClr>
              <a:buFont typeface="Wingdings" pitchFamily="2" charset="2"/>
              <a:buChar char="p"/>
              <a:defRPr/>
            </a:pPr>
            <a:r>
              <a:rPr lang="zh-CN" altLang="en-US" sz="2800" dirty="0" smtClean="0">
                <a:latin typeface="方正大黑简体" pitchFamily="2" charset="-122"/>
                <a:ea typeface="方正大黑简体" pitchFamily="2" charset="-122"/>
              </a:rPr>
              <a:t> </a:t>
            </a:r>
            <a:r>
              <a:rPr lang="zh-CN" altLang="en-US" sz="2800" dirty="0" smtClean="0">
                <a:solidFill>
                  <a:srgbClr val="3333FF"/>
                </a:solidFill>
                <a:latin typeface="方正大黑简体" pitchFamily="2" charset="-122"/>
                <a:ea typeface="方正大黑简体" pitchFamily="2" charset="-122"/>
                <a:cs typeface="Times New Roman" pitchFamily="18" charset="0"/>
              </a:rPr>
              <a:t>假定</a:t>
            </a:r>
            <a:r>
              <a:rPr lang="en-US" altLang="zh-CN" sz="2800" i="1" dirty="0" err="1" smtClean="0">
                <a:solidFill>
                  <a:srgbClr val="3333FF"/>
                </a:solidFill>
                <a:latin typeface="Times New Roman" panose="02020603050405020304" pitchFamily="18" charset="0"/>
                <a:ea typeface="方正大黑简体" pitchFamily="2" charset="-122"/>
                <a:cs typeface="Times New Roman" panose="02020603050405020304" pitchFamily="18" charset="0"/>
              </a:rPr>
              <a:t>n</a:t>
            </a:r>
            <a:r>
              <a:rPr lang="en-US" altLang="zh-CN" sz="2800" i="1" baseline="-30000" dirty="0" err="1" smtClean="0">
                <a:solidFill>
                  <a:srgbClr val="3333FF"/>
                </a:solidFill>
                <a:latin typeface="Times New Roman" panose="02020603050405020304" pitchFamily="18" charset="0"/>
                <a:ea typeface="方正大黑简体" pitchFamily="2" charset="-122"/>
                <a:cs typeface="Times New Roman" panose="02020603050405020304" pitchFamily="18" charset="0"/>
              </a:rPr>
              <a:t>b</a:t>
            </a:r>
            <a:r>
              <a:rPr lang="en-US" altLang="zh-CN" sz="2800" dirty="0" smtClean="0">
                <a:solidFill>
                  <a:srgbClr val="3333FF"/>
                </a:solidFill>
                <a:latin typeface="Times New Roman" panose="02020603050405020304" pitchFamily="18" charset="0"/>
                <a:ea typeface="方正大黑简体" pitchFamily="2" charset="-122"/>
                <a:cs typeface="Times New Roman" panose="02020603050405020304" pitchFamily="18" charset="0"/>
              </a:rPr>
              <a:t>(</a:t>
            </a:r>
            <a:r>
              <a:rPr lang="en-US" altLang="zh-CN" sz="2800" i="1" dirty="0" smtClean="0">
                <a:solidFill>
                  <a:srgbClr val="3333FF"/>
                </a:solidFill>
                <a:latin typeface="Times New Roman" panose="02020603050405020304" pitchFamily="18" charset="0"/>
                <a:ea typeface="方正大黑简体" pitchFamily="2" charset="-122"/>
                <a:cs typeface="Times New Roman" panose="02020603050405020304" pitchFamily="18" charset="0"/>
              </a:rPr>
              <a:t>t</a:t>
            </a:r>
            <a:r>
              <a:rPr lang="en-US" altLang="zh-CN" sz="2800" dirty="0" smtClean="0">
                <a:solidFill>
                  <a:srgbClr val="3333FF"/>
                </a:solidFill>
                <a:latin typeface="Times New Roman" panose="02020603050405020304" pitchFamily="18" charset="0"/>
                <a:ea typeface="方正大黑简体" pitchFamily="2" charset="-122"/>
                <a:cs typeface="Times New Roman" panose="02020603050405020304" pitchFamily="18" charset="0"/>
              </a:rPr>
              <a:t>)</a:t>
            </a:r>
            <a:r>
              <a:rPr lang="en-US" altLang="zh-CN" sz="2800" dirty="0" smtClean="0">
                <a:solidFill>
                  <a:srgbClr val="3333FF"/>
                </a:solidFill>
                <a:latin typeface="方正大黑简体" pitchFamily="2" charset="-122"/>
                <a:ea typeface="方正大黑简体" pitchFamily="2" charset="-122"/>
                <a:cs typeface="Times New Roman" pitchFamily="18" charset="0"/>
              </a:rPr>
              <a:t>= 0</a:t>
            </a:r>
            <a:r>
              <a:rPr lang="zh-CN" altLang="en-US" sz="2800" dirty="0" smtClean="0">
                <a:solidFill>
                  <a:srgbClr val="3333FF"/>
                </a:solidFill>
                <a:latin typeface="方正大黑简体" pitchFamily="2" charset="-122"/>
                <a:ea typeface="方正大黑简体" pitchFamily="2" charset="-122"/>
                <a:cs typeface="Times New Roman" pitchFamily="18" charset="0"/>
              </a:rPr>
              <a:t>，则从</a:t>
            </a:r>
            <a:r>
              <a:rPr lang="zh-CN" altLang="en-US" sz="2800" dirty="0" smtClean="0">
                <a:solidFill>
                  <a:srgbClr val="FF0000"/>
                </a:solidFill>
                <a:latin typeface="方正大黑简体" pitchFamily="2" charset="-122"/>
                <a:ea typeface="方正大黑简体" pitchFamily="2" charset="-122"/>
                <a:cs typeface="Times New Roman" pitchFamily="18" charset="0"/>
              </a:rPr>
              <a:t>时域</a:t>
            </a:r>
            <a:r>
              <a:rPr lang="zh-CN" altLang="en-US" sz="2800" dirty="0" smtClean="0">
                <a:solidFill>
                  <a:srgbClr val="3333FF"/>
                </a:solidFill>
                <a:latin typeface="方正大黑简体" pitchFamily="2" charset="-122"/>
                <a:ea typeface="方正大黑简体" pitchFamily="2" charset="-122"/>
                <a:cs typeface="Times New Roman" pitchFamily="18" charset="0"/>
              </a:rPr>
              <a:t>看，要求：</a:t>
            </a:r>
            <a:endParaRPr lang="en-US" altLang="zh-CN" sz="2800" dirty="0" smtClean="0">
              <a:solidFill>
                <a:srgbClr val="3333FF"/>
              </a:solidFill>
              <a:latin typeface="方正大黑简体" pitchFamily="2" charset="-122"/>
              <a:ea typeface="方正大黑简体" pitchFamily="2" charset="-122"/>
              <a:cs typeface="Times New Roman" pitchFamily="18" charset="0"/>
            </a:endParaRPr>
          </a:p>
          <a:p>
            <a:pPr eaLnBrk="1" hangingPunct="1">
              <a:lnSpc>
                <a:spcPct val="150000"/>
              </a:lnSpc>
              <a:buClr>
                <a:schemeClr val="accent1">
                  <a:lumMod val="75000"/>
                </a:schemeClr>
              </a:buClr>
              <a:buFont typeface="Wingdings" pitchFamily="2" charset="2"/>
              <a:buChar char="p"/>
              <a:defRPr/>
            </a:pPr>
            <a:endParaRPr lang="en-US" altLang="zh-CN" sz="2800" dirty="0" smtClean="0">
              <a:latin typeface="方正大黑简体" pitchFamily="2" charset="-122"/>
              <a:ea typeface="方正大黑简体" pitchFamily="2" charset="-122"/>
            </a:endParaRPr>
          </a:p>
          <a:p>
            <a:pPr eaLnBrk="1" hangingPunct="1">
              <a:lnSpc>
                <a:spcPct val="150000"/>
              </a:lnSpc>
              <a:buClr>
                <a:srgbClr val="3333FF"/>
              </a:buClr>
              <a:buFont typeface="Wingdings" pitchFamily="2" charset="2"/>
              <a:buChar char="p"/>
              <a:defRPr/>
            </a:pPr>
            <a:r>
              <a:rPr lang="zh-CN" altLang="en-US" sz="2800" dirty="0" smtClean="0">
                <a:solidFill>
                  <a:srgbClr val="3333FF"/>
                </a:solidFill>
                <a:latin typeface="方正大黑简体" pitchFamily="2" charset="-122"/>
                <a:ea typeface="方正大黑简体" pitchFamily="2" charset="-122"/>
                <a:cs typeface="Times New Roman" pitchFamily="18" charset="0"/>
              </a:rPr>
              <a:t> 从</a:t>
            </a:r>
            <a:r>
              <a:rPr lang="zh-CN" altLang="en-US" sz="2800" dirty="0" smtClean="0">
                <a:solidFill>
                  <a:srgbClr val="FF0000"/>
                </a:solidFill>
                <a:latin typeface="方正大黑简体" pitchFamily="2" charset="-122"/>
                <a:ea typeface="方正大黑简体" pitchFamily="2" charset="-122"/>
                <a:cs typeface="Times New Roman" pitchFamily="18" charset="0"/>
              </a:rPr>
              <a:t>频域</a:t>
            </a:r>
            <a:r>
              <a:rPr lang="zh-CN" altLang="en-US" sz="2800" dirty="0" smtClean="0">
                <a:solidFill>
                  <a:srgbClr val="3333FF"/>
                </a:solidFill>
                <a:latin typeface="方正大黑简体" pitchFamily="2" charset="-122"/>
                <a:ea typeface="方正大黑简体" pitchFamily="2" charset="-122"/>
                <a:cs typeface="Times New Roman" pitchFamily="18" charset="0"/>
              </a:rPr>
              <a:t>看，要求：</a:t>
            </a:r>
            <a:endParaRPr lang="en-US" altLang="zh-CN" sz="2800" dirty="0" smtClean="0">
              <a:latin typeface="方正大黑简体" pitchFamily="2" charset="-122"/>
              <a:ea typeface="方正大黑简体" pitchFamily="2" charset="-122"/>
            </a:endParaRPr>
          </a:p>
        </p:txBody>
      </p:sp>
      <p:sp>
        <p:nvSpPr>
          <p:cNvPr id="14" name="AutoShape 8"/>
          <p:cNvSpPr>
            <a:spLocks noChangeArrowheads="1"/>
          </p:cNvSpPr>
          <p:nvPr/>
        </p:nvSpPr>
        <p:spPr bwMode="auto">
          <a:xfrm>
            <a:off x="1000100" y="5072074"/>
            <a:ext cx="7143800" cy="785812"/>
          </a:xfrm>
          <a:prstGeom prst="roundRect">
            <a:avLst>
              <a:gd name="adj" fmla="val 16667"/>
            </a:avLst>
          </a:prstGeom>
          <a:gradFill rotWithShape="1">
            <a:gsLst>
              <a:gs pos="0">
                <a:srgbClr val="CCECFF"/>
              </a:gs>
              <a:gs pos="50000">
                <a:srgbClr val="FFFFFF"/>
              </a:gs>
              <a:gs pos="100000">
                <a:srgbClr val="CCECFF"/>
              </a:gs>
            </a:gsLst>
            <a:lin ang="5400000" scaled="1"/>
          </a:gradFill>
          <a:ln w="28575" algn="ctr">
            <a:solidFill>
              <a:srgbClr val="003399"/>
            </a:solidFill>
            <a:round/>
            <a:headEnd/>
            <a:tailEnd/>
          </a:ln>
          <a:effectLst>
            <a:outerShdw dist="107763" dir="18900000" algn="ctr" rotWithShape="0">
              <a:srgbClr val="B2B2B2">
                <a:alpha val="50000"/>
              </a:srgbClr>
            </a:outerShdw>
          </a:effectLst>
        </p:spPr>
        <p:txBody>
          <a:bodyPr anchor="ctr"/>
          <a:lstStyle/>
          <a:p>
            <a:pPr marL="0" lvl="1" fontAlgn="auto">
              <a:lnSpc>
                <a:spcPct val="150000"/>
              </a:lnSpc>
              <a:spcBef>
                <a:spcPct val="20000"/>
              </a:spcBef>
              <a:spcAft>
                <a:spcPts val="0"/>
              </a:spcAft>
              <a:buClr>
                <a:schemeClr val="accent1"/>
              </a:buClr>
              <a:buFont typeface="Wingdings" pitchFamily="2" charset="2"/>
              <a:buNone/>
              <a:defRPr/>
            </a:pPr>
            <a:r>
              <a:rPr kumimoji="1" lang="zh-CN" altLang="en-US" sz="2800" kern="0" dirty="0">
                <a:solidFill>
                  <a:srgbClr val="FF0000"/>
                </a:solidFill>
                <a:latin typeface="方正大黑简体" pitchFamily="2" charset="-122"/>
                <a:ea typeface="方正大黑简体" pitchFamily="2" charset="-122"/>
              </a:rPr>
              <a:t>    </a:t>
            </a:r>
            <a:r>
              <a:rPr kumimoji="1" lang="zh-CN" altLang="en-US" sz="2800" kern="0" dirty="0">
                <a:solidFill>
                  <a:srgbClr val="002060"/>
                </a:solidFill>
                <a:latin typeface="方正大黑简体" pitchFamily="2" charset="-122"/>
                <a:ea typeface="方正大黑简体" pitchFamily="2" charset="-122"/>
              </a:rPr>
              <a:t>均衡器实际上是传输信道的</a:t>
            </a:r>
            <a:r>
              <a:rPr kumimoji="1" lang="zh-CN" altLang="en-US" sz="2800" kern="0" dirty="0">
                <a:solidFill>
                  <a:srgbClr val="FF0000"/>
                </a:solidFill>
                <a:latin typeface="方正大黑简体" pitchFamily="2" charset="-122"/>
                <a:ea typeface="方正大黑简体" pitchFamily="2" charset="-122"/>
              </a:rPr>
              <a:t>反向滤波器</a:t>
            </a:r>
            <a:r>
              <a:rPr kumimoji="1" lang="zh-CN" altLang="en-US" sz="2800" kern="0" dirty="0">
                <a:solidFill>
                  <a:srgbClr val="002060"/>
                </a:solidFill>
                <a:latin typeface="方正大黑简体" pitchFamily="2" charset="-122"/>
                <a:ea typeface="方正大黑简体" pitchFamily="2" charset="-122"/>
              </a:rPr>
              <a:t>。</a:t>
            </a:r>
          </a:p>
        </p:txBody>
      </p:sp>
      <p:sp>
        <p:nvSpPr>
          <p:cNvPr id="13" name="Rectangle 2"/>
          <p:cNvSpPr>
            <a:spLocks noGrp="1" noChangeArrowheads="1"/>
          </p:cNvSpPr>
          <p:nvPr>
            <p:ph type="title"/>
          </p:nvPr>
        </p:nvSpPr>
        <p:spPr>
          <a:xfrm>
            <a:off x="928662" y="252968"/>
            <a:ext cx="7315200" cy="914400"/>
          </a:xfrm>
        </p:spPr>
        <p:txBody>
          <a:bodyPr vert="horz" lIns="91440" tIns="45720" rIns="91440" bIns="45720" rtlCol="0" anchor="ctr">
            <a:noAutofit/>
          </a:bodyPr>
          <a:lstStyle/>
          <a:p>
            <a:pPr>
              <a:defRPr/>
            </a:pPr>
            <a:r>
              <a:rPr lang="zh-CN" altLang="en-US" sz="3600" dirty="0" smtClean="0">
                <a:solidFill>
                  <a:schemeClr val="bg1"/>
                </a:solidFill>
                <a:latin typeface="方正兰亭粗黑简体" pitchFamily="2" charset="-122"/>
                <a:ea typeface="方正兰亭粗黑简体" pitchFamily="2" charset="-122"/>
                <a:cs typeface="+mn-cs"/>
              </a:rPr>
              <a:t>一、自适应均衡原理</a:t>
            </a:r>
          </a:p>
        </p:txBody>
      </p:sp>
      <p:sp>
        <p:nvSpPr>
          <p:cNvPr id="15" name="矩形 14"/>
          <p:cNvSpPr/>
          <p:nvPr/>
        </p:nvSpPr>
        <p:spPr>
          <a:xfrm>
            <a:off x="500034" y="1175639"/>
            <a:ext cx="6786562" cy="668901"/>
          </a:xfrm>
          <a:prstGeom prst="rect">
            <a:avLst/>
          </a:prstGeom>
        </p:spPr>
        <p:txBody>
          <a:bodyPr>
            <a:spAutoFit/>
          </a:bodyPr>
          <a:lstStyle/>
          <a:p>
            <a:pPr algn="just">
              <a:lnSpc>
                <a:spcPct val="150000"/>
              </a:lnSpc>
              <a:buClr>
                <a:schemeClr val="accent1">
                  <a:lumMod val="75000"/>
                </a:schemeClr>
              </a:buClr>
              <a:buNone/>
              <a:defRPr/>
            </a:pPr>
            <a:r>
              <a:rPr lang="en-US" altLang="zh-CN" sz="2800" dirty="0" smtClean="0">
                <a:solidFill>
                  <a:srgbClr val="000099"/>
                </a:solidFill>
                <a:latin typeface="方正大黑简体" pitchFamily="2" charset="-122"/>
                <a:ea typeface="方正大黑简体" pitchFamily="2" charset="-122"/>
              </a:rPr>
              <a:t>3</a:t>
            </a:r>
            <a:r>
              <a:rPr lang="zh-CN" altLang="en-US" sz="2800" dirty="0" smtClean="0">
                <a:solidFill>
                  <a:srgbClr val="000099"/>
                </a:solidFill>
                <a:latin typeface="方正大黑简体" pitchFamily="2" charset="-122"/>
                <a:ea typeface="方正大黑简体" pitchFamily="2" charset="-122"/>
              </a:rPr>
              <a:t>、自适应均衡器的工作原理 </a:t>
            </a:r>
            <a:endParaRPr lang="en-US" altLang="zh-CN" sz="2800" dirty="0" smtClean="0">
              <a:solidFill>
                <a:srgbClr val="000099"/>
              </a:solidFill>
              <a:latin typeface="方正大黑简体" pitchFamily="2" charset="-122"/>
              <a:ea typeface="方正大黑简体" pitchFamily="2" charset="-122"/>
            </a:endParaRPr>
          </a:p>
        </p:txBody>
      </p:sp>
      <p:pic>
        <p:nvPicPr>
          <p:cNvPr id="3" name="图片 2"/>
          <p:cNvPicPr>
            <a:picLocks noChangeAspect="1"/>
          </p:cNvPicPr>
          <p:nvPr/>
        </p:nvPicPr>
        <p:blipFill>
          <a:blip r:embed="rId2"/>
          <a:stretch>
            <a:fillRect/>
          </a:stretch>
        </p:blipFill>
        <p:spPr>
          <a:xfrm>
            <a:off x="2339752" y="2708482"/>
            <a:ext cx="4469592" cy="597230"/>
          </a:xfrm>
          <a:prstGeom prst="rect">
            <a:avLst/>
          </a:prstGeom>
        </p:spPr>
      </p:pic>
      <p:pic>
        <p:nvPicPr>
          <p:cNvPr id="5" name="图片 4"/>
          <p:cNvPicPr>
            <a:picLocks noChangeAspect="1"/>
          </p:cNvPicPr>
          <p:nvPr/>
        </p:nvPicPr>
        <p:blipFill>
          <a:blip r:embed="rId3"/>
          <a:stretch>
            <a:fillRect/>
          </a:stretch>
        </p:blipFill>
        <p:spPr>
          <a:xfrm>
            <a:off x="2987824" y="4090387"/>
            <a:ext cx="2779639" cy="56274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7" presetClass="entr" presetSubtype="0" fill="hold" nodeType="clickEffect">
                                  <p:stCondLst>
                                    <p:cond delay="0"/>
                                  </p:stCondLst>
                                  <p:iterate type="lt">
                                    <p:tmPct val="50000"/>
                                  </p:iterate>
                                  <p:childTnLst>
                                    <p:set>
                                      <p:cBhvr>
                                        <p:cTn id="10" dur="1" fill="hold">
                                          <p:stCondLst>
                                            <p:cond delay="0"/>
                                          </p:stCondLst>
                                        </p:cTn>
                                        <p:tgtEl>
                                          <p:spTgt spid="2">
                                            <p:txEl>
                                              <p:pRg st="2" end="2"/>
                                            </p:txEl>
                                          </p:spTgt>
                                        </p:tgtEl>
                                        <p:attrNameLst>
                                          <p:attrName>style.visibility</p:attrName>
                                        </p:attrNameLst>
                                      </p:cBhvr>
                                      <p:to>
                                        <p:strVal val="visible"/>
                                      </p:to>
                                    </p:set>
                                    <p:anim calcmode="discrete" valueType="clr">
                                      <p:cBhvr override="childStyle">
                                        <p:cTn id="11" dur="80"/>
                                        <p:tgtEl>
                                          <p:spTgt spid="2">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2" dur="80"/>
                                        <p:tgtEl>
                                          <p:spTgt spid="2">
                                            <p:txEl>
                                              <p:pRg st="2" end="2"/>
                                            </p:txEl>
                                          </p:spTgt>
                                        </p:tgtEl>
                                        <p:attrNameLst>
                                          <p:attrName>fillcolor</p:attrName>
                                        </p:attrNameLst>
                                      </p:cBhvr>
                                      <p:tavLst>
                                        <p:tav tm="0">
                                          <p:val>
                                            <p:clrVal>
                                              <a:schemeClr val="accent2"/>
                                            </p:clrVal>
                                          </p:val>
                                        </p:tav>
                                        <p:tav tm="50000">
                                          <p:val>
                                            <p:clrVal>
                                              <a:schemeClr val="hlink"/>
                                            </p:clrVal>
                                          </p:val>
                                        </p:tav>
                                      </p:tavLst>
                                    </p:anim>
                                    <p:set>
                                      <p:cBhvr>
                                        <p:cTn id="13" dur="80"/>
                                        <p:tgtEl>
                                          <p:spTgt spid="2">
                                            <p:txEl>
                                              <p:pRg st="2" end="2"/>
                                            </p:txEl>
                                          </p:spTgt>
                                        </p:tgtEl>
                                        <p:attrNameLst>
                                          <p:attrName>fill.type</p:attrName>
                                        </p:attrNameLst>
                                      </p:cBhvr>
                                      <p:to>
                                        <p:strVal val="solid"/>
                                      </p:to>
                                    </p:se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additive="base">
                                        <p:cTn id="18" dur="500" fill="hold"/>
                                        <p:tgtEl>
                                          <p:spTgt spid="5"/>
                                        </p:tgtEl>
                                        <p:attrNameLst>
                                          <p:attrName>ppt_x</p:attrName>
                                        </p:attrNameLst>
                                      </p:cBhvr>
                                      <p:tavLst>
                                        <p:tav tm="0">
                                          <p:val>
                                            <p:strVal val="#ppt_x"/>
                                          </p:val>
                                        </p:tav>
                                        <p:tav tm="100000">
                                          <p:val>
                                            <p:strVal val="#ppt_x"/>
                                          </p:val>
                                        </p:tav>
                                      </p:tavLst>
                                    </p:anim>
                                    <p:anim calcmode="lin" valueType="num">
                                      <p:cBhvr additive="base">
                                        <p:cTn id="19"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a:spLocks noGrp="1" noChangeArrowheads="1"/>
          </p:cNvSpPr>
          <p:nvPr>
            <p:ph type="body" idx="1"/>
          </p:nvPr>
        </p:nvSpPr>
        <p:spPr>
          <a:xfrm>
            <a:off x="571472" y="1828800"/>
            <a:ext cx="8143875" cy="5029200"/>
          </a:xfrm>
        </p:spPr>
        <p:txBody>
          <a:bodyPr/>
          <a:lstStyle/>
          <a:p>
            <a:pPr eaLnBrk="1" hangingPunct="1">
              <a:lnSpc>
                <a:spcPct val="150000"/>
              </a:lnSpc>
              <a:buClr>
                <a:srgbClr val="3333FF"/>
              </a:buClr>
              <a:buFont typeface="Wingdings" pitchFamily="2" charset="2"/>
              <a:buChar char="p"/>
              <a:defRPr/>
            </a:pPr>
            <a:r>
              <a:rPr lang="zh-CN" altLang="en-US" sz="2800" dirty="0" smtClean="0">
                <a:solidFill>
                  <a:srgbClr val="3333FF"/>
                </a:solidFill>
                <a:latin typeface="方正大黑简体" pitchFamily="2" charset="-122"/>
                <a:ea typeface="方正大黑简体" pitchFamily="2" charset="-122"/>
                <a:cs typeface="Times New Roman" pitchFamily="18" charset="0"/>
              </a:rPr>
              <a:t> </a:t>
            </a:r>
            <a:r>
              <a:rPr lang="zh-CN" altLang="en-US" sz="2800" dirty="0" smtClean="0">
                <a:solidFill>
                  <a:srgbClr val="FF0000"/>
                </a:solidFill>
                <a:latin typeface="方正大黑简体" pitchFamily="2" charset="-122"/>
                <a:ea typeface="方正大黑简体" pitchFamily="2" charset="-122"/>
                <a:cs typeface="Times New Roman" pitchFamily="18" charset="0"/>
              </a:rPr>
              <a:t>思考：</a:t>
            </a:r>
            <a:r>
              <a:rPr lang="zh-CN" altLang="en-US" sz="2800" dirty="0" smtClean="0">
                <a:solidFill>
                  <a:srgbClr val="0000FF"/>
                </a:solidFill>
                <a:latin typeface="方正大黑简体" pitchFamily="2" charset="-122"/>
                <a:ea typeface="方正大黑简体" pitchFamily="2" charset="-122"/>
              </a:rPr>
              <a:t>如果传输信道具有频率选择性</a:t>
            </a:r>
            <a:endParaRPr lang="en-US" altLang="zh-CN" sz="2400" dirty="0" smtClean="0">
              <a:solidFill>
                <a:srgbClr val="0000FF"/>
              </a:solidFill>
              <a:latin typeface="方正大黑简体" pitchFamily="2" charset="-122"/>
              <a:ea typeface="方正大黑简体" pitchFamily="2" charset="-122"/>
            </a:endParaRPr>
          </a:p>
          <a:p>
            <a:pPr lvl="1" eaLnBrk="1" hangingPunct="1">
              <a:lnSpc>
                <a:spcPct val="150000"/>
              </a:lnSpc>
              <a:buClr>
                <a:srgbClr val="FF0000"/>
              </a:buClr>
              <a:buFont typeface="Wingdings" pitchFamily="2" charset="2"/>
              <a:buChar char="ü"/>
              <a:defRPr/>
            </a:pPr>
            <a:r>
              <a:rPr lang="en-US" altLang="zh-CN" sz="2400" dirty="0" smtClean="0">
                <a:solidFill>
                  <a:srgbClr val="0000FF"/>
                </a:solidFill>
                <a:latin typeface="方正大黑简体" pitchFamily="2" charset="-122"/>
                <a:ea typeface="方正大黑简体" pitchFamily="2" charset="-122"/>
              </a:rPr>
              <a:t> </a:t>
            </a:r>
            <a:r>
              <a:rPr lang="zh-CN" altLang="en-US" sz="2400" dirty="0" smtClean="0">
                <a:solidFill>
                  <a:srgbClr val="0000FF"/>
                </a:solidFill>
                <a:latin typeface="方正大黑简体" pitchFamily="2" charset="-122"/>
                <a:ea typeface="方正大黑简体" pitchFamily="2" charset="-122"/>
              </a:rPr>
              <a:t>对频率衰落大的部分，如何处理？</a:t>
            </a:r>
            <a:endParaRPr lang="en-US" altLang="zh-CN" sz="2400" dirty="0" smtClean="0">
              <a:solidFill>
                <a:srgbClr val="0000FF"/>
              </a:solidFill>
              <a:latin typeface="方正大黑简体" pitchFamily="2" charset="-122"/>
              <a:ea typeface="方正大黑简体" pitchFamily="2" charset="-122"/>
            </a:endParaRPr>
          </a:p>
          <a:p>
            <a:pPr lvl="1" eaLnBrk="1" hangingPunct="1">
              <a:lnSpc>
                <a:spcPct val="150000"/>
              </a:lnSpc>
              <a:buClr>
                <a:srgbClr val="FF0000"/>
              </a:buClr>
              <a:buFont typeface="Wingdings" pitchFamily="2" charset="2"/>
              <a:buChar char="ü"/>
              <a:defRPr/>
            </a:pPr>
            <a:r>
              <a:rPr lang="en-US" altLang="zh-CN" sz="2400" dirty="0" smtClean="0">
                <a:solidFill>
                  <a:srgbClr val="0000FF"/>
                </a:solidFill>
                <a:latin typeface="方正大黑简体" pitchFamily="2" charset="-122"/>
                <a:ea typeface="方正大黑简体" pitchFamily="2" charset="-122"/>
              </a:rPr>
              <a:t> </a:t>
            </a:r>
            <a:r>
              <a:rPr lang="zh-CN" altLang="en-US" sz="2400" dirty="0" smtClean="0">
                <a:solidFill>
                  <a:srgbClr val="0000FF"/>
                </a:solidFill>
                <a:latin typeface="方正大黑简体" pitchFamily="2" charset="-122"/>
                <a:ea typeface="方正大黑简体" pitchFamily="2" charset="-122"/>
              </a:rPr>
              <a:t>对频率衰落小的部分，如何处理？</a:t>
            </a:r>
            <a:endParaRPr lang="en-US" altLang="zh-CN" sz="2400" dirty="0" smtClean="0">
              <a:solidFill>
                <a:srgbClr val="0000FF"/>
              </a:solidFill>
              <a:latin typeface="方正大黑简体" pitchFamily="2" charset="-122"/>
              <a:ea typeface="方正大黑简体" pitchFamily="2" charset="-122"/>
            </a:endParaRPr>
          </a:p>
          <a:p>
            <a:pPr lvl="1" eaLnBrk="1" hangingPunct="1">
              <a:lnSpc>
                <a:spcPct val="150000"/>
              </a:lnSpc>
              <a:buClr>
                <a:srgbClr val="FF0000"/>
              </a:buClr>
              <a:buFont typeface="Wingdings" pitchFamily="2" charset="2"/>
              <a:buChar char="ü"/>
              <a:defRPr/>
            </a:pPr>
            <a:r>
              <a:rPr lang="en-US" altLang="zh-CN" sz="2400" dirty="0" smtClean="0">
                <a:solidFill>
                  <a:srgbClr val="0000FF"/>
                </a:solidFill>
                <a:latin typeface="方正大黑简体" pitchFamily="2" charset="-122"/>
                <a:ea typeface="方正大黑简体" pitchFamily="2" charset="-122"/>
              </a:rPr>
              <a:t> </a:t>
            </a:r>
            <a:r>
              <a:rPr lang="zh-CN" altLang="en-US" sz="2400" dirty="0" smtClean="0">
                <a:solidFill>
                  <a:srgbClr val="0000FF"/>
                </a:solidFill>
                <a:latin typeface="方正大黑简体" pitchFamily="2" charset="-122"/>
                <a:ea typeface="方正大黑简体" pitchFamily="2" charset="-122"/>
              </a:rPr>
              <a:t>总体效果怎么样？</a:t>
            </a:r>
            <a:endParaRPr lang="en-US" altLang="zh-CN" sz="2400" dirty="0" smtClean="0">
              <a:solidFill>
                <a:srgbClr val="0000FF"/>
              </a:solidFill>
              <a:latin typeface="方正大黑简体" pitchFamily="2" charset="-122"/>
              <a:ea typeface="方正大黑简体" pitchFamily="2" charset="-122"/>
            </a:endParaRPr>
          </a:p>
          <a:p>
            <a:pPr eaLnBrk="1" hangingPunct="1">
              <a:lnSpc>
                <a:spcPct val="150000"/>
              </a:lnSpc>
              <a:buClr>
                <a:schemeClr val="accent1">
                  <a:lumMod val="75000"/>
                </a:schemeClr>
              </a:buClr>
              <a:buFont typeface="Wingdings" pitchFamily="2" charset="2"/>
              <a:buChar char="Ø"/>
              <a:defRPr/>
            </a:pPr>
            <a:endParaRPr lang="en-US" altLang="zh-CN" sz="2800" dirty="0" smtClean="0">
              <a:latin typeface="方正大黑简体" pitchFamily="2" charset="-122"/>
              <a:ea typeface="方正大黑简体" pitchFamily="2" charset="-122"/>
            </a:endParaRPr>
          </a:p>
          <a:p>
            <a:pPr eaLnBrk="1" hangingPunct="1">
              <a:lnSpc>
                <a:spcPct val="150000"/>
              </a:lnSpc>
              <a:buClr>
                <a:schemeClr val="accent1">
                  <a:lumMod val="75000"/>
                </a:schemeClr>
              </a:buClr>
              <a:buFont typeface="Wingdings" pitchFamily="2" charset="2"/>
              <a:buChar char="Ø"/>
              <a:defRPr/>
            </a:pPr>
            <a:endParaRPr lang="en-US" altLang="zh-CN" sz="2800" dirty="0" smtClean="0">
              <a:latin typeface="方正大黑简体" pitchFamily="2" charset="-122"/>
              <a:ea typeface="方正大黑简体" pitchFamily="2" charset="-122"/>
            </a:endParaRPr>
          </a:p>
          <a:p>
            <a:pPr eaLnBrk="1" hangingPunct="1">
              <a:lnSpc>
                <a:spcPct val="110000"/>
              </a:lnSpc>
              <a:defRPr/>
            </a:pPr>
            <a:endParaRPr lang="en-US" altLang="zh-CN" sz="2800" dirty="0" smtClean="0">
              <a:latin typeface="方正大黑简体" pitchFamily="2" charset="-122"/>
              <a:ea typeface="方正大黑简体" pitchFamily="2" charset="-122"/>
            </a:endParaRPr>
          </a:p>
        </p:txBody>
      </p:sp>
      <p:sp>
        <p:nvSpPr>
          <p:cNvPr id="12" name="AutoShape 8"/>
          <p:cNvSpPr>
            <a:spLocks noChangeArrowheads="1"/>
          </p:cNvSpPr>
          <p:nvPr/>
        </p:nvSpPr>
        <p:spPr bwMode="auto">
          <a:xfrm>
            <a:off x="1000100" y="4558102"/>
            <a:ext cx="7143800" cy="1500184"/>
          </a:xfrm>
          <a:prstGeom prst="roundRect">
            <a:avLst>
              <a:gd name="adj" fmla="val 16667"/>
            </a:avLst>
          </a:prstGeom>
          <a:gradFill rotWithShape="1">
            <a:gsLst>
              <a:gs pos="0">
                <a:srgbClr val="CCECFF"/>
              </a:gs>
              <a:gs pos="50000">
                <a:srgbClr val="FFFFFF"/>
              </a:gs>
              <a:gs pos="100000">
                <a:srgbClr val="CCECFF"/>
              </a:gs>
            </a:gsLst>
            <a:lin ang="5400000" scaled="1"/>
          </a:gradFill>
          <a:ln w="28575" algn="ctr">
            <a:solidFill>
              <a:srgbClr val="003399"/>
            </a:solidFill>
            <a:round/>
            <a:headEnd/>
            <a:tailEnd/>
          </a:ln>
          <a:effectLst>
            <a:outerShdw dist="107763" dir="18900000" algn="ctr" rotWithShape="0">
              <a:srgbClr val="B2B2B2">
                <a:alpha val="50000"/>
              </a:srgbClr>
            </a:outerShdw>
          </a:effectLst>
        </p:spPr>
        <p:txBody>
          <a:bodyPr anchor="ctr"/>
          <a:lstStyle/>
          <a:p>
            <a:pPr marL="0" lvl="1" fontAlgn="auto">
              <a:lnSpc>
                <a:spcPct val="150000"/>
              </a:lnSpc>
              <a:spcBef>
                <a:spcPct val="20000"/>
              </a:spcBef>
              <a:spcAft>
                <a:spcPts val="0"/>
              </a:spcAft>
              <a:buClr>
                <a:schemeClr val="accent1"/>
              </a:buClr>
              <a:buFont typeface="Wingdings" pitchFamily="2" charset="2"/>
              <a:buNone/>
              <a:defRPr/>
            </a:pPr>
            <a:r>
              <a:rPr kumimoji="1" lang="zh-CN" altLang="en-US" sz="2800" kern="0" dirty="0">
                <a:solidFill>
                  <a:schemeClr val="bg2"/>
                </a:solidFill>
                <a:latin typeface="方正大黑简体" pitchFamily="2" charset="-122"/>
                <a:ea typeface="方正大黑简体" pitchFamily="2" charset="-122"/>
              </a:rPr>
              <a:t>   </a:t>
            </a:r>
            <a:r>
              <a:rPr kumimoji="1" lang="zh-CN" altLang="en-US" sz="2800" kern="0" dirty="0" smtClean="0">
                <a:solidFill>
                  <a:schemeClr val="bg2"/>
                </a:solidFill>
                <a:latin typeface="方正大黑简体" pitchFamily="2" charset="-122"/>
                <a:ea typeface="方正大黑简体" pitchFamily="2" charset="-122"/>
              </a:rPr>
              <a:t>     </a:t>
            </a:r>
            <a:r>
              <a:rPr kumimoji="1" lang="zh-CN" altLang="en-US" sz="2800" kern="0" dirty="0" smtClean="0">
                <a:solidFill>
                  <a:srgbClr val="002060"/>
                </a:solidFill>
                <a:latin typeface="方正大黑简体" pitchFamily="2" charset="-122"/>
                <a:ea typeface="方正大黑简体" pitchFamily="2" charset="-122"/>
              </a:rPr>
              <a:t>使得</a:t>
            </a:r>
            <a:r>
              <a:rPr kumimoji="1" lang="zh-CN" altLang="en-US" sz="2800" kern="0" dirty="0">
                <a:solidFill>
                  <a:srgbClr val="002060"/>
                </a:solidFill>
                <a:latin typeface="方正大黑简体" pitchFamily="2" charset="-122"/>
                <a:ea typeface="方正大黑简体" pitchFamily="2" charset="-122"/>
              </a:rPr>
              <a:t>收到的信号频谱各部分的</a:t>
            </a:r>
            <a:r>
              <a:rPr kumimoji="1" lang="zh-CN" altLang="en-US" sz="2800" kern="0" dirty="0">
                <a:solidFill>
                  <a:srgbClr val="FF0000"/>
                </a:solidFill>
                <a:latin typeface="方正大黑简体" pitchFamily="2" charset="-122"/>
                <a:ea typeface="方正大黑简体" pitchFamily="2" charset="-122"/>
              </a:rPr>
              <a:t>衰落趋于平坦</a:t>
            </a:r>
            <a:r>
              <a:rPr kumimoji="1" lang="zh-CN" altLang="en-US" sz="2800" kern="0" dirty="0">
                <a:solidFill>
                  <a:srgbClr val="002060"/>
                </a:solidFill>
                <a:latin typeface="方正大黑简体" pitchFamily="2" charset="-122"/>
                <a:ea typeface="方正大黑简体" pitchFamily="2" charset="-122"/>
              </a:rPr>
              <a:t>，</a:t>
            </a:r>
            <a:r>
              <a:rPr kumimoji="1" lang="zh-CN" altLang="en-US" sz="2800" kern="0" dirty="0">
                <a:solidFill>
                  <a:srgbClr val="FF0000"/>
                </a:solidFill>
                <a:latin typeface="方正大黑简体" pitchFamily="2" charset="-122"/>
                <a:ea typeface="方正大黑简体" pitchFamily="2" charset="-122"/>
              </a:rPr>
              <a:t>相位趋于线性。</a:t>
            </a:r>
            <a:endParaRPr kumimoji="1" lang="zh-CN" altLang="en-US" sz="2800" kern="0" dirty="0">
              <a:solidFill>
                <a:schemeClr val="bg2"/>
              </a:solidFill>
              <a:latin typeface="方正大黑简体" pitchFamily="2" charset="-122"/>
              <a:ea typeface="方正大黑简体" pitchFamily="2" charset="-122"/>
            </a:endParaRPr>
          </a:p>
        </p:txBody>
      </p:sp>
      <p:sp>
        <p:nvSpPr>
          <p:cNvPr id="7" name="Rectangle 2"/>
          <p:cNvSpPr>
            <a:spLocks noGrp="1" noChangeArrowheads="1"/>
          </p:cNvSpPr>
          <p:nvPr>
            <p:ph type="title"/>
          </p:nvPr>
        </p:nvSpPr>
        <p:spPr>
          <a:xfrm>
            <a:off x="928662" y="252968"/>
            <a:ext cx="7315200" cy="914400"/>
          </a:xfrm>
        </p:spPr>
        <p:txBody>
          <a:bodyPr vert="horz" lIns="91440" tIns="45720" rIns="91440" bIns="45720" rtlCol="0" anchor="ctr">
            <a:noAutofit/>
          </a:bodyPr>
          <a:lstStyle/>
          <a:p>
            <a:pPr>
              <a:defRPr/>
            </a:pPr>
            <a:r>
              <a:rPr lang="zh-CN" altLang="en-US" sz="3600" dirty="0" smtClean="0">
                <a:solidFill>
                  <a:schemeClr val="bg1"/>
                </a:solidFill>
                <a:latin typeface="方正兰亭粗黑简体" pitchFamily="2" charset="-122"/>
                <a:ea typeface="方正兰亭粗黑简体" pitchFamily="2" charset="-122"/>
                <a:cs typeface="+mn-cs"/>
              </a:rPr>
              <a:t>一、自适应均衡原理</a:t>
            </a:r>
          </a:p>
        </p:txBody>
      </p:sp>
      <p:sp>
        <p:nvSpPr>
          <p:cNvPr id="8" name="矩形 7"/>
          <p:cNvSpPr/>
          <p:nvPr/>
        </p:nvSpPr>
        <p:spPr>
          <a:xfrm>
            <a:off x="500034" y="1224407"/>
            <a:ext cx="6786562" cy="668901"/>
          </a:xfrm>
          <a:prstGeom prst="rect">
            <a:avLst/>
          </a:prstGeom>
        </p:spPr>
        <p:txBody>
          <a:bodyPr>
            <a:spAutoFit/>
          </a:bodyPr>
          <a:lstStyle/>
          <a:p>
            <a:pPr algn="just">
              <a:lnSpc>
                <a:spcPct val="150000"/>
              </a:lnSpc>
              <a:buClr>
                <a:schemeClr val="accent1">
                  <a:lumMod val="75000"/>
                </a:schemeClr>
              </a:buClr>
              <a:buNone/>
              <a:defRPr/>
            </a:pPr>
            <a:r>
              <a:rPr lang="en-US" altLang="zh-CN" sz="2800" dirty="0" smtClean="0">
                <a:solidFill>
                  <a:srgbClr val="000099"/>
                </a:solidFill>
                <a:latin typeface="方正大黑简体" pitchFamily="2" charset="-122"/>
                <a:ea typeface="方正大黑简体" pitchFamily="2" charset="-122"/>
              </a:rPr>
              <a:t>3</a:t>
            </a:r>
            <a:r>
              <a:rPr lang="zh-CN" altLang="en-US" sz="2800" dirty="0" smtClean="0">
                <a:solidFill>
                  <a:srgbClr val="000099"/>
                </a:solidFill>
                <a:latin typeface="方正大黑简体" pitchFamily="2" charset="-122"/>
                <a:ea typeface="方正大黑简体" pitchFamily="2" charset="-122"/>
              </a:rPr>
              <a:t>、自适应均衡器的工作原理 </a:t>
            </a:r>
            <a:endParaRPr lang="en-US" altLang="zh-CN" sz="2800" dirty="0" smtClean="0">
              <a:solidFill>
                <a:srgbClr val="000099"/>
              </a:solidFill>
              <a:latin typeface="方正大黑简体" pitchFamily="2" charset="-122"/>
              <a:ea typeface="方正大黑简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nodeType="clickEffect">
                                  <p:stCondLst>
                                    <p:cond delay="0"/>
                                  </p:stCondLst>
                                  <p:iterate type="lt">
                                    <p:tmPct val="50000"/>
                                  </p:iterate>
                                  <p:childTnLst>
                                    <p:set>
                                      <p:cBhvr>
                                        <p:cTn id="6" dur="1" fill="hold">
                                          <p:stCondLst>
                                            <p:cond delay="0"/>
                                          </p:stCondLst>
                                        </p:cTn>
                                        <p:tgtEl>
                                          <p:spTgt spid="2">
                                            <p:txEl>
                                              <p:pRg st="1" end="1"/>
                                            </p:txEl>
                                          </p:spTgt>
                                        </p:tgtEl>
                                        <p:attrNameLst>
                                          <p:attrName>style.visibility</p:attrName>
                                        </p:attrNameLst>
                                      </p:cBhvr>
                                      <p:to>
                                        <p:strVal val="visible"/>
                                      </p:to>
                                    </p:set>
                                    <p:anim calcmode="discrete" valueType="clr">
                                      <p:cBhvr override="childStyle">
                                        <p:cTn id="7" dur="80"/>
                                        <p:tgtEl>
                                          <p:spTgt spid="2">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2">
                                            <p:txEl>
                                              <p:pRg st="1" end="1"/>
                                            </p:txEl>
                                          </p:spTgt>
                                        </p:tgtEl>
                                        <p:attrNameLst>
                                          <p:attrName>fillcolor</p:attrName>
                                        </p:attrNameLst>
                                      </p:cBhvr>
                                      <p:tavLst>
                                        <p:tav tm="0">
                                          <p:val>
                                            <p:clrVal>
                                              <a:schemeClr val="accent2"/>
                                            </p:clrVal>
                                          </p:val>
                                        </p:tav>
                                        <p:tav tm="50000">
                                          <p:val>
                                            <p:clrVal>
                                              <a:schemeClr val="hlink"/>
                                            </p:clrVal>
                                          </p:val>
                                        </p:tav>
                                      </p:tavLst>
                                    </p:anim>
                                    <p:set>
                                      <p:cBhvr>
                                        <p:cTn id="9" dur="80"/>
                                        <p:tgtEl>
                                          <p:spTgt spid="2">
                                            <p:txEl>
                                              <p:pRg st="1" end="1"/>
                                            </p:txEl>
                                          </p:spTgt>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7" presetClass="entr" presetSubtype="0" fill="hold" nodeType="clickEffect">
                                  <p:stCondLst>
                                    <p:cond delay="0"/>
                                  </p:stCondLst>
                                  <p:iterate type="lt">
                                    <p:tmPct val="50000"/>
                                  </p:iterate>
                                  <p:childTnLst>
                                    <p:set>
                                      <p:cBhvr>
                                        <p:cTn id="13" dur="1" fill="hold">
                                          <p:stCondLst>
                                            <p:cond delay="0"/>
                                          </p:stCondLst>
                                        </p:cTn>
                                        <p:tgtEl>
                                          <p:spTgt spid="2">
                                            <p:txEl>
                                              <p:pRg st="2" end="2"/>
                                            </p:txEl>
                                          </p:spTgt>
                                        </p:tgtEl>
                                        <p:attrNameLst>
                                          <p:attrName>style.visibility</p:attrName>
                                        </p:attrNameLst>
                                      </p:cBhvr>
                                      <p:to>
                                        <p:strVal val="visible"/>
                                      </p:to>
                                    </p:set>
                                    <p:anim calcmode="discrete" valueType="clr">
                                      <p:cBhvr override="childStyle">
                                        <p:cTn id="14" dur="80"/>
                                        <p:tgtEl>
                                          <p:spTgt spid="2">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2">
                                            <p:txEl>
                                              <p:pRg st="2" end="2"/>
                                            </p:txEl>
                                          </p:spTgt>
                                        </p:tgtEl>
                                        <p:attrNameLst>
                                          <p:attrName>fillcolor</p:attrName>
                                        </p:attrNameLst>
                                      </p:cBhvr>
                                      <p:tavLst>
                                        <p:tav tm="0">
                                          <p:val>
                                            <p:clrVal>
                                              <a:schemeClr val="accent2"/>
                                            </p:clrVal>
                                          </p:val>
                                        </p:tav>
                                        <p:tav tm="50000">
                                          <p:val>
                                            <p:clrVal>
                                              <a:schemeClr val="hlink"/>
                                            </p:clrVal>
                                          </p:val>
                                        </p:tav>
                                      </p:tavLst>
                                    </p:anim>
                                    <p:set>
                                      <p:cBhvr>
                                        <p:cTn id="16" dur="80"/>
                                        <p:tgtEl>
                                          <p:spTgt spid="2">
                                            <p:txEl>
                                              <p:pRg st="2" end="2"/>
                                            </p:txEl>
                                          </p:spTgt>
                                        </p:tgtEl>
                                        <p:attrNameLst>
                                          <p:attrName>fill.type</p:attrName>
                                        </p:attrNameLst>
                                      </p:cBhvr>
                                      <p:to>
                                        <p:strVal val="solid"/>
                                      </p:to>
                                    </p:set>
                                  </p:childTnLst>
                                </p:cTn>
                              </p:par>
                            </p:childTnLst>
                          </p:cTn>
                        </p:par>
                      </p:childTnLst>
                    </p:cTn>
                  </p:par>
                  <p:par>
                    <p:cTn id="17" fill="hold">
                      <p:stCondLst>
                        <p:cond delay="indefinite"/>
                      </p:stCondLst>
                      <p:childTnLst>
                        <p:par>
                          <p:cTn id="18" fill="hold">
                            <p:stCondLst>
                              <p:cond delay="0"/>
                            </p:stCondLst>
                            <p:childTnLst>
                              <p:par>
                                <p:cTn id="19" presetID="27" presetClass="entr" presetSubtype="0" fill="hold" nodeType="clickEffect">
                                  <p:stCondLst>
                                    <p:cond delay="0"/>
                                  </p:stCondLst>
                                  <p:iterate type="lt">
                                    <p:tmPct val="50000"/>
                                  </p:iterate>
                                  <p:childTnLst>
                                    <p:set>
                                      <p:cBhvr>
                                        <p:cTn id="20" dur="1" fill="hold">
                                          <p:stCondLst>
                                            <p:cond delay="0"/>
                                          </p:stCondLst>
                                        </p:cTn>
                                        <p:tgtEl>
                                          <p:spTgt spid="2">
                                            <p:txEl>
                                              <p:pRg st="3" end="3"/>
                                            </p:txEl>
                                          </p:spTgt>
                                        </p:tgtEl>
                                        <p:attrNameLst>
                                          <p:attrName>style.visibility</p:attrName>
                                        </p:attrNameLst>
                                      </p:cBhvr>
                                      <p:to>
                                        <p:strVal val="visible"/>
                                      </p:to>
                                    </p:set>
                                    <p:anim calcmode="discrete" valueType="clr">
                                      <p:cBhvr override="childStyle">
                                        <p:cTn id="21" dur="80"/>
                                        <p:tgtEl>
                                          <p:spTgt spid="2">
                                            <p:txEl>
                                              <p:pRg st="3" end="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2" dur="80"/>
                                        <p:tgtEl>
                                          <p:spTgt spid="2">
                                            <p:txEl>
                                              <p:pRg st="3" end="3"/>
                                            </p:txEl>
                                          </p:spTgt>
                                        </p:tgtEl>
                                        <p:attrNameLst>
                                          <p:attrName>fillcolor</p:attrName>
                                        </p:attrNameLst>
                                      </p:cBhvr>
                                      <p:tavLst>
                                        <p:tav tm="0">
                                          <p:val>
                                            <p:clrVal>
                                              <a:schemeClr val="accent2"/>
                                            </p:clrVal>
                                          </p:val>
                                        </p:tav>
                                        <p:tav tm="50000">
                                          <p:val>
                                            <p:clrVal>
                                              <a:schemeClr val="hlink"/>
                                            </p:clrVal>
                                          </p:val>
                                        </p:tav>
                                      </p:tavLst>
                                    </p:anim>
                                    <p:set>
                                      <p:cBhvr>
                                        <p:cTn id="23" dur="80"/>
                                        <p:tgtEl>
                                          <p:spTgt spid="2">
                                            <p:txEl>
                                              <p:pRg st="3" end="3"/>
                                            </p:txEl>
                                          </p:spTgt>
                                        </p:tgtEl>
                                        <p:attrNameLst>
                                          <p:attrName>fill.type</p:attrName>
                                        </p:attrNameLst>
                                      </p:cBhvr>
                                      <p:to>
                                        <p:strVal val="solid"/>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5"/>
          <p:cNvPicPr>
            <a:picLocks noChangeAspect="1" noChangeArrowheads="1"/>
          </p:cNvPicPr>
          <p:nvPr/>
        </p:nvPicPr>
        <p:blipFill>
          <a:blip r:embed="rId3"/>
          <a:srcRect/>
          <a:stretch>
            <a:fillRect/>
          </a:stretch>
        </p:blipFill>
        <p:spPr bwMode="auto">
          <a:xfrm>
            <a:off x="1571604" y="1890084"/>
            <a:ext cx="6215106" cy="2681924"/>
          </a:xfrm>
          <a:prstGeom prst="rect">
            <a:avLst/>
          </a:prstGeom>
          <a:noFill/>
          <a:ln w="9525">
            <a:noFill/>
            <a:miter lim="800000"/>
            <a:headEnd/>
            <a:tailEnd/>
          </a:ln>
          <a:effectLst/>
        </p:spPr>
      </p:pic>
      <p:sp>
        <p:nvSpPr>
          <p:cNvPr id="13" name="Rectangle 3"/>
          <p:cNvSpPr txBox="1">
            <a:spLocks noChangeArrowheads="1"/>
          </p:cNvSpPr>
          <p:nvPr/>
        </p:nvSpPr>
        <p:spPr bwMode="auto">
          <a:xfrm>
            <a:off x="714405" y="4629173"/>
            <a:ext cx="8072437" cy="2085975"/>
          </a:xfrm>
          <a:prstGeom prst="rect">
            <a:avLst/>
          </a:prstGeom>
          <a:noFill/>
          <a:ln w="9525">
            <a:noFill/>
            <a:miter lim="800000"/>
            <a:headEnd/>
            <a:tailEnd/>
          </a:ln>
        </p:spPr>
        <p:txBody>
          <a:bodyPr/>
          <a:lstStyle/>
          <a:p>
            <a:pPr marL="298450" indent="-298450" defTabSz="696913" eaLnBrk="0" hangingPunct="0">
              <a:lnSpc>
                <a:spcPct val="150000"/>
              </a:lnSpc>
              <a:spcBef>
                <a:spcPct val="20000"/>
              </a:spcBef>
              <a:buClr>
                <a:srgbClr val="3333FF"/>
              </a:buClr>
              <a:buFont typeface="Wingdings" pitchFamily="2" charset="2"/>
              <a:buChar char="p"/>
              <a:defRPr/>
            </a:pPr>
            <a:r>
              <a:rPr lang="zh-CN" altLang="en-US" sz="2400" dirty="0" smtClean="0">
                <a:solidFill>
                  <a:srgbClr val="FF0000"/>
                </a:solidFill>
                <a:latin typeface="方正大黑简体" pitchFamily="2" charset="-122"/>
                <a:ea typeface="方正大黑简体" pitchFamily="2" charset="-122"/>
              </a:rPr>
              <a:t> 核心思想：</a:t>
            </a:r>
            <a:r>
              <a:rPr lang="zh-CN" altLang="en-US" sz="2400" dirty="0" smtClean="0">
                <a:solidFill>
                  <a:srgbClr val="0000FF"/>
                </a:solidFill>
                <a:latin typeface="方正大黑简体" pitchFamily="2" charset="-122"/>
                <a:ea typeface="方正大黑简体" pitchFamily="2" charset="-122"/>
              </a:rPr>
              <a:t>利用误差信号</a:t>
            </a:r>
            <a:r>
              <a:rPr lang="en-US" altLang="zh-CN" sz="2400" i="1" dirty="0" smtClean="0">
                <a:solidFill>
                  <a:srgbClr val="0000FF"/>
                </a:solidFill>
                <a:latin typeface="Times New Roman" panose="02020603050405020304" pitchFamily="18" charset="0"/>
                <a:ea typeface="方正大黑简体" pitchFamily="2" charset="-122"/>
                <a:cs typeface="Times New Roman" panose="02020603050405020304" pitchFamily="18" charset="0"/>
              </a:rPr>
              <a:t>e</a:t>
            </a:r>
            <a:r>
              <a:rPr lang="en-US" altLang="zh-CN" sz="2400" dirty="0" smtClean="0">
                <a:solidFill>
                  <a:srgbClr val="0000FF"/>
                </a:solidFill>
                <a:latin typeface="Times New Roman" panose="02020603050405020304" pitchFamily="18" charset="0"/>
                <a:ea typeface="方正大黑简体" pitchFamily="2" charset="-122"/>
                <a:cs typeface="Times New Roman" panose="02020603050405020304" pitchFamily="18" charset="0"/>
              </a:rPr>
              <a:t>(</a:t>
            </a:r>
            <a:r>
              <a:rPr lang="en-US" altLang="zh-CN" sz="2400" i="1" dirty="0" smtClean="0">
                <a:solidFill>
                  <a:srgbClr val="0000FF"/>
                </a:solidFill>
                <a:latin typeface="Times New Roman" panose="02020603050405020304" pitchFamily="18" charset="0"/>
                <a:ea typeface="方正大黑简体" pitchFamily="2" charset="-122"/>
                <a:cs typeface="Times New Roman" panose="02020603050405020304" pitchFamily="18" charset="0"/>
              </a:rPr>
              <a:t>t</a:t>
            </a:r>
            <a:r>
              <a:rPr lang="en-US" altLang="zh-CN" sz="2400" dirty="0" smtClean="0">
                <a:solidFill>
                  <a:srgbClr val="0000FF"/>
                </a:solidFill>
                <a:latin typeface="Times New Roman" panose="02020603050405020304" pitchFamily="18" charset="0"/>
                <a:ea typeface="方正大黑简体" pitchFamily="2" charset="-122"/>
                <a:cs typeface="Times New Roman" panose="02020603050405020304" pitchFamily="18" charset="0"/>
              </a:rPr>
              <a:t>)</a:t>
            </a:r>
            <a:r>
              <a:rPr lang="zh-CN" altLang="en-US" sz="2400" dirty="0" smtClean="0">
                <a:solidFill>
                  <a:srgbClr val="0000FF"/>
                </a:solidFill>
                <a:latin typeface="方正大黑简体" pitchFamily="2" charset="-122"/>
                <a:ea typeface="方正大黑简体" pitchFamily="2" charset="-122"/>
              </a:rPr>
              <a:t>对自适应均衡器进行训练，调节均衡器的权系数，使得代价函数最小。</a:t>
            </a:r>
            <a:endParaRPr lang="en-US" altLang="zh-CN" sz="2400" dirty="0" smtClean="0">
              <a:solidFill>
                <a:srgbClr val="0000FF"/>
              </a:solidFill>
              <a:latin typeface="方正大黑简体" pitchFamily="2" charset="-122"/>
              <a:ea typeface="方正大黑简体" pitchFamily="2" charset="-122"/>
            </a:endParaRPr>
          </a:p>
          <a:p>
            <a:pPr marL="298450" indent="-298450" defTabSz="696913" eaLnBrk="0" hangingPunct="0">
              <a:lnSpc>
                <a:spcPct val="150000"/>
              </a:lnSpc>
              <a:spcBef>
                <a:spcPct val="20000"/>
              </a:spcBef>
              <a:buClr>
                <a:schemeClr val="accent1">
                  <a:lumMod val="75000"/>
                </a:schemeClr>
              </a:buClr>
              <a:defRPr/>
            </a:pPr>
            <a:endParaRPr lang="en-US" altLang="zh-CN" sz="2400" kern="0" dirty="0">
              <a:latin typeface="方正大黑简体" pitchFamily="2" charset="-122"/>
              <a:ea typeface="方正大黑简体" pitchFamily="2" charset="-122"/>
            </a:endParaRPr>
          </a:p>
        </p:txBody>
      </p:sp>
      <p:sp>
        <p:nvSpPr>
          <p:cNvPr id="6150" name="椭圆 6"/>
          <p:cNvSpPr>
            <a:spLocks noChangeArrowheads="1"/>
          </p:cNvSpPr>
          <p:nvPr/>
        </p:nvSpPr>
        <p:spPr bwMode="auto">
          <a:xfrm>
            <a:off x="4357686" y="3747472"/>
            <a:ext cx="1428750" cy="785812"/>
          </a:xfrm>
          <a:prstGeom prst="ellipse">
            <a:avLst/>
          </a:prstGeom>
          <a:noFill/>
          <a:ln w="31750" algn="ctr">
            <a:solidFill>
              <a:srgbClr val="FF0000"/>
            </a:solidFill>
            <a:round/>
            <a:headEnd/>
            <a:tailEnd/>
          </a:ln>
        </p:spPr>
        <p:txBody>
          <a:bodyPr/>
          <a:lstStyle/>
          <a:p>
            <a:pPr marL="298450" indent="-298450" defTabSz="696913">
              <a:spcBef>
                <a:spcPct val="20000"/>
              </a:spcBef>
              <a:buClr>
                <a:schemeClr val="accent1"/>
              </a:buClr>
              <a:buFont typeface="Wingdings" pitchFamily="2" charset="2"/>
              <a:buChar char="Ø"/>
            </a:pPr>
            <a:endParaRPr lang="zh-CN" altLang="en-US"/>
          </a:p>
        </p:txBody>
      </p:sp>
      <p:sp>
        <p:nvSpPr>
          <p:cNvPr id="9" name="Rectangle 2"/>
          <p:cNvSpPr>
            <a:spLocks noGrp="1" noChangeArrowheads="1"/>
          </p:cNvSpPr>
          <p:nvPr>
            <p:ph type="title"/>
          </p:nvPr>
        </p:nvSpPr>
        <p:spPr>
          <a:xfrm>
            <a:off x="928662" y="252968"/>
            <a:ext cx="7315200" cy="914400"/>
          </a:xfrm>
        </p:spPr>
        <p:txBody>
          <a:bodyPr vert="horz" lIns="91440" tIns="45720" rIns="91440" bIns="45720" rtlCol="0" anchor="ctr">
            <a:noAutofit/>
          </a:bodyPr>
          <a:lstStyle/>
          <a:p>
            <a:pPr>
              <a:defRPr/>
            </a:pPr>
            <a:r>
              <a:rPr lang="zh-CN" altLang="en-US" sz="3600" dirty="0" smtClean="0">
                <a:solidFill>
                  <a:schemeClr val="bg1"/>
                </a:solidFill>
                <a:latin typeface="方正兰亭粗黑简体" pitchFamily="2" charset="-122"/>
                <a:ea typeface="方正兰亭粗黑简体" pitchFamily="2" charset="-122"/>
                <a:cs typeface="+mn-cs"/>
              </a:rPr>
              <a:t>一、自适应均衡原理</a:t>
            </a:r>
          </a:p>
        </p:txBody>
      </p:sp>
      <p:sp>
        <p:nvSpPr>
          <p:cNvPr id="10" name="矩形 9"/>
          <p:cNvSpPr/>
          <p:nvPr/>
        </p:nvSpPr>
        <p:spPr>
          <a:xfrm>
            <a:off x="500034" y="1200023"/>
            <a:ext cx="6786562" cy="668901"/>
          </a:xfrm>
          <a:prstGeom prst="rect">
            <a:avLst/>
          </a:prstGeom>
        </p:spPr>
        <p:txBody>
          <a:bodyPr>
            <a:spAutoFit/>
          </a:bodyPr>
          <a:lstStyle/>
          <a:p>
            <a:pPr algn="just">
              <a:lnSpc>
                <a:spcPct val="150000"/>
              </a:lnSpc>
              <a:buClr>
                <a:schemeClr val="accent1">
                  <a:lumMod val="75000"/>
                </a:schemeClr>
              </a:buClr>
              <a:buNone/>
              <a:defRPr/>
            </a:pPr>
            <a:r>
              <a:rPr lang="en-US" altLang="zh-CN" sz="2800" dirty="0" smtClean="0">
                <a:solidFill>
                  <a:srgbClr val="000099"/>
                </a:solidFill>
                <a:latin typeface="方正大黑简体" pitchFamily="2" charset="-122"/>
                <a:ea typeface="方正大黑简体" pitchFamily="2" charset="-122"/>
              </a:rPr>
              <a:t>4</a:t>
            </a:r>
            <a:r>
              <a:rPr lang="zh-CN" altLang="en-US" sz="2800" dirty="0" smtClean="0">
                <a:solidFill>
                  <a:srgbClr val="000099"/>
                </a:solidFill>
                <a:latin typeface="方正大黑简体" pitchFamily="2" charset="-122"/>
                <a:ea typeface="方正大黑简体" pitchFamily="2" charset="-122"/>
              </a:rPr>
              <a:t>、自适应调整的实现 </a:t>
            </a:r>
            <a:endParaRPr lang="en-US" altLang="zh-CN" sz="2800" dirty="0" smtClean="0">
              <a:solidFill>
                <a:srgbClr val="000099"/>
              </a:solidFill>
              <a:latin typeface="方正大黑简体" pitchFamily="2" charset="-122"/>
              <a:ea typeface="方正大黑简体" pitchFamily="2" charset="-122"/>
            </a:endParaRPr>
          </a:p>
        </p:txBody>
      </p:sp>
      <p:pic>
        <p:nvPicPr>
          <p:cNvPr id="2" name="图片 1"/>
          <p:cNvPicPr>
            <a:picLocks noChangeAspect="1"/>
          </p:cNvPicPr>
          <p:nvPr/>
        </p:nvPicPr>
        <p:blipFill>
          <a:blip r:embed="rId4"/>
          <a:stretch>
            <a:fillRect/>
          </a:stretch>
        </p:blipFill>
        <p:spPr>
          <a:xfrm>
            <a:off x="2411760" y="5851721"/>
            <a:ext cx="4649937" cy="513400"/>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4" name="Rectangle 3"/>
          <p:cNvSpPr>
            <a:spLocks noGrp="1" noChangeArrowheads="1"/>
          </p:cNvSpPr>
          <p:nvPr>
            <p:ph type="body" idx="1"/>
          </p:nvPr>
        </p:nvSpPr>
        <p:spPr>
          <a:xfrm>
            <a:off x="500034" y="1928802"/>
            <a:ext cx="8001056" cy="4495800"/>
          </a:xfrm>
        </p:spPr>
        <p:txBody>
          <a:bodyPr>
            <a:normAutofit/>
          </a:bodyPr>
          <a:lstStyle/>
          <a:p>
            <a:pPr eaLnBrk="1" hangingPunct="1">
              <a:lnSpc>
                <a:spcPct val="150000"/>
              </a:lnSpc>
              <a:buClr>
                <a:srgbClr val="3333FF"/>
              </a:buClr>
              <a:buFont typeface="Wingdings" pitchFamily="2" charset="2"/>
              <a:buChar char="p"/>
              <a:defRPr/>
            </a:pPr>
            <a:r>
              <a:rPr lang="en-US" altLang="zh-CN" sz="2400" dirty="0" smtClean="0">
                <a:latin typeface="方正大黑简体" pitchFamily="2" charset="-122"/>
                <a:ea typeface="方正大黑简体" pitchFamily="2" charset="-122"/>
              </a:rPr>
              <a:t> </a:t>
            </a:r>
            <a:r>
              <a:rPr lang="zh-CN" altLang="en-US" sz="2400" dirty="0" smtClean="0">
                <a:solidFill>
                  <a:srgbClr val="0000FF"/>
                </a:solidFill>
                <a:latin typeface="方正大黑简体" pitchFamily="2" charset="-122"/>
                <a:ea typeface="方正大黑简体" pitchFamily="2" charset="-122"/>
              </a:rPr>
              <a:t>在经典的滤波理论中，最常用的代价函数是期望输出值和均衡器实际输出值之间的</a:t>
            </a:r>
            <a:r>
              <a:rPr lang="zh-CN" altLang="en-US" sz="2400" dirty="0" smtClean="0">
                <a:solidFill>
                  <a:srgbClr val="FF0000"/>
                </a:solidFill>
                <a:latin typeface="方正大黑简体" pitchFamily="2" charset="-122"/>
                <a:ea typeface="方正大黑简体" pitchFamily="2" charset="-122"/>
              </a:rPr>
              <a:t>均方差</a:t>
            </a:r>
            <a:r>
              <a:rPr lang="en-US" altLang="zh-CN" sz="2400" dirty="0" smtClean="0">
                <a:solidFill>
                  <a:srgbClr val="FF0000"/>
                </a:solidFill>
                <a:latin typeface="方正大黑简体" pitchFamily="2" charset="-122"/>
                <a:ea typeface="方正大黑简体" pitchFamily="2" charset="-122"/>
              </a:rPr>
              <a:t>(MSE)</a:t>
            </a:r>
            <a:r>
              <a:rPr lang="zh-CN" altLang="en-US" sz="2400" dirty="0" smtClean="0">
                <a:solidFill>
                  <a:srgbClr val="0000FF"/>
                </a:solidFill>
                <a:latin typeface="方正大黑简体" pitchFamily="2" charset="-122"/>
                <a:ea typeface="方正大黑简体" pitchFamily="2" charset="-122"/>
              </a:rPr>
              <a:t>，它可表示为</a:t>
            </a:r>
            <a:r>
              <a:rPr lang="en-US" altLang="zh-CN" sz="2400" dirty="0" smtClean="0">
                <a:solidFill>
                  <a:srgbClr val="0000FF"/>
                </a:solidFill>
                <a:latin typeface="方正大黑简体" pitchFamily="2" charset="-122"/>
                <a:ea typeface="方正大黑简体" pitchFamily="2" charset="-122"/>
              </a:rPr>
              <a:t>E[e(k)e*(k)]</a:t>
            </a:r>
            <a:r>
              <a:rPr lang="zh-CN" altLang="en-US" sz="2400" dirty="0" smtClean="0">
                <a:solidFill>
                  <a:srgbClr val="0000FF"/>
                </a:solidFill>
                <a:latin typeface="方正大黑简体" pitchFamily="2" charset="-122"/>
                <a:ea typeface="方正大黑简体" pitchFamily="2" charset="-122"/>
              </a:rPr>
              <a:t>，即采用</a:t>
            </a:r>
            <a:r>
              <a:rPr lang="zh-CN" altLang="en-US" sz="2400" dirty="0" smtClean="0">
                <a:solidFill>
                  <a:srgbClr val="FF0000"/>
                </a:solidFill>
                <a:latin typeface="方正大黑简体" pitchFamily="2" charset="-122"/>
                <a:ea typeface="方正大黑简体" pitchFamily="2" charset="-122"/>
              </a:rPr>
              <a:t>最小均方误差准则</a:t>
            </a:r>
            <a:r>
              <a:rPr lang="zh-CN" altLang="en-US" sz="2400" dirty="0" smtClean="0">
                <a:solidFill>
                  <a:srgbClr val="0000FF"/>
                </a:solidFill>
                <a:latin typeface="方正大黑简体" pitchFamily="2" charset="-122"/>
                <a:ea typeface="方正大黑简体" pitchFamily="2" charset="-122"/>
              </a:rPr>
              <a:t>。</a:t>
            </a:r>
            <a:endParaRPr lang="en-US" altLang="zh-CN" sz="2400" dirty="0" smtClean="0">
              <a:solidFill>
                <a:srgbClr val="0000FF"/>
              </a:solidFill>
              <a:latin typeface="方正大黑简体" pitchFamily="2" charset="-122"/>
              <a:ea typeface="方正大黑简体" pitchFamily="2" charset="-122"/>
            </a:endParaRPr>
          </a:p>
          <a:p>
            <a:pPr eaLnBrk="1" hangingPunct="1">
              <a:lnSpc>
                <a:spcPct val="150000"/>
              </a:lnSpc>
              <a:buClr>
                <a:srgbClr val="3333FF"/>
              </a:buClr>
              <a:buNone/>
              <a:defRPr/>
            </a:pPr>
            <a:endParaRPr lang="en-US" altLang="zh-CN" sz="2400" dirty="0" smtClean="0">
              <a:solidFill>
                <a:srgbClr val="0000FF"/>
              </a:solidFill>
              <a:latin typeface="方正大黑简体" pitchFamily="2" charset="-122"/>
              <a:ea typeface="方正大黑简体" pitchFamily="2" charset="-122"/>
            </a:endParaRPr>
          </a:p>
          <a:p>
            <a:pPr eaLnBrk="1" hangingPunct="1">
              <a:lnSpc>
                <a:spcPct val="150000"/>
              </a:lnSpc>
              <a:buClr>
                <a:srgbClr val="3333FF"/>
              </a:buClr>
              <a:buFont typeface="Wingdings" pitchFamily="2" charset="2"/>
              <a:buChar char="p"/>
              <a:defRPr/>
            </a:pPr>
            <a:r>
              <a:rPr lang="zh-CN" altLang="en-US" sz="2400" dirty="0" smtClean="0">
                <a:solidFill>
                  <a:srgbClr val="FF0000"/>
                </a:solidFill>
                <a:latin typeface="方正大黑简体" pitchFamily="2" charset="-122"/>
                <a:ea typeface="方正大黑简体" pitchFamily="2" charset="-122"/>
              </a:rPr>
              <a:t>思考：</a:t>
            </a:r>
            <a:r>
              <a:rPr lang="zh-CN" altLang="en-US" sz="2400" dirty="0" smtClean="0">
                <a:solidFill>
                  <a:srgbClr val="0000FF"/>
                </a:solidFill>
                <a:latin typeface="方正大黑简体" pitchFamily="2" charset="-122"/>
                <a:ea typeface="方正大黑简体" pitchFamily="2" charset="-122"/>
              </a:rPr>
              <a:t>如果想要求解均衡器系数，需要已知什么？</a:t>
            </a:r>
            <a:endParaRPr lang="en-US" altLang="zh-CN" sz="2400" dirty="0" smtClean="0">
              <a:solidFill>
                <a:srgbClr val="0000FF"/>
              </a:solidFill>
              <a:latin typeface="方正大黑简体" pitchFamily="2" charset="-122"/>
              <a:ea typeface="方正大黑简体" pitchFamily="2" charset="-122"/>
            </a:endParaRPr>
          </a:p>
          <a:p>
            <a:pPr lvl="1" eaLnBrk="1" hangingPunct="1">
              <a:lnSpc>
                <a:spcPct val="150000"/>
              </a:lnSpc>
              <a:buClr>
                <a:srgbClr val="FF0000"/>
              </a:buClr>
              <a:buFont typeface="Wingdings" pitchFamily="2" charset="2"/>
              <a:buChar char="ü"/>
              <a:defRPr/>
            </a:pPr>
            <a:r>
              <a:rPr lang="en-US" altLang="zh-CN" sz="2400" dirty="0" smtClean="0">
                <a:solidFill>
                  <a:srgbClr val="0000FF"/>
                </a:solidFill>
                <a:latin typeface="方正大黑简体" pitchFamily="2" charset="-122"/>
                <a:ea typeface="方正大黑简体" pitchFamily="2" charset="-122"/>
              </a:rPr>
              <a:t> </a:t>
            </a:r>
            <a:r>
              <a:rPr lang="zh-CN" altLang="en-US" sz="2400" dirty="0" smtClean="0">
                <a:solidFill>
                  <a:srgbClr val="0000FF"/>
                </a:solidFill>
                <a:latin typeface="方正大黑简体" pitchFamily="2" charset="-122"/>
                <a:ea typeface="方正大黑简体" pitchFamily="2" charset="-122"/>
              </a:rPr>
              <a:t>需要已知期望信号 </a:t>
            </a:r>
            <a:endParaRPr lang="en-US" altLang="zh-CN" sz="2400" dirty="0" smtClean="0">
              <a:solidFill>
                <a:srgbClr val="0000FF"/>
              </a:solidFill>
              <a:latin typeface="方正大黑简体" pitchFamily="2" charset="-122"/>
              <a:ea typeface="方正大黑简体" pitchFamily="2" charset="-122"/>
            </a:endParaRPr>
          </a:p>
          <a:p>
            <a:pPr lvl="1" eaLnBrk="1" hangingPunct="1">
              <a:lnSpc>
                <a:spcPct val="150000"/>
              </a:lnSpc>
              <a:buClr>
                <a:srgbClr val="FF0000"/>
              </a:buClr>
              <a:buFont typeface="Wingdings" pitchFamily="2" charset="2"/>
              <a:buChar char="ü"/>
              <a:defRPr/>
            </a:pPr>
            <a:r>
              <a:rPr lang="zh-CN" altLang="en-US" sz="2400" dirty="0" smtClean="0">
                <a:solidFill>
                  <a:srgbClr val="0000FF"/>
                </a:solidFill>
                <a:latin typeface="方正大黑简体" pitchFamily="2" charset="-122"/>
                <a:ea typeface="方正大黑简体" pitchFamily="2" charset="-122"/>
              </a:rPr>
              <a:t> 实际中：已知训练序列（</a:t>
            </a:r>
            <a:r>
              <a:rPr lang="en-US" altLang="zh-CN" sz="2400" dirty="0" smtClean="0">
                <a:solidFill>
                  <a:srgbClr val="0000FF"/>
                </a:solidFill>
                <a:latin typeface="方正大黑简体" pitchFamily="2" charset="-122"/>
                <a:ea typeface="方正大黑简体" pitchFamily="2" charset="-122"/>
              </a:rPr>
              <a:t>training sequence</a:t>
            </a:r>
            <a:r>
              <a:rPr lang="zh-CN" altLang="en-US" sz="2400" dirty="0" smtClean="0">
                <a:solidFill>
                  <a:srgbClr val="0000FF"/>
                </a:solidFill>
                <a:latin typeface="方正大黑简体" pitchFamily="2" charset="-122"/>
                <a:ea typeface="方正大黑简体" pitchFamily="2" charset="-122"/>
              </a:rPr>
              <a:t>）</a:t>
            </a:r>
          </a:p>
        </p:txBody>
      </p:sp>
      <p:sp>
        <p:nvSpPr>
          <p:cNvPr id="6" name="Rectangle 2"/>
          <p:cNvSpPr>
            <a:spLocks noGrp="1" noChangeArrowheads="1"/>
          </p:cNvSpPr>
          <p:nvPr>
            <p:ph type="title"/>
          </p:nvPr>
        </p:nvSpPr>
        <p:spPr>
          <a:xfrm>
            <a:off x="928662" y="252968"/>
            <a:ext cx="7315200" cy="914400"/>
          </a:xfrm>
        </p:spPr>
        <p:txBody>
          <a:bodyPr vert="horz" lIns="91440" tIns="45720" rIns="91440" bIns="45720" rtlCol="0" anchor="ctr">
            <a:noAutofit/>
          </a:bodyPr>
          <a:lstStyle/>
          <a:p>
            <a:pPr>
              <a:defRPr/>
            </a:pPr>
            <a:r>
              <a:rPr lang="zh-CN" altLang="en-US" sz="3600" dirty="0" smtClean="0">
                <a:solidFill>
                  <a:schemeClr val="bg1"/>
                </a:solidFill>
                <a:latin typeface="方正兰亭粗黑简体" pitchFamily="2" charset="-122"/>
                <a:ea typeface="方正兰亭粗黑简体" pitchFamily="2" charset="-122"/>
                <a:cs typeface="+mn-cs"/>
              </a:rPr>
              <a:t>一、自适应均衡原理</a:t>
            </a:r>
          </a:p>
        </p:txBody>
      </p:sp>
      <p:sp>
        <p:nvSpPr>
          <p:cNvPr id="7" name="矩形 6"/>
          <p:cNvSpPr/>
          <p:nvPr/>
        </p:nvSpPr>
        <p:spPr>
          <a:xfrm>
            <a:off x="500034" y="1200023"/>
            <a:ext cx="6786562" cy="668901"/>
          </a:xfrm>
          <a:prstGeom prst="rect">
            <a:avLst/>
          </a:prstGeom>
        </p:spPr>
        <p:txBody>
          <a:bodyPr>
            <a:spAutoFit/>
          </a:bodyPr>
          <a:lstStyle/>
          <a:p>
            <a:pPr algn="just">
              <a:lnSpc>
                <a:spcPct val="150000"/>
              </a:lnSpc>
              <a:buClr>
                <a:schemeClr val="accent1">
                  <a:lumMod val="75000"/>
                </a:schemeClr>
              </a:buClr>
              <a:buNone/>
              <a:defRPr/>
            </a:pPr>
            <a:r>
              <a:rPr lang="en-US" altLang="zh-CN" sz="2800" dirty="0" smtClean="0">
                <a:solidFill>
                  <a:srgbClr val="000099"/>
                </a:solidFill>
                <a:latin typeface="方正大黑简体" pitchFamily="2" charset="-122"/>
                <a:ea typeface="方正大黑简体" pitchFamily="2" charset="-122"/>
              </a:rPr>
              <a:t>4</a:t>
            </a:r>
            <a:r>
              <a:rPr lang="zh-CN" altLang="en-US" sz="2800" dirty="0" smtClean="0">
                <a:solidFill>
                  <a:srgbClr val="000099"/>
                </a:solidFill>
                <a:latin typeface="方正大黑简体" pitchFamily="2" charset="-122"/>
                <a:ea typeface="方正大黑简体" pitchFamily="2" charset="-122"/>
              </a:rPr>
              <a:t>、自适应调整的实现 </a:t>
            </a:r>
            <a:endParaRPr lang="en-US" altLang="zh-CN" sz="2800" dirty="0" smtClean="0">
              <a:solidFill>
                <a:srgbClr val="000099"/>
              </a:solidFill>
              <a:latin typeface="方正大黑简体" pitchFamily="2" charset="-122"/>
              <a:ea typeface="方正大黑简体" pitchFamily="2" charset="-122"/>
            </a:endParaRPr>
          </a:p>
        </p:txBody>
      </p:sp>
      <p:pic>
        <p:nvPicPr>
          <p:cNvPr id="2" name="图片 1"/>
          <p:cNvPicPr>
            <a:picLocks noChangeAspect="1"/>
          </p:cNvPicPr>
          <p:nvPr/>
        </p:nvPicPr>
        <p:blipFill>
          <a:blip r:embed="rId2"/>
          <a:stretch>
            <a:fillRect/>
          </a:stretch>
        </p:blipFill>
        <p:spPr>
          <a:xfrm>
            <a:off x="1979712" y="3645024"/>
            <a:ext cx="4866556" cy="52196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6564">
                                            <p:txEl>
                                              <p:pRg st="3" end="3"/>
                                            </p:txEl>
                                          </p:spTgt>
                                        </p:tgtEl>
                                        <p:attrNameLst>
                                          <p:attrName>style.visibility</p:attrName>
                                        </p:attrNameLst>
                                      </p:cBhvr>
                                      <p:to>
                                        <p:strVal val="visible"/>
                                      </p:to>
                                    </p:set>
                                    <p:anim calcmode="lin" valueType="num">
                                      <p:cBhvr additive="base">
                                        <p:cTn id="7" dur="500" fill="hold"/>
                                        <p:tgtEl>
                                          <p:spTgt spid="66564">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656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6564">
                                            <p:txEl>
                                              <p:pRg st="4" end="4"/>
                                            </p:txEl>
                                          </p:spTgt>
                                        </p:tgtEl>
                                        <p:attrNameLst>
                                          <p:attrName>style.visibility</p:attrName>
                                        </p:attrNameLst>
                                      </p:cBhvr>
                                      <p:to>
                                        <p:strVal val="visible"/>
                                      </p:to>
                                    </p:set>
                                    <p:anim calcmode="lin" valueType="num">
                                      <p:cBhvr additive="base">
                                        <p:cTn id="13" dur="500" fill="hold"/>
                                        <p:tgtEl>
                                          <p:spTgt spid="66564">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6564">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
          <p:cNvSpPr>
            <a:spLocks noGrp="1"/>
          </p:cNvSpPr>
          <p:nvPr>
            <p:ph type="title"/>
          </p:nvPr>
        </p:nvSpPr>
        <p:spPr>
          <a:xfrm>
            <a:off x="457200" y="189294"/>
            <a:ext cx="8229600" cy="1143000"/>
          </a:xfrm>
        </p:spPr>
        <p:txBody>
          <a:bodyPr>
            <a:normAutofit/>
          </a:bodyPr>
          <a:lstStyle/>
          <a:p>
            <a:pPr>
              <a:defRPr/>
            </a:pPr>
            <a:r>
              <a:rPr lang="zh-CN" altLang="en-US" sz="3600" dirty="0" smtClean="0">
                <a:solidFill>
                  <a:schemeClr val="bg1"/>
                </a:solidFill>
                <a:latin typeface="方正兰亭粗黑简体" pitchFamily="2" charset="-122"/>
                <a:ea typeface="方正兰亭粗黑简体" pitchFamily="2" charset="-122"/>
                <a:cs typeface="+mn-cs"/>
              </a:rPr>
              <a:t>二、</a:t>
            </a:r>
            <a:r>
              <a:rPr lang="zh-CN" altLang="en-US" sz="3600" dirty="0" smtClean="0">
                <a:solidFill>
                  <a:schemeClr val="bg1"/>
                </a:solidFill>
                <a:latin typeface="方正兰亭粗黑简体" pitchFamily="2" charset="-122"/>
                <a:ea typeface="方正兰亭粗黑简体" pitchFamily="2" charset="-122"/>
              </a:rPr>
              <a:t>自适应均衡器</a:t>
            </a:r>
            <a:r>
              <a:rPr lang="zh-CN" altLang="en-US" sz="3600" dirty="0" smtClean="0">
                <a:solidFill>
                  <a:schemeClr val="bg1"/>
                </a:solidFill>
                <a:latin typeface="方正兰亭粗黑简体" pitchFamily="2" charset="-122"/>
                <a:ea typeface="方正兰亭粗黑简体" pitchFamily="2" charset="-122"/>
                <a:cs typeface="+mn-cs"/>
              </a:rPr>
              <a:t>工作过程</a:t>
            </a:r>
          </a:p>
        </p:txBody>
      </p:sp>
      <p:sp>
        <p:nvSpPr>
          <p:cNvPr id="26627" name="内容占位符 2"/>
          <p:cNvSpPr>
            <a:spLocks noGrp="1"/>
          </p:cNvSpPr>
          <p:nvPr>
            <p:ph idx="1"/>
          </p:nvPr>
        </p:nvSpPr>
        <p:spPr>
          <a:xfrm>
            <a:off x="142844" y="1285875"/>
            <a:ext cx="8215311" cy="4857750"/>
          </a:xfrm>
        </p:spPr>
        <p:txBody>
          <a:bodyPr>
            <a:normAutofit/>
          </a:bodyPr>
          <a:lstStyle/>
          <a:p>
            <a:pPr marL="668338" lvl="1" indent="-257175" defTabSz="822325">
              <a:lnSpc>
                <a:spcPct val="150000"/>
              </a:lnSpc>
              <a:spcBef>
                <a:spcPts val="1200"/>
              </a:spcBef>
              <a:buClr>
                <a:schemeClr val="accent1">
                  <a:lumMod val="75000"/>
                </a:schemeClr>
              </a:buClr>
              <a:buSzPct val="90000"/>
              <a:buNone/>
              <a:defRPr/>
            </a:pPr>
            <a:r>
              <a:rPr lang="en-US" altLang="zh-CN" dirty="0" smtClean="0">
                <a:solidFill>
                  <a:srgbClr val="000099"/>
                </a:solidFill>
                <a:latin typeface="方正大黑简体" pitchFamily="2" charset="-122"/>
                <a:ea typeface="方正大黑简体" pitchFamily="2" charset="-122"/>
              </a:rPr>
              <a:t>1</a:t>
            </a:r>
            <a:r>
              <a:rPr lang="zh-CN" altLang="en-US" dirty="0" smtClean="0">
                <a:solidFill>
                  <a:srgbClr val="000099"/>
                </a:solidFill>
                <a:latin typeface="方正大黑简体" pitchFamily="2" charset="-122"/>
                <a:ea typeface="方正大黑简体" pitchFamily="2" charset="-122"/>
              </a:rPr>
              <a:t>、自适应均衡器工作模式</a:t>
            </a:r>
          </a:p>
          <a:p>
            <a:pPr marL="1027113" lvl="2" indent="-204788" defTabSz="822325">
              <a:lnSpc>
                <a:spcPct val="150000"/>
              </a:lnSpc>
              <a:spcBef>
                <a:spcPts val="1200"/>
              </a:spcBef>
              <a:buClr>
                <a:srgbClr val="3333FF"/>
              </a:buClr>
              <a:buSzPct val="100000"/>
              <a:buFont typeface="Wingdings" pitchFamily="2" charset="2"/>
              <a:buChar char="p"/>
              <a:defRPr/>
            </a:pPr>
            <a:r>
              <a:rPr lang="zh-CN" altLang="en-US" dirty="0" smtClean="0">
                <a:solidFill>
                  <a:srgbClr val="FF0000"/>
                </a:solidFill>
                <a:latin typeface="方正大黑简体" pitchFamily="2" charset="-122"/>
                <a:ea typeface="方正大黑简体" pitchFamily="2" charset="-122"/>
              </a:rPr>
              <a:t> 训练模式：</a:t>
            </a:r>
            <a:r>
              <a:rPr lang="zh-CN" altLang="en-US" dirty="0" smtClean="0">
                <a:solidFill>
                  <a:srgbClr val="0000FF"/>
                </a:solidFill>
                <a:latin typeface="方正大黑简体" pitchFamily="2" charset="-122"/>
                <a:ea typeface="方正大黑简体" pitchFamily="2" charset="-122"/>
              </a:rPr>
              <a:t>发射信号中包含</a:t>
            </a:r>
            <a:r>
              <a:rPr lang="zh-CN" altLang="en-US" dirty="0" smtClean="0">
                <a:solidFill>
                  <a:srgbClr val="FF0000"/>
                </a:solidFill>
                <a:latin typeface="方正大黑简体" pitchFamily="2" charset="-122"/>
                <a:ea typeface="方正大黑简体" pitchFamily="2" charset="-122"/>
              </a:rPr>
              <a:t>已知的训练序列</a:t>
            </a:r>
            <a:r>
              <a:rPr lang="zh-CN" altLang="en-US" dirty="0" smtClean="0">
                <a:solidFill>
                  <a:srgbClr val="0000FF"/>
                </a:solidFill>
                <a:latin typeface="方正大黑简体" pitchFamily="2" charset="-122"/>
                <a:ea typeface="方正大黑简体" pitchFamily="2" charset="-122"/>
              </a:rPr>
              <a:t>，以便均衡器根据信道特性调整滤波器系数。</a:t>
            </a:r>
          </a:p>
          <a:p>
            <a:pPr marL="1027113" lvl="2" indent="-204788" defTabSz="822325">
              <a:lnSpc>
                <a:spcPct val="150000"/>
              </a:lnSpc>
              <a:spcBef>
                <a:spcPts val="1200"/>
              </a:spcBef>
              <a:buClr>
                <a:srgbClr val="3333FF"/>
              </a:buClr>
              <a:buSzPct val="100000"/>
              <a:buFont typeface="Wingdings" pitchFamily="2" charset="2"/>
              <a:buChar char="p"/>
              <a:defRPr/>
            </a:pPr>
            <a:r>
              <a:rPr lang="zh-CN" altLang="en-US" dirty="0" smtClean="0">
                <a:solidFill>
                  <a:srgbClr val="0000FF"/>
                </a:solidFill>
                <a:latin typeface="方正大黑简体" pitchFamily="2" charset="-122"/>
                <a:ea typeface="方正大黑简体" pitchFamily="2" charset="-122"/>
              </a:rPr>
              <a:t> </a:t>
            </a:r>
            <a:r>
              <a:rPr lang="zh-CN" altLang="en-US" dirty="0" smtClean="0">
                <a:solidFill>
                  <a:srgbClr val="FF0000"/>
                </a:solidFill>
                <a:latin typeface="方正大黑简体" pitchFamily="2" charset="-122"/>
                <a:ea typeface="方正大黑简体" pitchFamily="2" charset="-122"/>
              </a:rPr>
              <a:t>跟踪模式：</a:t>
            </a:r>
            <a:r>
              <a:rPr lang="zh-CN" altLang="en-US" dirty="0" smtClean="0">
                <a:solidFill>
                  <a:srgbClr val="0000FF"/>
                </a:solidFill>
                <a:latin typeface="方正大黑简体" pitchFamily="2" charset="-122"/>
                <a:ea typeface="方正大黑简体" pitchFamily="2" charset="-122"/>
              </a:rPr>
              <a:t>在训练序列后传送用户数据，均衡器将通过自适应算法来修正滤波器系数，不断跟踪信道变化并作出补偿。</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4835" name="Rectangle 3"/>
          <p:cNvSpPr>
            <a:spLocks noGrp="1" noChangeArrowheads="1"/>
          </p:cNvSpPr>
          <p:nvPr>
            <p:ph type="body" idx="1"/>
          </p:nvPr>
        </p:nvSpPr>
        <p:spPr>
          <a:xfrm>
            <a:off x="571500" y="1285875"/>
            <a:ext cx="8072438" cy="4872038"/>
          </a:xfrm>
        </p:spPr>
        <p:txBody>
          <a:bodyPr>
            <a:normAutofit/>
          </a:bodyPr>
          <a:lstStyle/>
          <a:p>
            <a:pPr>
              <a:lnSpc>
                <a:spcPct val="150000"/>
              </a:lnSpc>
              <a:buClr>
                <a:schemeClr val="accent1">
                  <a:lumMod val="75000"/>
                </a:schemeClr>
              </a:buClr>
              <a:buNone/>
              <a:defRPr/>
            </a:pPr>
            <a:r>
              <a:rPr lang="en-US" altLang="zh-CN" sz="2800" dirty="0" smtClean="0">
                <a:solidFill>
                  <a:srgbClr val="000099"/>
                </a:solidFill>
                <a:latin typeface="方正大黑简体" pitchFamily="2" charset="-122"/>
                <a:ea typeface="方正大黑简体" pitchFamily="2" charset="-122"/>
              </a:rPr>
              <a:t>2</a:t>
            </a:r>
            <a:r>
              <a:rPr lang="zh-CN" altLang="en-US" sz="2800" dirty="0" smtClean="0">
                <a:solidFill>
                  <a:srgbClr val="000099"/>
                </a:solidFill>
                <a:latin typeface="方正大黑简体" pitchFamily="2" charset="-122"/>
                <a:ea typeface="方正大黑简体" pitchFamily="2" charset="-122"/>
              </a:rPr>
              <a:t>、发送数据格式</a:t>
            </a:r>
            <a:endParaRPr lang="en-US" altLang="zh-CN" sz="2800" dirty="0" smtClean="0">
              <a:solidFill>
                <a:srgbClr val="000099"/>
              </a:solidFill>
              <a:latin typeface="方正大黑简体" pitchFamily="2" charset="-122"/>
              <a:ea typeface="方正大黑简体" pitchFamily="2" charset="-122"/>
            </a:endParaRPr>
          </a:p>
          <a:p>
            <a:pPr lvl="1">
              <a:lnSpc>
                <a:spcPct val="150000"/>
              </a:lnSpc>
              <a:buClr>
                <a:schemeClr val="accent1">
                  <a:lumMod val="75000"/>
                </a:schemeClr>
              </a:buClr>
              <a:buFont typeface="Wingdings" pitchFamily="2" charset="2"/>
              <a:buChar char="p"/>
              <a:defRPr/>
            </a:pPr>
            <a:endParaRPr lang="en-US" altLang="zh-CN" dirty="0" smtClean="0">
              <a:latin typeface="方正大黑简体" pitchFamily="2" charset="-122"/>
              <a:ea typeface="方正大黑简体" pitchFamily="2" charset="-122"/>
            </a:endParaRPr>
          </a:p>
          <a:p>
            <a:pPr lvl="1">
              <a:lnSpc>
                <a:spcPct val="150000"/>
              </a:lnSpc>
              <a:buClr>
                <a:srgbClr val="3333FF"/>
              </a:buClr>
              <a:buFont typeface="Wingdings" pitchFamily="2" charset="2"/>
              <a:buChar char="p"/>
              <a:defRPr/>
            </a:pPr>
            <a:r>
              <a:rPr lang="zh-CN" altLang="en-US" sz="2400" dirty="0" smtClean="0">
                <a:solidFill>
                  <a:srgbClr val="0000FF"/>
                </a:solidFill>
                <a:latin typeface="方正大黑简体" pitchFamily="2" charset="-122"/>
                <a:ea typeface="方正大黑简体" pitchFamily="2" charset="-122"/>
              </a:rPr>
              <a:t>训练序列有哪些</a:t>
            </a:r>
            <a:r>
              <a:rPr lang="zh-CN" altLang="en-US" sz="2400" dirty="0" smtClean="0">
                <a:solidFill>
                  <a:srgbClr val="FF0000"/>
                </a:solidFill>
                <a:latin typeface="方正大黑简体" pitchFamily="2" charset="-122"/>
                <a:ea typeface="方正大黑简体" pitchFamily="2" charset="-122"/>
              </a:rPr>
              <a:t>设计要求</a:t>
            </a:r>
            <a:r>
              <a:rPr lang="zh-CN" altLang="en-US" sz="2400" dirty="0" smtClean="0">
                <a:solidFill>
                  <a:srgbClr val="0000FF"/>
                </a:solidFill>
                <a:latin typeface="方正大黑简体" pitchFamily="2" charset="-122"/>
                <a:ea typeface="方正大黑简体" pitchFamily="2" charset="-122"/>
              </a:rPr>
              <a:t>？</a:t>
            </a:r>
            <a:endParaRPr lang="en-US" altLang="zh-CN" sz="2400" dirty="0" smtClean="0">
              <a:solidFill>
                <a:srgbClr val="0000FF"/>
              </a:solidFill>
              <a:latin typeface="方正大黑简体" pitchFamily="2" charset="-122"/>
              <a:ea typeface="方正大黑简体" pitchFamily="2" charset="-122"/>
            </a:endParaRPr>
          </a:p>
          <a:p>
            <a:pPr lvl="1" algn="just">
              <a:lnSpc>
                <a:spcPct val="150000"/>
              </a:lnSpc>
              <a:buClr>
                <a:srgbClr val="FF0000"/>
              </a:buClr>
              <a:buFont typeface="Wingdings" pitchFamily="2" charset="2"/>
              <a:buChar char="ü"/>
              <a:defRPr/>
            </a:pPr>
            <a:r>
              <a:rPr lang="zh-CN" altLang="en-US" sz="2400" dirty="0" smtClean="0">
                <a:solidFill>
                  <a:srgbClr val="0000FF"/>
                </a:solidFill>
                <a:latin typeface="方正大黑简体" pitchFamily="2" charset="-122"/>
                <a:ea typeface="方正大黑简体" pitchFamily="2" charset="-122"/>
              </a:rPr>
              <a:t> 在最差的信道条件下，均衡器也能通过该序列获得正确的滤波系数。</a:t>
            </a:r>
          </a:p>
          <a:p>
            <a:pPr lvl="1" algn="just">
              <a:lnSpc>
                <a:spcPct val="150000"/>
              </a:lnSpc>
              <a:buClr>
                <a:srgbClr val="FF0000"/>
              </a:buClr>
              <a:buFont typeface="Wingdings" pitchFamily="2" charset="2"/>
              <a:buChar char="ü"/>
              <a:defRPr/>
            </a:pPr>
            <a:r>
              <a:rPr lang="zh-CN" altLang="en-US" sz="2400" dirty="0" smtClean="0">
                <a:solidFill>
                  <a:srgbClr val="0000FF"/>
                </a:solidFill>
                <a:latin typeface="方正大黑简体" pitchFamily="2" charset="-122"/>
                <a:ea typeface="方正大黑简体" pitchFamily="2" charset="-122"/>
              </a:rPr>
              <a:t> 训练结束后，均衡器的滤波系数已经接近于最佳值。</a:t>
            </a:r>
          </a:p>
        </p:txBody>
      </p:sp>
      <p:grpSp>
        <p:nvGrpSpPr>
          <p:cNvPr id="2" name="组合 10"/>
          <p:cNvGrpSpPr>
            <a:grpSpLocks/>
          </p:cNvGrpSpPr>
          <p:nvPr/>
        </p:nvGrpSpPr>
        <p:grpSpPr bwMode="auto">
          <a:xfrm>
            <a:off x="1500188" y="2109782"/>
            <a:ext cx="6110287" cy="533400"/>
            <a:chOff x="428575" y="1714488"/>
            <a:chExt cx="6110339" cy="533400"/>
          </a:xfrm>
        </p:grpSpPr>
        <p:sp>
          <p:nvSpPr>
            <p:cNvPr id="33797" name="Rectangle 6"/>
            <p:cNvSpPr>
              <a:spLocks noChangeArrowheads="1"/>
            </p:cNvSpPr>
            <p:nvPr/>
          </p:nvSpPr>
          <p:spPr bwMode="auto">
            <a:xfrm>
              <a:off x="2271714" y="1714488"/>
              <a:ext cx="1752600" cy="533400"/>
            </a:xfrm>
            <a:prstGeom prst="rect">
              <a:avLst/>
            </a:prstGeom>
            <a:solidFill>
              <a:schemeClr val="bg1"/>
            </a:solidFill>
            <a:ln w="9525">
              <a:solidFill>
                <a:schemeClr val="tx1"/>
              </a:solidFill>
              <a:miter lim="800000"/>
              <a:headEnd/>
              <a:tailEnd/>
            </a:ln>
          </p:spPr>
          <p:txBody>
            <a:bodyPr wrap="none" anchor="ctr"/>
            <a:lstStyle/>
            <a:p>
              <a:pPr algn="ctr">
                <a:spcBef>
                  <a:spcPct val="20000"/>
                </a:spcBef>
                <a:buClr>
                  <a:schemeClr val="accent1"/>
                </a:buClr>
                <a:buFont typeface="Wingdings" pitchFamily="2" charset="2"/>
                <a:buNone/>
              </a:pPr>
              <a:r>
                <a:rPr lang="zh-CN" altLang="en-US" sz="2400">
                  <a:solidFill>
                    <a:srgbClr val="3333FF"/>
                  </a:solidFill>
                  <a:latin typeface="方正大黑简体" pitchFamily="2" charset="-122"/>
                  <a:ea typeface="方正大黑简体" pitchFamily="2" charset="-122"/>
                </a:rPr>
                <a:t>数据</a:t>
              </a:r>
            </a:p>
          </p:txBody>
        </p:sp>
        <p:sp>
          <p:nvSpPr>
            <p:cNvPr id="33798" name="Rectangle 7"/>
            <p:cNvSpPr>
              <a:spLocks noChangeArrowheads="1"/>
            </p:cNvSpPr>
            <p:nvPr/>
          </p:nvSpPr>
          <p:spPr bwMode="auto">
            <a:xfrm>
              <a:off x="4024314" y="1714488"/>
              <a:ext cx="762000" cy="533400"/>
            </a:xfrm>
            <a:prstGeom prst="rect">
              <a:avLst/>
            </a:prstGeom>
            <a:solidFill>
              <a:schemeClr val="bg1"/>
            </a:solidFill>
            <a:ln w="9525">
              <a:solidFill>
                <a:schemeClr val="tx1"/>
              </a:solidFill>
              <a:miter lim="800000"/>
              <a:headEnd/>
              <a:tailEnd/>
            </a:ln>
          </p:spPr>
          <p:txBody>
            <a:bodyPr wrap="none" anchor="ctr"/>
            <a:lstStyle/>
            <a:p>
              <a:pPr algn="ctr">
                <a:spcBef>
                  <a:spcPct val="20000"/>
                </a:spcBef>
                <a:buClr>
                  <a:schemeClr val="accent1"/>
                </a:buClr>
                <a:buFont typeface="Wingdings" pitchFamily="2" charset="2"/>
                <a:buNone/>
              </a:pPr>
              <a:r>
                <a:rPr lang="zh-CN" altLang="en-US" sz="2400">
                  <a:solidFill>
                    <a:srgbClr val="3333FF"/>
                  </a:solidFill>
                  <a:latin typeface="方正大黑简体" pitchFamily="2" charset="-122"/>
                  <a:ea typeface="方正大黑简体" pitchFamily="2" charset="-122"/>
                </a:rPr>
                <a:t>训练</a:t>
              </a:r>
            </a:p>
          </p:txBody>
        </p:sp>
        <p:sp>
          <p:nvSpPr>
            <p:cNvPr id="33799" name="Rectangle 8"/>
            <p:cNvSpPr>
              <a:spLocks noChangeArrowheads="1"/>
            </p:cNvSpPr>
            <p:nvPr/>
          </p:nvSpPr>
          <p:spPr bwMode="auto">
            <a:xfrm>
              <a:off x="4786314" y="1714488"/>
              <a:ext cx="1752600" cy="533400"/>
            </a:xfrm>
            <a:prstGeom prst="rect">
              <a:avLst/>
            </a:prstGeom>
            <a:solidFill>
              <a:schemeClr val="bg1"/>
            </a:solidFill>
            <a:ln w="9525">
              <a:solidFill>
                <a:schemeClr val="tx1"/>
              </a:solidFill>
              <a:miter lim="800000"/>
              <a:headEnd/>
              <a:tailEnd/>
            </a:ln>
          </p:spPr>
          <p:txBody>
            <a:bodyPr wrap="none" anchor="ctr"/>
            <a:lstStyle/>
            <a:p>
              <a:pPr algn="ctr">
                <a:spcBef>
                  <a:spcPct val="20000"/>
                </a:spcBef>
                <a:buClr>
                  <a:schemeClr val="accent1"/>
                </a:buClr>
                <a:buFont typeface="Wingdings" pitchFamily="2" charset="2"/>
                <a:buNone/>
              </a:pPr>
              <a:r>
                <a:rPr lang="zh-CN" altLang="en-US" sz="2400">
                  <a:solidFill>
                    <a:srgbClr val="3333FF"/>
                  </a:solidFill>
                  <a:latin typeface="方正大黑简体" pitchFamily="2" charset="-122"/>
                  <a:ea typeface="方正大黑简体" pitchFamily="2" charset="-122"/>
                </a:rPr>
                <a:t>数据</a:t>
              </a:r>
            </a:p>
          </p:txBody>
        </p:sp>
        <p:sp>
          <p:nvSpPr>
            <p:cNvPr id="33800" name="Rectangle 7"/>
            <p:cNvSpPr>
              <a:spLocks noChangeArrowheads="1"/>
            </p:cNvSpPr>
            <p:nvPr/>
          </p:nvSpPr>
          <p:spPr bwMode="auto">
            <a:xfrm>
              <a:off x="1523984" y="1714488"/>
              <a:ext cx="762000" cy="533400"/>
            </a:xfrm>
            <a:prstGeom prst="rect">
              <a:avLst/>
            </a:prstGeom>
            <a:solidFill>
              <a:schemeClr val="bg1"/>
            </a:solidFill>
            <a:ln w="9525">
              <a:solidFill>
                <a:schemeClr val="tx1"/>
              </a:solidFill>
              <a:miter lim="800000"/>
              <a:headEnd/>
              <a:tailEnd/>
            </a:ln>
          </p:spPr>
          <p:txBody>
            <a:bodyPr wrap="none" anchor="ctr"/>
            <a:lstStyle/>
            <a:p>
              <a:pPr algn="ctr">
                <a:spcBef>
                  <a:spcPct val="20000"/>
                </a:spcBef>
                <a:buClr>
                  <a:schemeClr val="accent1"/>
                </a:buClr>
                <a:buFont typeface="Wingdings" pitchFamily="2" charset="2"/>
                <a:buNone/>
              </a:pPr>
              <a:r>
                <a:rPr lang="zh-CN" altLang="en-US" sz="2400" dirty="0">
                  <a:solidFill>
                    <a:srgbClr val="3333FF"/>
                  </a:solidFill>
                  <a:latin typeface="方正大黑简体" pitchFamily="2" charset="-122"/>
                  <a:ea typeface="方正大黑简体" pitchFamily="2" charset="-122"/>
                </a:rPr>
                <a:t>训练</a:t>
              </a:r>
            </a:p>
          </p:txBody>
        </p:sp>
        <p:sp>
          <p:nvSpPr>
            <p:cNvPr id="33801" name="Rectangle 7"/>
            <p:cNvSpPr>
              <a:spLocks noChangeArrowheads="1"/>
            </p:cNvSpPr>
            <p:nvPr/>
          </p:nvSpPr>
          <p:spPr bwMode="auto">
            <a:xfrm>
              <a:off x="428575" y="1714488"/>
              <a:ext cx="1119211" cy="533400"/>
            </a:xfrm>
            <a:prstGeom prst="rect">
              <a:avLst/>
            </a:prstGeom>
            <a:solidFill>
              <a:schemeClr val="bg1"/>
            </a:solidFill>
            <a:ln w="9525">
              <a:solidFill>
                <a:schemeClr val="tx1"/>
              </a:solidFill>
              <a:miter lim="800000"/>
              <a:headEnd/>
              <a:tailEnd/>
            </a:ln>
          </p:spPr>
          <p:txBody>
            <a:bodyPr wrap="none" anchor="ctr"/>
            <a:lstStyle/>
            <a:p>
              <a:pPr algn="ctr">
                <a:spcBef>
                  <a:spcPct val="20000"/>
                </a:spcBef>
                <a:buClr>
                  <a:schemeClr val="accent1"/>
                </a:buClr>
                <a:buFont typeface="Wingdings" pitchFamily="2" charset="2"/>
                <a:buNone/>
              </a:pPr>
              <a:r>
                <a:rPr lang="zh-CN" altLang="en-US" sz="2400" dirty="0">
                  <a:solidFill>
                    <a:srgbClr val="3333FF"/>
                  </a:solidFill>
                  <a:latin typeface="方正兰亭粗黑简体" pitchFamily="2" charset="-122"/>
                  <a:ea typeface="方正兰亭粗黑简体" pitchFamily="2" charset="-122"/>
                </a:rPr>
                <a:t>同步头</a:t>
              </a:r>
            </a:p>
          </p:txBody>
        </p:sp>
      </p:grpSp>
      <p:sp>
        <p:nvSpPr>
          <p:cNvPr id="11" name="标题 1"/>
          <p:cNvSpPr>
            <a:spLocks noGrp="1"/>
          </p:cNvSpPr>
          <p:nvPr>
            <p:ph type="title"/>
          </p:nvPr>
        </p:nvSpPr>
        <p:spPr>
          <a:xfrm>
            <a:off x="457200" y="189294"/>
            <a:ext cx="8229600" cy="1143000"/>
          </a:xfrm>
        </p:spPr>
        <p:txBody>
          <a:bodyPr>
            <a:normAutofit/>
          </a:bodyPr>
          <a:lstStyle/>
          <a:p>
            <a:pPr>
              <a:defRPr/>
            </a:pPr>
            <a:r>
              <a:rPr lang="zh-CN" altLang="en-US" sz="3600" dirty="0" smtClean="0">
                <a:solidFill>
                  <a:schemeClr val="bg1"/>
                </a:solidFill>
                <a:latin typeface="方正兰亭粗黑简体" pitchFamily="2" charset="-122"/>
                <a:ea typeface="方正兰亭粗黑简体" pitchFamily="2" charset="-122"/>
                <a:cs typeface="+mn-cs"/>
              </a:rPr>
              <a:t>二、</a:t>
            </a:r>
            <a:r>
              <a:rPr lang="zh-CN" altLang="en-US" sz="3600" dirty="0" smtClean="0">
                <a:solidFill>
                  <a:schemeClr val="bg1"/>
                </a:solidFill>
                <a:latin typeface="方正兰亭粗黑简体" pitchFamily="2" charset="-122"/>
                <a:ea typeface="方正兰亭粗黑简体" pitchFamily="2" charset="-122"/>
              </a:rPr>
              <a:t>自适应均衡器</a:t>
            </a:r>
            <a:r>
              <a:rPr lang="zh-CN" altLang="en-US" sz="3600" dirty="0" smtClean="0">
                <a:solidFill>
                  <a:schemeClr val="bg1"/>
                </a:solidFill>
                <a:latin typeface="方正兰亭粗黑简体" pitchFamily="2" charset="-122"/>
                <a:ea typeface="方正兰亭粗黑简体" pitchFamily="2" charset="-122"/>
                <a:cs typeface="+mn-cs"/>
              </a:rPr>
              <a:t>工作过程</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3"/>
          <p:cNvSpPr txBox="1">
            <a:spLocks noChangeArrowheads="1"/>
          </p:cNvSpPr>
          <p:nvPr/>
        </p:nvSpPr>
        <p:spPr bwMode="auto">
          <a:xfrm>
            <a:off x="571500" y="5486400"/>
            <a:ext cx="8072438" cy="728663"/>
          </a:xfrm>
          <a:prstGeom prst="rect">
            <a:avLst/>
          </a:prstGeom>
          <a:noFill/>
          <a:ln w="9525">
            <a:noFill/>
            <a:miter lim="800000"/>
            <a:headEnd/>
            <a:tailEnd/>
          </a:ln>
        </p:spPr>
        <p:txBody>
          <a:bodyPr/>
          <a:lstStyle/>
          <a:p>
            <a:pPr marL="298450" indent="-298450" algn="ctr" defTabSz="696913" eaLnBrk="0" hangingPunct="0">
              <a:lnSpc>
                <a:spcPct val="150000"/>
              </a:lnSpc>
              <a:spcBef>
                <a:spcPct val="20000"/>
              </a:spcBef>
              <a:buClr>
                <a:schemeClr val="accent1">
                  <a:lumMod val="75000"/>
                </a:schemeClr>
              </a:buClr>
              <a:buFont typeface="Wingdings" pitchFamily="2" charset="2"/>
              <a:buNone/>
              <a:defRPr/>
            </a:pPr>
            <a:r>
              <a:rPr lang="zh-CN" altLang="en-US" sz="2400" dirty="0" smtClean="0">
                <a:solidFill>
                  <a:srgbClr val="0000FF"/>
                </a:solidFill>
                <a:latin typeface="方正大黑简体" pitchFamily="2" charset="-122"/>
                <a:ea typeface="方正大黑简体" pitchFamily="2" charset="-122"/>
              </a:rPr>
              <a:t>典型数据通信</a:t>
            </a:r>
            <a:r>
              <a:rPr lang="zh-CN" altLang="en-US" sz="2400" dirty="0">
                <a:solidFill>
                  <a:srgbClr val="0000FF"/>
                </a:solidFill>
                <a:latin typeface="方正大黑简体" pitchFamily="2" charset="-122"/>
                <a:ea typeface="方正大黑简体" pitchFamily="2" charset="-122"/>
              </a:rPr>
              <a:t>帧结构</a:t>
            </a:r>
            <a:endParaRPr lang="en-US" altLang="zh-CN" sz="2400" dirty="0">
              <a:solidFill>
                <a:srgbClr val="0000FF"/>
              </a:solidFill>
              <a:latin typeface="方正大黑简体" pitchFamily="2" charset="-122"/>
              <a:ea typeface="方正大黑简体" pitchFamily="2" charset="-122"/>
            </a:endParaRPr>
          </a:p>
        </p:txBody>
      </p:sp>
      <p:sp>
        <p:nvSpPr>
          <p:cNvPr id="7173" name="Rectangle 2"/>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a:spcBef>
                <a:spcPct val="20000"/>
              </a:spcBef>
              <a:buClr>
                <a:schemeClr val="accent1"/>
              </a:buClr>
              <a:buFont typeface="Wingdings" pitchFamily="2" charset="2"/>
              <a:buChar char="Ø"/>
            </a:pPr>
            <a:endParaRPr lang="zh-CN" altLang="en-US"/>
          </a:p>
        </p:txBody>
      </p:sp>
      <p:graphicFrame>
        <p:nvGraphicFramePr>
          <p:cNvPr id="7170" name="Object 1"/>
          <p:cNvGraphicFramePr>
            <a:graphicFrameLocks noChangeAspect="1"/>
          </p:cNvGraphicFramePr>
          <p:nvPr/>
        </p:nvGraphicFramePr>
        <p:xfrm>
          <a:off x="1357313" y="1714515"/>
          <a:ext cx="6672262" cy="3857625"/>
        </p:xfrm>
        <a:graphic>
          <a:graphicData uri="http://schemas.openxmlformats.org/presentationml/2006/ole">
            <mc:AlternateContent xmlns:mc="http://schemas.openxmlformats.org/markup-compatibility/2006">
              <mc:Choice xmlns:v="urn:schemas-microsoft-com:vml" Requires="v">
                <p:oleObj spid="_x0000_s866353" name="Picture" r:id="rId4" imgW="4695825" imgH="2714625" progId="Word.Picture.8">
                  <p:embed/>
                </p:oleObj>
              </mc:Choice>
              <mc:Fallback>
                <p:oleObj name="Picture" r:id="rId4" imgW="4695825" imgH="2714625" progId="Word.Picture.8">
                  <p:embed/>
                  <p:pic>
                    <p:nvPicPr>
                      <p:cNvPr id="0"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57313" y="1714515"/>
                        <a:ext cx="6672262" cy="3857625"/>
                      </a:xfrm>
                      <a:prstGeom prst="rect">
                        <a:avLst/>
                      </a:prstGeom>
                      <a:solidFill>
                        <a:schemeClr val="bg1"/>
                      </a:solidFill>
                    </p:spPr>
                  </p:pic>
                </p:oleObj>
              </mc:Fallback>
            </mc:AlternateContent>
          </a:graphicData>
        </a:graphic>
      </p:graphicFrame>
      <p:sp>
        <p:nvSpPr>
          <p:cNvPr id="7" name="标题 1"/>
          <p:cNvSpPr>
            <a:spLocks noGrp="1"/>
          </p:cNvSpPr>
          <p:nvPr>
            <p:ph type="title"/>
          </p:nvPr>
        </p:nvSpPr>
        <p:spPr>
          <a:xfrm>
            <a:off x="457200" y="189294"/>
            <a:ext cx="8229600" cy="1143000"/>
          </a:xfrm>
        </p:spPr>
        <p:txBody>
          <a:bodyPr>
            <a:normAutofit/>
          </a:bodyPr>
          <a:lstStyle/>
          <a:p>
            <a:pPr>
              <a:defRPr/>
            </a:pPr>
            <a:r>
              <a:rPr lang="zh-CN" altLang="en-US" sz="3600" dirty="0" smtClean="0">
                <a:solidFill>
                  <a:schemeClr val="bg1"/>
                </a:solidFill>
                <a:latin typeface="方正兰亭粗黑简体" pitchFamily="2" charset="-122"/>
                <a:ea typeface="方正兰亭粗黑简体" pitchFamily="2" charset="-122"/>
                <a:cs typeface="+mn-cs"/>
              </a:rPr>
              <a:t>二、</a:t>
            </a:r>
            <a:r>
              <a:rPr lang="zh-CN" altLang="en-US" sz="3600" dirty="0" smtClean="0">
                <a:solidFill>
                  <a:schemeClr val="bg1"/>
                </a:solidFill>
                <a:latin typeface="方正兰亭粗黑简体" pitchFamily="2" charset="-122"/>
                <a:ea typeface="方正兰亭粗黑简体" pitchFamily="2" charset="-122"/>
              </a:rPr>
              <a:t>自适应均衡器</a:t>
            </a:r>
            <a:r>
              <a:rPr lang="zh-CN" altLang="en-US" sz="3600" dirty="0" smtClean="0">
                <a:solidFill>
                  <a:schemeClr val="bg1"/>
                </a:solidFill>
                <a:latin typeface="方正兰亭粗黑简体" pitchFamily="2" charset="-122"/>
                <a:ea typeface="方正兰亭粗黑简体" pitchFamily="2" charset="-122"/>
                <a:cs typeface="+mn-cs"/>
              </a:rPr>
              <a:t>工作过程</a:t>
            </a:r>
          </a:p>
        </p:txBody>
      </p:sp>
      <p:sp>
        <p:nvSpPr>
          <p:cNvPr id="8" name="矩形 7"/>
          <p:cNvSpPr/>
          <p:nvPr/>
        </p:nvSpPr>
        <p:spPr>
          <a:xfrm>
            <a:off x="928662" y="1296338"/>
            <a:ext cx="2896947" cy="668901"/>
          </a:xfrm>
          <a:prstGeom prst="rect">
            <a:avLst/>
          </a:prstGeom>
        </p:spPr>
        <p:txBody>
          <a:bodyPr wrap="none">
            <a:spAutoFit/>
          </a:bodyPr>
          <a:lstStyle/>
          <a:p>
            <a:pPr>
              <a:lnSpc>
                <a:spcPct val="150000"/>
              </a:lnSpc>
              <a:buClr>
                <a:schemeClr val="accent1">
                  <a:lumMod val="75000"/>
                </a:schemeClr>
              </a:buClr>
              <a:buNone/>
              <a:defRPr/>
            </a:pPr>
            <a:r>
              <a:rPr lang="en-US" altLang="zh-CN" sz="2800" dirty="0" smtClean="0">
                <a:solidFill>
                  <a:srgbClr val="000099"/>
                </a:solidFill>
                <a:latin typeface="方正大黑简体" pitchFamily="2" charset="-122"/>
                <a:ea typeface="方正大黑简体" pitchFamily="2" charset="-122"/>
              </a:rPr>
              <a:t>2</a:t>
            </a:r>
            <a:r>
              <a:rPr lang="zh-CN" altLang="en-US" sz="2800" dirty="0" smtClean="0">
                <a:solidFill>
                  <a:srgbClr val="000099"/>
                </a:solidFill>
                <a:latin typeface="方正大黑简体" pitchFamily="2" charset="-122"/>
                <a:ea typeface="方正大黑简体" pitchFamily="2" charset="-122"/>
              </a:rPr>
              <a:t>、发送数据格式</a:t>
            </a:r>
            <a:endParaRPr lang="en-US" altLang="zh-CN" sz="2800" dirty="0" smtClean="0">
              <a:solidFill>
                <a:srgbClr val="000099"/>
              </a:solidFill>
              <a:latin typeface="方正大黑简体" pitchFamily="2" charset="-122"/>
              <a:ea typeface="方正大黑简体" pitchFamily="2" charset="-122"/>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Rectangle 2"/>
          <p:cNvSpPr>
            <a:spLocks noGrp="1" noChangeArrowheads="1"/>
          </p:cNvSpPr>
          <p:nvPr>
            <p:ph type="title"/>
          </p:nvPr>
        </p:nvSpPr>
        <p:spPr>
          <a:xfrm>
            <a:off x="685800" y="130175"/>
            <a:ext cx="7315200" cy="914400"/>
          </a:xfrm>
        </p:spPr>
        <p:txBody>
          <a:bodyPr/>
          <a:lstStyle/>
          <a:p>
            <a:pPr eaLnBrk="1" hangingPunct="1"/>
            <a:r>
              <a:rPr lang="en-US" altLang="zh-CN" dirty="0" smtClean="0"/>
              <a:t> </a:t>
            </a:r>
          </a:p>
        </p:txBody>
      </p:sp>
      <p:sp>
        <p:nvSpPr>
          <p:cNvPr id="45060" name="Rectangle 3"/>
          <p:cNvSpPr>
            <a:spLocks noGrp="1" noChangeArrowheads="1"/>
          </p:cNvSpPr>
          <p:nvPr>
            <p:ph type="body" idx="1"/>
          </p:nvPr>
        </p:nvSpPr>
        <p:spPr>
          <a:xfrm>
            <a:off x="571500" y="1285875"/>
            <a:ext cx="7772400" cy="5181600"/>
          </a:xfrm>
        </p:spPr>
        <p:txBody>
          <a:bodyPr/>
          <a:lstStyle/>
          <a:p>
            <a:pPr eaLnBrk="1" hangingPunct="1">
              <a:lnSpc>
                <a:spcPct val="150000"/>
              </a:lnSpc>
              <a:buClr>
                <a:schemeClr val="accent1">
                  <a:lumMod val="75000"/>
                </a:schemeClr>
              </a:buClr>
              <a:buNone/>
              <a:defRPr/>
            </a:pPr>
            <a:r>
              <a:rPr lang="en-US" altLang="zh-CN" sz="3200" dirty="0" smtClean="0">
                <a:latin typeface="方正大黑简体" pitchFamily="2" charset="-122"/>
                <a:ea typeface="方正大黑简体" pitchFamily="2" charset="-122"/>
              </a:rPr>
              <a:t> </a:t>
            </a:r>
          </a:p>
          <a:p>
            <a:pPr eaLnBrk="1" hangingPunct="1">
              <a:lnSpc>
                <a:spcPct val="150000"/>
              </a:lnSpc>
              <a:buClr>
                <a:srgbClr val="3333FF"/>
              </a:buClr>
              <a:buFont typeface="Wingdings" pitchFamily="2" charset="2"/>
              <a:buChar char="p"/>
              <a:defRPr/>
            </a:pPr>
            <a:r>
              <a:rPr lang="zh-CN" altLang="en-US" sz="2400" dirty="0" smtClean="0">
                <a:solidFill>
                  <a:srgbClr val="0000FF"/>
                </a:solidFill>
                <a:latin typeface="方正大黑简体" pitchFamily="2" charset="-122"/>
                <a:ea typeface="方正大黑简体" pitchFamily="2" charset="-122"/>
              </a:rPr>
              <a:t>实例分析：</a:t>
            </a:r>
            <a:r>
              <a:rPr lang="en-US" altLang="zh-CN" sz="2400" dirty="0" smtClean="0">
                <a:solidFill>
                  <a:srgbClr val="0000FF"/>
                </a:solidFill>
                <a:latin typeface="方正大黑简体" pitchFamily="2" charset="-122"/>
                <a:ea typeface="方正大黑简体" pitchFamily="2" charset="-122"/>
              </a:rPr>
              <a:t>GSM</a:t>
            </a:r>
            <a:r>
              <a:rPr lang="zh-CN" altLang="en-US" sz="2400" dirty="0" smtClean="0">
                <a:solidFill>
                  <a:srgbClr val="0000FF"/>
                </a:solidFill>
                <a:latin typeface="方正大黑简体" pitchFamily="2" charset="-122"/>
                <a:ea typeface="方正大黑简体" pitchFamily="2" charset="-122"/>
              </a:rPr>
              <a:t>系统帧结构</a:t>
            </a:r>
          </a:p>
        </p:txBody>
      </p:sp>
      <p:sp>
        <p:nvSpPr>
          <p:cNvPr id="8199" name="Rectangle 7"/>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8194" name="Object 6"/>
          <p:cNvGraphicFramePr>
            <a:graphicFrameLocks noChangeAspect="1"/>
          </p:cNvGraphicFramePr>
          <p:nvPr/>
        </p:nvGraphicFramePr>
        <p:xfrm>
          <a:off x="285720" y="3000372"/>
          <a:ext cx="8378825" cy="2214562"/>
        </p:xfrm>
        <a:graphic>
          <a:graphicData uri="http://schemas.openxmlformats.org/presentationml/2006/ole">
            <mc:AlternateContent xmlns:mc="http://schemas.openxmlformats.org/markup-compatibility/2006">
              <mc:Choice xmlns:v="urn:schemas-microsoft-com:vml" Requires="v">
                <p:oleObj spid="_x0000_s867377" name="Visio" r:id="rId3" imgW="7465332" imgH="1967124" progId="Visio.Drawing.11">
                  <p:embed/>
                </p:oleObj>
              </mc:Choice>
              <mc:Fallback>
                <p:oleObj name="Visio" r:id="rId3" imgW="7465332" imgH="1967124" progId="Visio.Drawing.11">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5720" y="3000372"/>
                        <a:ext cx="8378825" cy="2214562"/>
                      </a:xfrm>
                      <a:prstGeom prst="rect">
                        <a:avLst/>
                      </a:prstGeom>
                      <a:solidFill>
                        <a:schemeClr val="bg1"/>
                      </a:solidFill>
                    </p:spPr>
                  </p:pic>
                </p:oleObj>
              </mc:Fallback>
            </mc:AlternateContent>
          </a:graphicData>
        </a:graphic>
      </p:graphicFrame>
      <p:sp>
        <p:nvSpPr>
          <p:cNvPr id="8200" name="椭圆 6"/>
          <p:cNvSpPr>
            <a:spLocks noChangeArrowheads="1"/>
          </p:cNvSpPr>
          <p:nvPr/>
        </p:nvSpPr>
        <p:spPr bwMode="auto">
          <a:xfrm>
            <a:off x="3857595" y="3143247"/>
            <a:ext cx="1428750" cy="785812"/>
          </a:xfrm>
          <a:prstGeom prst="ellipse">
            <a:avLst/>
          </a:prstGeom>
          <a:noFill/>
          <a:ln w="31750" algn="ctr">
            <a:solidFill>
              <a:srgbClr val="FF0000"/>
            </a:solidFill>
            <a:round/>
            <a:headEnd/>
            <a:tailEnd/>
          </a:ln>
        </p:spPr>
        <p:txBody>
          <a:bodyPr/>
          <a:lstStyle/>
          <a:p>
            <a:pPr marL="298450" indent="-298450" defTabSz="696913">
              <a:spcBef>
                <a:spcPct val="20000"/>
              </a:spcBef>
              <a:buClr>
                <a:schemeClr val="accent1"/>
              </a:buClr>
              <a:buFont typeface="Wingdings" pitchFamily="2" charset="2"/>
              <a:buChar char="Ø"/>
            </a:pPr>
            <a:endParaRPr lang="zh-CN" altLang="en-US"/>
          </a:p>
        </p:txBody>
      </p:sp>
      <p:sp>
        <p:nvSpPr>
          <p:cNvPr id="8201" name="椭圆 6"/>
          <p:cNvSpPr>
            <a:spLocks noChangeArrowheads="1"/>
          </p:cNvSpPr>
          <p:nvPr/>
        </p:nvSpPr>
        <p:spPr bwMode="auto">
          <a:xfrm>
            <a:off x="3571845" y="4571997"/>
            <a:ext cx="1866900" cy="785812"/>
          </a:xfrm>
          <a:prstGeom prst="ellipse">
            <a:avLst/>
          </a:prstGeom>
          <a:noFill/>
          <a:ln w="31750" algn="ctr">
            <a:solidFill>
              <a:srgbClr val="FF0000"/>
            </a:solidFill>
            <a:round/>
            <a:headEnd/>
            <a:tailEnd/>
          </a:ln>
        </p:spPr>
        <p:txBody>
          <a:bodyPr/>
          <a:lstStyle/>
          <a:p>
            <a:pPr marL="298450" indent="-298450" defTabSz="696913">
              <a:spcBef>
                <a:spcPct val="20000"/>
              </a:spcBef>
              <a:buClr>
                <a:schemeClr val="accent1"/>
              </a:buClr>
              <a:buFont typeface="Wingdings" pitchFamily="2" charset="2"/>
              <a:buChar char="Ø"/>
            </a:pPr>
            <a:endParaRPr lang="zh-CN" altLang="en-US"/>
          </a:p>
        </p:txBody>
      </p:sp>
      <p:sp>
        <p:nvSpPr>
          <p:cNvPr id="10" name="标题 1"/>
          <p:cNvSpPr txBox="1">
            <a:spLocks/>
          </p:cNvSpPr>
          <p:nvPr/>
        </p:nvSpPr>
        <p:spPr>
          <a:xfrm>
            <a:off x="457200" y="189294"/>
            <a:ext cx="8229600" cy="114300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zh-CN" altLang="en-US" sz="3600" b="0" i="0" u="none" strike="noStrike" kern="1200" cap="none" spc="0" normalizeH="0" baseline="0" noProof="0" dirty="0" smtClean="0">
                <a:ln>
                  <a:noFill/>
                </a:ln>
                <a:solidFill>
                  <a:schemeClr val="bg1"/>
                </a:solidFill>
                <a:effectLst/>
                <a:uLnTx/>
                <a:uFillTx/>
                <a:latin typeface="方正兰亭粗黑简体" pitchFamily="2" charset="-122"/>
                <a:ea typeface="方正兰亭粗黑简体" pitchFamily="2" charset="-122"/>
                <a:cs typeface="+mn-cs"/>
              </a:rPr>
              <a:t>二、</a:t>
            </a:r>
            <a:r>
              <a:rPr kumimoji="0" lang="zh-CN" altLang="en-US" sz="3600" b="0" i="0" u="none" strike="noStrike" kern="1200" cap="none" spc="0" normalizeH="0" baseline="0" noProof="0" dirty="0" smtClean="0">
                <a:ln>
                  <a:noFill/>
                </a:ln>
                <a:solidFill>
                  <a:schemeClr val="bg1"/>
                </a:solidFill>
                <a:effectLst/>
                <a:uLnTx/>
                <a:uFillTx/>
                <a:latin typeface="方正兰亭粗黑简体" pitchFamily="2" charset="-122"/>
                <a:ea typeface="方正兰亭粗黑简体" pitchFamily="2" charset="-122"/>
                <a:cs typeface="+mj-cs"/>
              </a:rPr>
              <a:t>自适应均衡器</a:t>
            </a:r>
            <a:r>
              <a:rPr kumimoji="0" lang="zh-CN" altLang="en-US" sz="3600" b="0" i="0" u="none" strike="noStrike" kern="1200" cap="none" spc="0" normalizeH="0" baseline="0" noProof="0" dirty="0" smtClean="0">
                <a:ln>
                  <a:noFill/>
                </a:ln>
                <a:solidFill>
                  <a:schemeClr val="bg1"/>
                </a:solidFill>
                <a:effectLst/>
                <a:uLnTx/>
                <a:uFillTx/>
                <a:latin typeface="方正兰亭粗黑简体" pitchFamily="2" charset="-122"/>
                <a:ea typeface="方正兰亭粗黑简体" pitchFamily="2" charset="-122"/>
                <a:cs typeface="+mn-cs"/>
              </a:rPr>
              <a:t>工作过程</a:t>
            </a:r>
          </a:p>
        </p:txBody>
      </p:sp>
      <p:sp>
        <p:nvSpPr>
          <p:cNvPr id="11" name="矩形 10"/>
          <p:cNvSpPr/>
          <p:nvPr/>
        </p:nvSpPr>
        <p:spPr>
          <a:xfrm>
            <a:off x="642910" y="1296338"/>
            <a:ext cx="2896947" cy="668901"/>
          </a:xfrm>
          <a:prstGeom prst="rect">
            <a:avLst/>
          </a:prstGeom>
        </p:spPr>
        <p:txBody>
          <a:bodyPr wrap="none">
            <a:spAutoFit/>
          </a:bodyPr>
          <a:lstStyle/>
          <a:p>
            <a:pPr>
              <a:lnSpc>
                <a:spcPct val="150000"/>
              </a:lnSpc>
              <a:buClr>
                <a:schemeClr val="accent1">
                  <a:lumMod val="75000"/>
                </a:schemeClr>
              </a:buClr>
              <a:buNone/>
              <a:defRPr/>
            </a:pPr>
            <a:r>
              <a:rPr lang="en-US" altLang="zh-CN" sz="2800" dirty="0" smtClean="0">
                <a:solidFill>
                  <a:srgbClr val="000099"/>
                </a:solidFill>
                <a:latin typeface="方正大黑简体" pitchFamily="2" charset="-122"/>
                <a:ea typeface="方正大黑简体" pitchFamily="2" charset="-122"/>
              </a:rPr>
              <a:t>2</a:t>
            </a:r>
            <a:r>
              <a:rPr lang="zh-CN" altLang="en-US" sz="2800" dirty="0" smtClean="0">
                <a:solidFill>
                  <a:srgbClr val="000099"/>
                </a:solidFill>
                <a:latin typeface="方正大黑简体" pitchFamily="2" charset="-122"/>
                <a:ea typeface="方正大黑简体" pitchFamily="2" charset="-122"/>
              </a:rPr>
              <a:t>、发送数据格式</a:t>
            </a:r>
            <a:endParaRPr lang="en-US" altLang="zh-CN" sz="2800" dirty="0" smtClean="0">
              <a:solidFill>
                <a:srgbClr val="000099"/>
              </a:solidFill>
              <a:latin typeface="方正大黑简体" pitchFamily="2" charset="-122"/>
              <a:ea typeface="方正大黑简体" pitchFamily="2" charset="-122"/>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标题 1"/>
          <p:cNvSpPr>
            <a:spLocks noGrp="1"/>
          </p:cNvSpPr>
          <p:nvPr>
            <p:ph type="title"/>
          </p:nvPr>
        </p:nvSpPr>
        <p:spPr>
          <a:xfrm>
            <a:off x="285720" y="1357298"/>
            <a:ext cx="8229600" cy="857248"/>
          </a:xfrm>
        </p:spPr>
        <p:txBody>
          <a:bodyPr>
            <a:normAutofit/>
          </a:bodyPr>
          <a:lstStyle/>
          <a:p>
            <a:pPr algn="l">
              <a:defRPr/>
            </a:pPr>
            <a:r>
              <a:rPr lang="en-US" altLang="zh-CN" sz="2800" dirty="0" smtClean="0">
                <a:solidFill>
                  <a:srgbClr val="000099"/>
                </a:solidFill>
                <a:latin typeface="方正大黑简体" pitchFamily="2" charset="-122"/>
                <a:ea typeface="方正大黑简体" pitchFamily="2" charset="-122"/>
                <a:cs typeface="+mn-cs"/>
              </a:rPr>
              <a:t>3</a:t>
            </a:r>
            <a:r>
              <a:rPr lang="zh-CN" altLang="en-US" sz="2800" dirty="0" smtClean="0">
                <a:solidFill>
                  <a:srgbClr val="000099"/>
                </a:solidFill>
                <a:latin typeface="方正大黑简体" pitchFamily="2" charset="-122"/>
                <a:ea typeface="方正大黑简体" pitchFamily="2" charset="-122"/>
                <a:cs typeface="+mn-cs"/>
              </a:rPr>
              <a:t>、需要进一步思考的问题</a:t>
            </a:r>
          </a:p>
        </p:txBody>
      </p:sp>
      <p:sp>
        <p:nvSpPr>
          <p:cNvPr id="3" name="竖排文字占位符 2"/>
          <p:cNvSpPr>
            <a:spLocks noGrp="1"/>
          </p:cNvSpPr>
          <p:nvPr>
            <p:ph type="body" orient="vert" idx="1"/>
          </p:nvPr>
        </p:nvSpPr>
        <p:spPr>
          <a:xfrm>
            <a:off x="714348" y="2071678"/>
            <a:ext cx="7786688" cy="4114800"/>
          </a:xfrm>
        </p:spPr>
        <p:txBody>
          <a:bodyPr vert="horz">
            <a:normAutofit/>
          </a:bodyPr>
          <a:lstStyle/>
          <a:p>
            <a:pPr>
              <a:lnSpc>
                <a:spcPct val="150000"/>
              </a:lnSpc>
              <a:spcBef>
                <a:spcPts val="600"/>
              </a:spcBef>
              <a:buClr>
                <a:srgbClr val="3333FF"/>
              </a:buClr>
              <a:buFont typeface="Wingdings" pitchFamily="2" charset="2"/>
              <a:buChar char="p"/>
              <a:defRPr/>
            </a:pPr>
            <a:r>
              <a:rPr lang="zh-CN" altLang="en-US" sz="2400" dirty="0" smtClean="0">
                <a:solidFill>
                  <a:srgbClr val="0000FF"/>
                </a:solidFill>
                <a:latin typeface="方正大黑简体" pitchFamily="2" charset="-122"/>
                <a:ea typeface="方正大黑简体" pitchFamily="2" charset="-122"/>
              </a:rPr>
              <a:t> </a:t>
            </a:r>
            <a:r>
              <a:rPr lang="zh-CN" altLang="en-US" sz="2400" dirty="0" smtClean="0">
                <a:solidFill>
                  <a:srgbClr val="FF0000"/>
                </a:solidFill>
                <a:latin typeface="方正大黑简体" pitchFamily="2" charset="-122"/>
                <a:ea typeface="方正大黑简体" pitchFamily="2" charset="-122"/>
              </a:rPr>
              <a:t>问题</a:t>
            </a:r>
            <a:r>
              <a:rPr lang="en-US" altLang="zh-CN" sz="2400" dirty="0" smtClean="0">
                <a:solidFill>
                  <a:srgbClr val="FF0000"/>
                </a:solidFill>
                <a:latin typeface="方正大黑简体" pitchFamily="2" charset="-122"/>
                <a:ea typeface="方正大黑简体" pitchFamily="2" charset="-122"/>
              </a:rPr>
              <a:t>1</a:t>
            </a:r>
            <a:r>
              <a:rPr lang="zh-CN" altLang="en-US" sz="2400" dirty="0" smtClean="0">
                <a:solidFill>
                  <a:srgbClr val="FF0000"/>
                </a:solidFill>
                <a:latin typeface="方正大黑简体" pitchFamily="2" charset="-122"/>
                <a:ea typeface="方正大黑简体" pitchFamily="2" charset="-122"/>
              </a:rPr>
              <a:t>：</a:t>
            </a:r>
            <a:r>
              <a:rPr lang="zh-CN" altLang="en-US" sz="2400" dirty="0" smtClean="0">
                <a:solidFill>
                  <a:srgbClr val="0000FF"/>
                </a:solidFill>
                <a:latin typeface="方正大黑简体" pitchFamily="2" charset="-122"/>
                <a:ea typeface="方正大黑简体" pitchFamily="2" charset="-122"/>
              </a:rPr>
              <a:t>训练序列的长度会影响什么？</a:t>
            </a:r>
            <a:endParaRPr lang="en-US" altLang="zh-CN" sz="2400" dirty="0" smtClean="0">
              <a:solidFill>
                <a:srgbClr val="0000FF"/>
              </a:solidFill>
              <a:latin typeface="方正大黑简体" pitchFamily="2" charset="-122"/>
              <a:ea typeface="方正大黑简体" pitchFamily="2" charset="-122"/>
            </a:endParaRPr>
          </a:p>
          <a:p>
            <a:pPr lvl="1">
              <a:lnSpc>
                <a:spcPct val="150000"/>
              </a:lnSpc>
              <a:spcBef>
                <a:spcPts val="600"/>
              </a:spcBef>
              <a:buClr>
                <a:srgbClr val="FF0000"/>
              </a:buClr>
              <a:buFont typeface="Wingdings" pitchFamily="2" charset="2"/>
              <a:buChar char="ü"/>
              <a:defRPr/>
            </a:pPr>
            <a:r>
              <a:rPr lang="zh-CN" altLang="en-US" sz="2400" dirty="0" smtClean="0">
                <a:solidFill>
                  <a:srgbClr val="0000FF"/>
                </a:solidFill>
                <a:latin typeface="方正大黑简体" pitchFamily="2" charset="-122"/>
                <a:ea typeface="方正大黑简体" pitchFamily="2" charset="-122"/>
              </a:rPr>
              <a:t>训练序列的长度影响均衡效果</a:t>
            </a:r>
            <a:endParaRPr lang="en-US" altLang="zh-CN" sz="2400" dirty="0" smtClean="0">
              <a:solidFill>
                <a:srgbClr val="0000FF"/>
              </a:solidFill>
              <a:latin typeface="方正大黑简体" pitchFamily="2" charset="-122"/>
              <a:ea typeface="方正大黑简体" pitchFamily="2" charset="-122"/>
            </a:endParaRPr>
          </a:p>
          <a:p>
            <a:pPr>
              <a:lnSpc>
                <a:spcPct val="150000"/>
              </a:lnSpc>
              <a:spcBef>
                <a:spcPts val="600"/>
              </a:spcBef>
              <a:buClr>
                <a:srgbClr val="3333FF"/>
              </a:buClr>
              <a:buFont typeface="Wingdings" pitchFamily="2" charset="2"/>
              <a:buChar char="p"/>
              <a:defRPr/>
            </a:pPr>
            <a:r>
              <a:rPr lang="zh-CN" altLang="en-US" sz="2400" dirty="0" smtClean="0">
                <a:solidFill>
                  <a:srgbClr val="FF0000"/>
                </a:solidFill>
                <a:latin typeface="方正大黑简体" pitchFamily="2" charset="-122"/>
                <a:ea typeface="方正大黑简体" pitchFamily="2" charset="-122"/>
              </a:rPr>
              <a:t> 问题</a:t>
            </a:r>
            <a:r>
              <a:rPr lang="en-US" altLang="zh-CN" sz="2400" dirty="0" smtClean="0">
                <a:solidFill>
                  <a:srgbClr val="FF0000"/>
                </a:solidFill>
                <a:latin typeface="方正大黑简体" pitchFamily="2" charset="-122"/>
                <a:ea typeface="方正大黑简体" pitchFamily="2" charset="-122"/>
              </a:rPr>
              <a:t>2</a:t>
            </a:r>
            <a:r>
              <a:rPr lang="zh-CN" altLang="en-US" sz="2400" dirty="0" smtClean="0">
                <a:solidFill>
                  <a:srgbClr val="FF0000"/>
                </a:solidFill>
                <a:latin typeface="方正大黑简体" pitchFamily="2" charset="-122"/>
                <a:ea typeface="方正大黑简体" pitchFamily="2" charset="-122"/>
              </a:rPr>
              <a:t>：</a:t>
            </a:r>
            <a:r>
              <a:rPr lang="zh-CN" altLang="en-US" sz="2400" dirty="0" smtClean="0">
                <a:solidFill>
                  <a:srgbClr val="0000FF"/>
                </a:solidFill>
                <a:latin typeface="方正大黑简体" pitchFamily="2" charset="-122"/>
                <a:ea typeface="方正大黑简体" pitchFamily="2" charset="-122"/>
              </a:rPr>
              <a:t>训练序列的长度变长，均衡器性能变好，缺点是什么？</a:t>
            </a:r>
            <a:endParaRPr lang="en-US" altLang="zh-CN" sz="2400" dirty="0" smtClean="0">
              <a:solidFill>
                <a:srgbClr val="0000FF"/>
              </a:solidFill>
              <a:latin typeface="方正大黑简体" pitchFamily="2" charset="-122"/>
              <a:ea typeface="方正大黑简体" pitchFamily="2" charset="-122"/>
            </a:endParaRPr>
          </a:p>
          <a:p>
            <a:pPr lvl="1">
              <a:lnSpc>
                <a:spcPct val="150000"/>
              </a:lnSpc>
              <a:spcBef>
                <a:spcPts val="600"/>
              </a:spcBef>
              <a:buClr>
                <a:srgbClr val="FF0000"/>
              </a:buClr>
              <a:buFont typeface="Wingdings" pitchFamily="2" charset="2"/>
              <a:buChar char="ü"/>
              <a:defRPr/>
            </a:pPr>
            <a:r>
              <a:rPr lang="zh-CN" altLang="en-US" sz="2400" dirty="0" smtClean="0">
                <a:solidFill>
                  <a:srgbClr val="0000FF"/>
                </a:solidFill>
                <a:latin typeface="方正大黑简体" pitchFamily="2" charset="-122"/>
                <a:ea typeface="方正大黑简体" pitchFamily="2" charset="-122"/>
              </a:rPr>
              <a:t> 数据传输效率下降（因为训练序列不携带有效信息）</a:t>
            </a:r>
            <a:endParaRPr lang="en-US" altLang="zh-CN" sz="2400" dirty="0" smtClean="0">
              <a:solidFill>
                <a:srgbClr val="0000FF"/>
              </a:solidFill>
              <a:latin typeface="方正大黑简体" pitchFamily="2" charset="-122"/>
              <a:ea typeface="方正大黑简体" pitchFamily="2" charset="-122"/>
            </a:endParaRPr>
          </a:p>
          <a:p>
            <a:pPr lvl="1">
              <a:lnSpc>
                <a:spcPct val="150000"/>
              </a:lnSpc>
              <a:spcBef>
                <a:spcPts val="600"/>
              </a:spcBef>
              <a:buClr>
                <a:srgbClr val="FF0000"/>
              </a:buClr>
              <a:buFont typeface="Wingdings" pitchFamily="2" charset="2"/>
              <a:buChar char="ü"/>
              <a:defRPr/>
            </a:pPr>
            <a:r>
              <a:rPr lang="zh-CN" altLang="en-US" sz="2400" dirty="0" smtClean="0">
                <a:solidFill>
                  <a:srgbClr val="0000FF"/>
                </a:solidFill>
                <a:latin typeface="方正大黑简体" pitchFamily="2" charset="-122"/>
                <a:ea typeface="方正大黑简体" pitchFamily="2" charset="-122"/>
              </a:rPr>
              <a:t> 需要在性能与数据传输效率之间进行折衷</a:t>
            </a:r>
          </a:p>
        </p:txBody>
      </p:sp>
      <p:sp>
        <p:nvSpPr>
          <p:cNvPr id="5" name="标题 1"/>
          <p:cNvSpPr txBox="1">
            <a:spLocks/>
          </p:cNvSpPr>
          <p:nvPr/>
        </p:nvSpPr>
        <p:spPr>
          <a:xfrm>
            <a:off x="457200" y="189294"/>
            <a:ext cx="8229600" cy="114300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zh-CN" altLang="en-US" sz="3600" b="0" i="0" u="none" strike="noStrike" kern="1200" cap="none" spc="0" normalizeH="0" baseline="0" noProof="0" dirty="0" smtClean="0">
                <a:ln>
                  <a:noFill/>
                </a:ln>
                <a:solidFill>
                  <a:schemeClr val="bg1"/>
                </a:solidFill>
                <a:effectLst/>
                <a:uLnTx/>
                <a:uFillTx/>
                <a:latin typeface="方正兰亭粗黑简体" pitchFamily="2" charset="-122"/>
                <a:ea typeface="方正兰亭粗黑简体" pitchFamily="2" charset="-122"/>
                <a:cs typeface="+mn-cs"/>
              </a:rPr>
              <a:t>二、</a:t>
            </a:r>
            <a:r>
              <a:rPr kumimoji="0" lang="zh-CN" altLang="en-US" sz="3600" b="0" i="0" u="none" strike="noStrike" kern="1200" cap="none" spc="0" normalizeH="0" baseline="0" noProof="0" dirty="0" smtClean="0">
                <a:ln>
                  <a:noFill/>
                </a:ln>
                <a:solidFill>
                  <a:schemeClr val="bg1"/>
                </a:solidFill>
                <a:effectLst/>
                <a:uLnTx/>
                <a:uFillTx/>
                <a:latin typeface="方正兰亭粗黑简体" pitchFamily="2" charset="-122"/>
                <a:ea typeface="方正兰亭粗黑简体" pitchFamily="2" charset="-122"/>
                <a:cs typeface="+mj-cs"/>
              </a:rPr>
              <a:t>自适应均衡器</a:t>
            </a:r>
            <a:r>
              <a:rPr kumimoji="0" lang="zh-CN" altLang="en-US" sz="3600" b="0" i="0" u="none" strike="noStrike" kern="1200" cap="none" spc="0" normalizeH="0" baseline="0" noProof="0" dirty="0" smtClean="0">
                <a:ln>
                  <a:noFill/>
                </a:ln>
                <a:solidFill>
                  <a:schemeClr val="bg1"/>
                </a:solidFill>
                <a:effectLst/>
                <a:uLnTx/>
                <a:uFillTx/>
                <a:latin typeface="方正兰亭粗黑简体" pitchFamily="2" charset="-122"/>
                <a:ea typeface="方正兰亭粗黑简体" pitchFamily="2" charset="-122"/>
                <a:cs typeface="+mn-cs"/>
              </a:rPr>
              <a:t>工作过程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 calcmode="lin" valueType="num">
                                      <p:cBhvr additive="base">
                                        <p:cTn id="12"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 calcmode="lin" valueType="num">
                                      <p:cBhvr additive="base">
                                        <p:cTn id="18"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0" presetID="2" presetClass="entr" presetSubtype="4" fill="hold" nodeType="with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 calcmode="lin" valueType="num">
                                      <p:cBhvr additive="base">
                                        <p:cTn id="22"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竖排文字占位符 2"/>
          <p:cNvSpPr>
            <a:spLocks noGrp="1"/>
          </p:cNvSpPr>
          <p:nvPr>
            <p:ph type="body" orient="vert" idx="1"/>
          </p:nvPr>
        </p:nvSpPr>
        <p:spPr>
          <a:xfrm>
            <a:off x="714375" y="2100282"/>
            <a:ext cx="8143875" cy="4114800"/>
          </a:xfrm>
        </p:spPr>
        <p:txBody>
          <a:bodyPr vert="horz">
            <a:normAutofit/>
          </a:bodyPr>
          <a:lstStyle/>
          <a:p>
            <a:pPr>
              <a:lnSpc>
                <a:spcPct val="150000"/>
              </a:lnSpc>
              <a:spcBef>
                <a:spcPts val="600"/>
              </a:spcBef>
              <a:buClr>
                <a:srgbClr val="3333FF"/>
              </a:buClr>
              <a:buFont typeface="Wingdings" pitchFamily="2" charset="2"/>
              <a:buChar char="p"/>
              <a:defRPr/>
            </a:pPr>
            <a:r>
              <a:rPr lang="zh-CN" altLang="en-US" sz="2400" dirty="0" smtClean="0">
                <a:solidFill>
                  <a:srgbClr val="FF0000"/>
                </a:solidFill>
                <a:latin typeface="方正大黑简体" pitchFamily="2" charset="-122"/>
                <a:ea typeface="方正大黑简体" pitchFamily="2" charset="-122"/>
              </a:rPr>
              <a:t> 问题</a:t>
            </a:r>
            <a:r>
              <a:rPr lang="en-US" altLang="zh-CN" sz="2400" dirty="0" smtClean="0">
                <a:solidFill>
                  <a:srgbClr val="FF0000"/>
                </a:solidFill>
                <a:latin typeface="方正大黑简体" pitchFamily="2" charset="-122"/>
                <a:ea typeface="方正大黑简体" pitchFamily="2" charset="-122"/>
              </a:rPr>
              <a:t>3</a:t>
            </a:r>
            <a:r>
              <a:rPr lang="zh-CN" altLang="en-US" sz="2400" dirty="0" smtClean="0">
                <a:solidFill>
                  <a:srgbClr val="FF0000"/>
                </a:solidFill>
                <a:latin typeface="方正大黑简体" pitchFamily="2" charset="-122"/>
                <a:ea typeface="方正大黑简体" pitchFamily="2" charset="-122"/>
              </a:rPr>
              <a:t>：</a:t>
            </a:r>
            <a:r>
              <a:rPr lang="zh-CN" altLang="en-US" sz="2400" dirty="0" smtClean="0">
                <a:solidFill>
                  <a:srgbClr val="0000FF"/>
                </a:solidFill>
                <a:latin typeface="方正大黑简体" pitchFamily="2" charset="-122"/>
                <a:ea typeface="方正大黑简体" pitchFamily="2" charset="-122"/>
              </a:rPr>
              <a:t>为什么要不断地发送训练序列，发一次不行吗？</a:t>
            </a:r>
            <a:endParaRPr lang="en-US" altLang="zh-CN" sz="2400" dirty="0" smtClean="0">
              <a:solidFill>
                <a:srgbClr val="0000FF"/>
              </a:solidFill>
              <a:latin typeface="方正大黑简体" pitchFamily="2" charset="-122"/>
              <a:ea typeface="方正大黑简体" pitchFamily="2" charset="-122"/>
            </a:endParaRPr>
          </a:p>
          <a:p>
            <a:pPr lvl="1">
              <a:lnSpc>
                <a:spcPct val="150000"/>
              </a:lnSpc>
              <a:spcBef>
                <a:spcPts val="600"/>
              </a:spcBef>
              <a:buClr>
                <a:srgbClr val="FF0000"/>
              </a:buClr>
              <a:buFont typeface="Wingdings" pitchFamily="2" charset="2"/>
              <a:buChar char="ü"/>
              <a:defRPr/>
            </a:pPr>
            <a:r>
              <a:rPr lang="zh-CN" altLang="en-US" sz="2400" dirty="0" smtClean="0">
                <a:solidFill>
                  <a:srgbClr val="0000FF"/>
                </a:solidFill>
                <a:latin typeface="方正大黑简体" pitchFamily="2" charset="-122"/>
                <a:ea typeface="方正大黑简体" pitchFamily="2" charset="-122"/>
              </a:rPr>
              <a:t> 信道的时变性要求不能发一次</a:t>
            </a:r>
            <a:endParaRPr lang="en-US" altLang="zh-CN" sz="2400" dirty="0" smtClean="0">
              <a:solidFill>
                <a:srgbClr val="0000FF"/>
              </a:solidFill>
              <a:latin typeface="方正大黑简体" pitchFamily="2" charset="-122"/>
              <a:ea typeface="方正大黑简体" pitchFamily="2" charset="-122"/>
            </a:endParaRPr>
          </a:p>
          <a:p>
            <a:pPr lvl="1">
              <a:lnSpc>
                <a:spcPct val="150000"/>
              </a:lnSpc>
              <a:spcBef>
                <a:spcPts val="600"/>
              </a:spcBef>
              <a:buClr>
                <a:srgbClr val="FF0000"/>
              </a:buClr>
              <a:buFont typeface="Wingdings" pitchFamily="2" charset="2"/>
              <a:buChar char="ü"/>
              <a:defRPr/>
            </a:pPr>
            <a:r>
              <a:rPr lang="zh-CN" altLang="en-US" sz="2400" dirty="0" smtClean="0">
                <a:solidFill>
                  <a:srgbClr val="0000FF"/>
                </a:solidFill>
                <a:latin typeface="方正大黑简体" pitchFamily="2" charset="-122"/>
                <a:ea typeface="方正大黑简体" pitchFamily="2" charset="-122"/>
              </a:rPr>
              <a:t> 发送训练序列的频率与信道的时变性有关</a:t>
            </a:r>
          </a:p>
        </p:txBody>
      </p:sp>
      <p:sp>
        <p:nvSpPr>
          <p:cNvPr id="6" name="标题 1"/>
          <p:cNvSpPr txBox="1">
            <a:spLocks/>
          </p:cNvSpPr>
          <p:nvPr/>
        </p:nvSpPr>
        <p:spPr>
          <a:xfrm>
            <a:off x="457200" y="189294"/>
            <a:ext cx="8229600" cy="114300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zh-CN" altLang="en-US" sz="3600" b="0" i="0" u="none" strike="noStrike" kern="1200" cap="none" spc="0" normalizeH="0" baseline="0" noProof="0" dirty="0" smtClean="0">
                <a:ln>
                  <a:noFill/>
                </a:ln>
                <a:solidFill>
                  <a:schemeClr val="bg1"/>
                </a:solidFill>
                <a:effectLst/>
                <a:uLnTx/>
                <a:uFillTx/>
                <a:latin typeface="方正兰亭粗黑简体" pitchFamily="2" charset="-122"/>
                <a:ea typeface="方正兰亭粗黑简体" pitchFamily="2" charset="-122"/>
                <a:cs typeface="+mn-cs"/>
              </a:rPr>
              <a:t>二、</a:t>
            </a:r>
            <a:r>
              <a:rPr kumimoji="0" lang="zh-CN" altLang="en-US" sz="3600" b="0" i="0" u="none" strike="noStrike" kern="1200" cap="none" spc="0" normalizeH="0" baseline="0" noProof="0" dirty="0" smtClean="0">
                <a:ln>
                  <a:noFill/>
                </a:ln>
                <a:solidFill>
                  <a:schemeClr val="bg1"/>
                </a:solidFill>
                <a:effectLst/>
                <a:uLnTx/>
                <a:uFillTx/>
                <a:latin typeface="方正兰亭粗黑简体" pitchFamily="2" charset="-122"/>
                <a:ea typeface="方正兰亭粗黑简体" pitchFamily="2" charset="-122"/>
                <a:cs typeface="+mj-cs"/>
              </a:rPr>
              <a:t>自适应均衡器</a:t>
            </a:r>
            <a:r>
              <a:rPr kumimoji="0" lang="zh-CN" altLang="en-US" sz="3600" b="0" i="0" u="none" strike="noStrike" kern="1200" cap="none" spc="0" normalizeH="0" baseline="0" noProof="0" dirty="0" smtClean="0">
                <a:ln>
                  <a:noFill/>
                </a:ln>
                <a:solidFill>
                  <a:schemeClr val="bg1"/>
                </a:solidFill>
                <a:effectLst/>
                <a:uLnTx/>
                <a:uFillTx/>
                <a:latin typeface="方正兰亭粗黑简体" pitchFamily="2" charset="-122"/>
                <a:ea typeface="方正兰亭粗黑简体" pitchFamily="2" charset="-122"/>
                <a:cs typeface="+mn-cs"/>
              </a:rPr>
              <a:t>工作过程</a:t>
            </a:r>
          </a:p>
        </p:txBody>
      </p:sp>
      <p:sp>
        <p:nvSpPr>
          <p:cNvPr id="7" name="标题 1"/>
          <p:cNvSpPr>
            <a:spLocks noGrp="1"/>
          </p:cNvSpPr>
          <p:nvPr>
            <p:ph type="title"/>
          </p:nvPr>
        </p:nvSpPr>
        <p:spPr>
          <a:xfrm>
            <a:off x="285720" y="1357298"/>
            <a:ext cx="8229600" cy="857248"/>
          </a:xfrm>
        </p:spPr>
        <p:txBody>
          <a:bodyPr>
            <a:normAutofit/>
          </a:bodyPr>
          <a:lstStyle/>
          <a:p>
            <a:pPr algn="l">
              <a:defRPr/>
            </a:pPr>
            <a:r>
              <a:rPr lang="en-US" altLang="zh-CN" sz="2800" dirty="0" smtClean="0">
                <a:solidFill>
                  <a:srgbClr val="000099"/>
                </a:solidFill>
                <a:latin typeface="方正大黑简体" pitchFamily="2" charset="-122"/>
                <a:ea typeface="方正大黑简体" pitchFamily="2" charset="-122"/>
                <a:cs typeface="+mn-cs"/>
              </a:rPr>
              <a:t>3</a:t>
            </a:r>
            <a:r>
              <a:rPr lang="zh-CN" altLang="en-US" sz="2800" dirty="0" smtClean="0">
                <a:solidFill>
                  <a:srgbClr val="000099"/>
                </a:solidFill>
                <a:latin typeface="方正大黑简体" pitchFamily="2" charset="-122"/>
                <a:ea typeface="方正大黑简体" pitchFamily="2" charset="-122"/>
                <a:cs typeface="+mn-cs"/>
              </a:rPr>
              <a:t>、需要进一步思考的问题</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idx="4294967295"/>
          </p:nvPr>
        </p:nvSpPr>
        <p:spPr>
          <a:xfrm>
            <a:off x="1357290" y="332656"/>
            <a:ext cx="6858000" cy="808021"/>
          </a:xfrm>
        </p:spPr>
        <p:txBody>
          <a:bodyPr>
            <a:noAutofit/>
          </a:bodyPr>
          <a:lstStyle/>
          <a:p>
            <a:pPr eaLnBrk="1" hangingPunct="1"/>
            <a:r>
              <a:rPr lang="zh-CN" altLang="en-US" sz="3600" dirty="0" smtClean="0">
                <a:solidFill>
                  <a:schemeClr val="bg1"/>
                </a:solidFill>
                <a:latin typeface="方正兰亭粗黑简体" pitchFamily="2" charset="-122"/>
                <a:ea typeface="方正兰亭粗黑简体" pitchFamily="2" charset="-122"/>
              </a:rPr>
              <a:t>本次课的教学内容</a:t>
            </a:r>
          </a:p>
        </p:txBody>
      </p:sp>
      <p:sp>
        <p:nvSpPr>
          <p:cNvPr id="15364" name="Rectangle 3"/>
          <p:cNvSpPr>
            <a:spLocks noGrp="1" noChangeArrowheads="1"/>
          </p:cNvSpPr>
          <p:nvPr>
            <p:ph type="body" idx="4294967295"/>
          </p:nvPr>
        </p:nvSpPr>
        <p:spPr>
          <a:xfrm>
            <a:off x="857224" y="1357298"/>
            <a:ext cx="7286654" cy="3895716"/>
          </a:xfrm>
        </p:spPr>
        <p:txBody>
          <a:bodyPr/>
          <a:lstStyle/>
          <a:p>
            <a:pPr algn="just" eaLnBrk="1" hangingPunct="1">
              <a:lnSpc>
                <a:spcPct val="150000"/>
              </a:lnSpc>
              <a:spcBef>
                <a:spcPts val="1200"/>
              </a:spcBef>
              <a:buFontTx/>
              <a:buNone/>
            </a:pPr>
            <a:r>
              <a:rPr lang="en-US" altLang="zh-CN" sz="2800" dirty="0" smtClean="0">
                <a:solidFill>
                  <a:srgbClr val="0000FF"/>
                </a:solidFill>
                <a:latin typeface="方正大黑简体" pitchFamily="2" charset="-122"/>
                <a:ea typeface="方正大黑简体" pitchFamily="2" charset="-122"/>
              </a:rPr>
              <a:t>5.3.1 </a:t>
            </a:r>
            <a:r>
              <a:rPr lang="zh-CN" altLang="en-US" sz="2800" dirty="0" smtClean="0">
                <a:solidFill>
                  <a:srgbClr val="0000FF"/>
                </a:solidFill>
                <a:latin typeface="方正大黑简体" pitchFamily="2" charset="-122"/>
                <a:ea typeface="方正大黑简体" pitchFamily="2" charset="-122"/>
              </a:rPr>
              <a:t>自适应均衡原理</a:t>
            </a:r>
          </a:p>
          <a:p>
            <a:pPr algn="just" eaLnBrk="1" hangingPunct="1">
              <a:lnSpc>
                <a:spcPct val="150000"/>
              </a:lnSpc>
              <a:spcBef>
                <a:spcPts val="1200"/>
              </a:spcBef>
              <a:buFontTx/>
              <a:buNone/>
            </a:pPr>
            <a:r>
              <a:rPr lang="en-US" altLang="zh-CN" sz="2800" dirty="0" smtClean="0">
                <a:solidFill>
                  <a:srgbClr val="FF0000"/>
                </a:solidFill>
                <a:latin typeface="方正大黑简体" pitchFamily="2" charset="-122"/>
                <a:ea typeface="方正大黑简体" pitchFamily="2" charset="-122"/>
              </a:rPr>
              <a:t>5.3.2 </a:t>
            </a:r>
            <a:r>
              <a:rPr lang="zh-CN" altLang="en-US" sz="2800" dirty="0" smtClean="0">
                <a:solidFill>
                  <a:srgbClr val="FF0000"/>
                </a:solidFill>
                <a:latin typeface="方正大黑简体" pitchFamily="2" charset="-122"/>
                <a:ea typeface="方正大黑简体" pitchFamily="2" charset="-122"/>
              </a:rPr>
              <a:t>均衡器类型</a:t>
            </a:r>
            <a:endParaRPr lang="en-US" altLang="zh-CN" sz="2800" dirty="0" smtClean="0">
              <a:solidFill>
                <a:srgbClr val="FF0000"/>
              </a:solidFill>
              <a:latin typeface="方正大黑简体" pitchFamily="2" charset="-122"/>
              <a:ea typeface="方正大黑简体" pitchFamily="2" charset="-122"/>
            </a:endParaRPr>
          </a:p>
          <a:p>
            <a:pPr algn="just" eaLnBrk="1" hangingPunct="1">
              <a:lnSpc>
                <a:spcPct val="150000"/>
              </a:lnSpc>
              <a:spcBef>
                <a:spcPts val="1200"/>
              </a:spcBef>
              <a:buFontTx/>
              <a:buNone/>
            </a:pPr>
            <a:r>
              <a:rPr lang="en-US" altLang="zh-CN" sz="2800" dirty="0" smtClean="0">
                <a:solidFill>
                  <a:srgbClr val="0000FF"/>
                </a:solidFill>
                <a:latin typeface="方正大黑简体" pitchFamily="2" charset="-122"/>
                <a:ea typeface="方正大黑简体" pitchFamily="2" charset="-122"/>
              </a:rPr>
              <a:t>5.3.3 </a:t>
            </a:r>
            <a:r>
              <a:rPr lang="zh-CN" altLang="en-US" sz="2800" dirty="0" smtClean="0">
                <a:solidFill>
                  <a:srgbClr val="0000FF"/>
                </a:solidFill>
                <a:latin typeface="方正大黑简体" pitchFamily="2" charset="-122"/>
                <a:ea typeface="方正大黑简体" pitchFamily="2" charset="-122"/>
              </a:rPr>
              <a:t>均衡算法</a:t>
            </a:r>
          </a:p>
          <a:p>
            <a:pPr algn="just" eaLnBrk="1" hangingPunct="1">
              <a:lnSpc>
                <a:spcPct val="150000"/>
              </a:lnSpc>
              <a:spcBef>
                <a:spcPts val="1200"/>
              </a:spcBef>
              <a:buFontTx/>
              <a:buNone/>
            </a:pPr>
            <a:r>
              <a:rPr lang="en-US" altLang="zh-CN" sz="2800" dirty="0" smtClean="0">
                <a:solidFill>
                  <a:srgbClr val="0000FF"/>
                </a:solidFill>
                <a:latin typeface="方正大黑简体" pitchFamily="2" charset="-122"/>
                <a:ea typeface="方正大黑简体" pitchFamily="2" charset="-122"/>
              </a:rPr>
              <a:t>5.3.4 </a:t>
            </a:r>
            <a:r>
              <a:rPr lang="zh-CN" altLang="en-US" sz="2800" dirty="0" smtClean="0">
                <a:solidFill>
                  <a:srgbClr val="0000FF"/>
                </a:solidFill>
                <a:latin typeface="方正大黑简体" pitchFamily="2" charset="-122"/>
                <a:ea typeface="方正大黑简体" pitchFamily="2" charset="-122"/>
              </a:rPr>
              <a:t>自适应均衡器的应用</a:t>
            </a:r>
          </a:p>
        </p:txBody>
      </p:sp>
    </p:spTree>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2"/>
          <p:cNvSpPr>
            <a:spLocks noGrp="1" noChangeArrowheads="1"/>
          </p:cNvSpPr>
          <p:nvPr>
            <p:ph type="title"/>
          </p:nvPr>
        </p:nvSpPr>
        <p:spPr>
          <a:xfrm>
            <a:off x="457200" y="214290"/>
            <a:ext cx="8229600" cy="1143000"/>
          </a:xfrm>
        </p:spPr>
        <p:txBody>
          <a:bodyPr>
            <a:normAutofit/>
          </a:bodyPr>
          <a:lstStyle/>
          <a:p>
            <a:pPr>
              <a:defRPr/>
            </a:pPr>
            <a:r>
              <a:rPr lang="zh-CN" altLang="en-US" sz="3600" dirty="0" smtClean="0">
                <a:solidFill>
                  <a:schemeClr val="bg1"/>
                </a:solidFill>
                <a:latin typeface="方正兰亭粗黑简体" pitchFamily="2" charset="-122"/>
                <a:ea typeface="方正兰亭粗黑简体" pitchFamily="2" charset="-122"/>
              </a:rPr>
              <a:t>三、均衡器的分类</a:t>
            </a:r>
          </a:p>
        </p:txBody>
      </p:sp>
      <p:sp>
        <p:nvSpPr>
          <p:cNvPr id="29700" name="Rectangle 3"/>
          <p:cNvSpPr>
            <a:spLocks noGrp="1" noChangeArrowheads="1"/>
          </p:cNvSpPr>
          <p:nvPr>
            <p:ph type="body" idx="1"/>
          </p:nvPr>
        </p:nvSpPr>
        <p:spPr>
          <a:xfrm>
            <a:off x="571500" y="1357313"/>
            <a:ext cx="7786688" cy="4714875"/>
          </a:xfrm>
        </p:spPr>
        <p:txBody>
          <a:bodyPr/>
          <a:lstStyle/>
          <a:p>
            <a:pPr>
              <a:lnSpc>
                <a:spcPct val="150000"/>
              </a:lnSpc>
              <a:buNone/>
              <a:defRPr/>
            </a:pPr>
            <a:r>
              <a:rPr lang="en-US" altLang="zh-CN" sz="2800" dirty="0" smtClean="0">
                <a:solidFill>
                  <a:srgbClr val="000099"/>
                </a:solidFill>
                <a:latin typeface="方正大黑简体" pitchFamily="2" charset="-122"/>
                <a:ea typeface="方正大黑简体" pitchFamily="2" charset="-122"/>
              </a:rPr>
              <a:t>1</a:t>
            </a:r>
            <a:r>
              <a:rPr lang="zh-CN" altLang="en-US" sz="2800" dirty="0" smtClean="0">
                <a:solidFill>
                  <a:srgbClr val="000099"/>
                </a:solidFill>
                <a:latin typeface="方正大黑简体" pitchFamily="2" charset="-122"/>
                <a:ea typeface="方正大黑简体" pitchFamily="2" charset="-122"/>
              </a:rPr>
              <a:t>、按照均衡器输出是否用于反馈的分类</a:t>
            </a:r>
          </a:p>
          <a:p>
            <a:pPr lvl="1" eaLnBrk="1" hangingPunct="1">
              <a:lnSpc>
                <a:spcPct val="150000"/>
              </a:lnSpc>
              <a:buClr>
                <a:srgbClr val="3333FF"/>
              </a:buClr>
              <a:buFont typeface="Wingdings" pitchFamily="2" charset="2"/>
              <a:buChar char="p"/>
              <a:defRPr/>
            </a:pPr>
            <a:r>
              <a:rPr lang="zh-CN" altLang="en-US" dirty="0" smtClean="0">
                <a:solidFill>
                  <a:srgbClr val="0000FF"/>
                </a:solidFill>
                <a:latin typeface="方正大黑简体" pitchFamily="2" charset="-122"/>
                <a:ea typeface="方正大黑简体" pitchFamily="2" charset="-122"/>
              </a:rPr>
              <a:t> </a:t>
            </a:r>
            <a:r>
              <a:rPr lang="zh-CN" altLang="en-US" dirty="0" smtClean="0">
                <a:solidFill>
                  <a:srgbClr val="FF0000"/>
                </a:solidFill>
                <a:latin typeface="方正大黑简体" pitchFamily="2" charset="-122"/>
                <a:ea typeface="方正大黑简体" pitchFamily="2" charset="-122"/>
              </a:rPr>
              <a:t>线性均衡：</a:t>
            </a:r>
            <a:r>
              <a:rPr lang="zh-CN" altLang="en-US" dirty="0" smtClean="0">
                <a:solidFill>
                  <a:srgbClr val="0000FF"/>
                </a:solidFill>
                <a:latin typeface="方正大黑简体" pitchFamily="2" charset="-122"/>
                <a:ea typeface="方正大黑简体" pitchFamily="2" charset="-122"/>
              </a:rPr>
              <a:t>均衡器的输出</a:t>
            </a:r>
            <a:r>
              <a:rPr lang="en-US" altLang="zh-CN" i="1" dirty="0" smtClean="0">
                <a:solidFill>
                  <a:srgbClr val="0000FF"/>
                </a:solidFill>
                <a:latin typeface="Times New Roman" panose="02020603050405020304" pitchFamily="18" charset="0"/>
                <a:ea typeface="方正大黑简体" pitchFamily="2" charset="-122"/>
                <a:cs typeface="Times New Roman" panose="02020603050405020304" pitchFamily="18" charset="0"/>
              </a:rPr>
              <a:t>d</a:t>
            </a:r>
            <a:r>
              <a:rPr lang="en-US" altLang="zh-CN" dirty="0" smtClean="0">
                <a:solidFill>
                  <a:srgbClr val="0000FF"/>
                </a:solidFill>
                <a:latin typeface="Times New Roman" panose="02020603050405020304" pitchFamily="18" charset="0"/>
                <a:ea typeface="方正大黑简体" pitchFamily="2" charset="-122"/>
                <a:cs typeface="Times New Roman" panose="02020603050405020304" pitchFamily="18" charset="0"/>
              </a:rPr>
              <a:t>(</a:t>
            </a:r>
            <a:r>
              <a:rPr lang="en-US" altLang="zh-CN" i="1" dirty="0" smtClean="0">
                <a:solidFill>
                  <a:srgbClr val="0000FF"/>
                </a:solidFill>
                <a:latin typeface="Times New Roman" panose="02020603050405020304" pitchFamily="18" charset="0"/>
                <a:ea typeface="方正大黑简体" pitchFamily="2" charset="-122"/>
                <a:cs typeface="Times New Roman" panose="02020603050405020304" pitchFamily="18" charset="0"/>
              </a:rPr>
              <a:t>t</a:t>
            </a:r>
            <a:r>
              <a:rPr lang="en-US" altLang="zh-CN" dirty="0" smtClean="0">
                <a:solidFill>
                  <a:srgbClr val="0000FF"/>
                </a:solidFill>
                <a:latin typeface="Times New Roman" panose="02020603050405020304" pitchFamily="18" charset="0"/>
                <a:ea typeface="方正大黑简体" pitchFamily="2" charset="-122"/>
                <a:cs typeface="Times New Roman" panose="02020603050405020304" pitchFamily="18" charset="0"/>
              </a:rPr>
              <a:t>)</a:t>
            </a:r>
            <a:r>
              <a:rPr lang="zh-CN" altLang="en-US" dirty="0" smtClean="0">
                <a:solidFill>
                  <a:srgbClr val="0000FF"/>
                </a:solidFill>
                <a:latin typeface="方正大黑简体" pitchFamily="2" charset="-122"/>
                <a:ea typeface="方正大黑简体" pitchFamily="2" charset="-122"/>
              </a:rPr>
              <a:t>未应用于均衡器的</a:t>
            </a:r>
            <a:r>
              <a:rPr lang="zh-CN" altLang="en-US" b="1" dirty="0" smtClean="0">
                <a:solidFill>
                  <a:srgbClr val="0000FF"/>
                </a:solidFill>
                <a:latin typeface="方正大黑简体" pitchFamily="2" charset="-122"/>
                <a:ea typeface="方正大黑简体" pitchFamily="2" charset="-122"/>
              </a:rPr>
              <a:t>反馈逻辑</a:t>
            </a:r>
            <a:r>
              <a:rPr lang="zh-CN" altLang="en-US" dirty="0" smtClean="0">
                <a:solidFill>
                  <a:srgbClr val="0000FF"/>
                </a:solidFill>
                <a:latin typeface="方正大黑简体" pitchFamily="2" charset="-122"/>
                <a:ea typeface="方正大黑简体" pitchFamily="2" charset="-122"/>
              </a:rPr>
              <a:t>中。</a:t>
            </a:r>
          </a:p>
          <a:p>
            <a:pPr lvl="1">
              <a:lnSpc>
                <a:spcPct val="150000"/>
              </a:lnSpc>
              <a:buClr>
                <a:srgbClr val="3333FF"/>
              </a:buClr>
              <a:buFont typeface="Wingdings" pitchFamily="2" charset="2"/>
              <a:buChar char="p"/>
              <a:defRPr/>
            </a:pPr>
            <a:r>
              <a:rPr lang="zh-CN" altLang="en-US" dirty="0" smtClean="0">
                <a:solidFill>
                  <a:srgbClr val="0000FF"/>
                </a:solidFill>
                <a:latin typeface="方正大黑简体" pitchFamily="2" charset="-122"/>
                <a:ea typeface="方正大黑简体" pitchFamily="2" charset="-122"/>
              </a:rPr>
              <a:t> </a:t>
            </a:r>
            <a:r>
              <a:rPr lang="zh-CN" altLang="en-US" dirty="0" smtClean="0">
                <a:solidFill>
                  <a:srgbClr val="FF0000"/>
                </a:solidFill>
                <a:latin typeface="方正大黑简体" pitchFamily="2" charset="-122"/>
                <a:ea typeface="方正大黑简体" pitchFamily="2" charset="-122"/>
              </a:rPr>
              <a:t>非线性均衡：</a:t>
            </a:r>
            <a:r>
              <a:rPr lang="zh-CN" altLang="en-US" dirty="0" smtClean="0">
                <a:solidFill>
                  <a:srgbClr val="0000FF"/>
                </a:solidFill>
                <a:latin typeface="方正大黑简体" pitchFamily="2" charset="-122"/>
                <a:ea typeface="方正大黑简体" pitchFamily="2" charset="-122"/>
              </a:rPr>
              <a:t>均衡器的输出</a:t>
            </a:r>
            <a:r>
              <a:rPr lang="en-US" altLang="zh-CN" i="1" dirty="0">
                <a:solidFill>
                  <a:srgbClr val="0000FF"/>
                </a:solidFill>
                <a:latin typeface="Times New Roman" panose="02020603050405020304" pitchFamily="18" charset="0"/>
                <a:ea typeface="方正大黑简体" pitchFamily="2" charset="-122"/>
                <a:cs typeface="Times New Roman" panose="02020603050405020304" pitchFamily="18" charset="0"/>
              </a:rPr>
              <a:t>d</a:t>
            </a:r>
            <a:r>
              <a:rPr lang="en-US" altLang="zh-CN" dirty="0">
                <a:solidFill>
                  <a:srgbClr val="0000FF"/>
                </a:solidFill>
                <a:latin typeface="Times New Roman" panose="02020603050405020304" pitchFamily="18" charset="0"/>
                <a:ea typeface="方正大黑简体" pitchFamily="2" charset="-122"/>
                <a:cs typeface="Times New Roman" panose="02020603050405020304" pitchFamily="18" charset="0"/>
              </a:rPr>
              <a:t>(</a:t>
            </a:r>
            <a:r>
              <a:rPr lang="en-US" altLang="zh-CN" i="1" dirty="0">
                <a:solidFill>
                  <a:srgbClr val="0000FF"/>
                </a:solidFill>
                <a:latin typeface="Times New Roman" panose="02020603050405020304" pitchFamily="18" charset="0"/>
                <a:ea typeface="方正大黑简体" pitchFamily="2" charset="-122"/>
                <a:cs typeface="Times New Roman" panose="02020603050405020304" pitchFamily="18" charset="0"/>
              </a:rPr>
              <a:t>t</a:t>
            </a:r>
            <a:r>
              <a:rPr lang="en-US" altLang="zh-CN" dirty="0">
                <a:solidFill>
                  <a:srgbClr val="0000FF"/>
                </a:solidFill>
                <a:latin typeface="Times New Roman" panose="02020603050405020304" pitchFamily="18" charset="0"/>
                <a:ea typeface="方正大黑简体" pitchFamily="2" charset="-122"/>
                <a:cs typeface="Times New Roman" panose="02020603050405020304" pitchFamily="18" charset="0"/>
              </a:rPr>
              <a:t>)</a:t>
            </a:r>
            <a:r>
              <a:rPr lang="zh-CN" altLang="en-US" dirty="0" smtClean="0">
                <a:solidFill>
                  <a:srgbClr val="0000FF"/>
                </a:solidFill>
                <a:latin typeface="方正大黑简体" pitchFamily="2" charset="-122"/>
                <a:ea typeface="方正大黑简体" pitchFamily="2" charset="-122"/>
              </a:rPr>
              <a:t>被应用于反馈逻辑中，并影响了均衡器的</a:t>
            </a:r>
            <a:r>
              <a:rPr lang="zh-CN" altLang="en-US" b="1" dirty="0" smtClean="0">
                <a:solidFill>
                  <a:srgbClr val="0000FF"/>
                </a:solidFill>
                <a:latin typeface="方正大黑简体" pitchFamily="2" charset="-122"/>
                <a:ea typeface="方正大黑简体" pitchFamily="2" charset="-122"/>
              </a:rPr>
              <a:t>后续输出</a:t>
            </a:r>
            <a:r>
              <a:rPr lang="zh-CN" altLang="en-US" dirty="0" smtClean="0">
                <a:solidFill>
                  <a:srgbClr val="0000FF"/>
                </a:solidFill>
                <a:latin typeface="方正大黑简体" pitchFamily="2" charset="-122"/>
                <a:ea typeface="方正大黑简体" pitchFamily="2" charset="-122"/>
              </a:rPr>
              <a:t>。</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Rectangle 2"/>
          <p:cNvSpPr>
            <a:spLocks noGrp="1" noChangeArrowheads="1"/>
          </p:cNvSpPr>
          <p:nvPr>
            <p:ph type="title"/>
          </p:nvPr>
        </p:nvSpPr>
        <p:spPr>
          <a:xfrm>
            <a:off x="554138" y="1142984"/>
            <a:ext cx="4000500" cy="914400"/>
          </a:xfrm>
        </p:spPr>
        <p:txBody>
          <a:bodyPr>
            <a:normAutofit/>
          </a:bodyPr>
          <a:lstStyle/>
          <a:p>
            <a:pPr algn="l" eaLnBrk="1" hangingPunct="1"/>
            <a:r>
              <a:rPr lang="zh-CN" altLang="en-US" sz="2800" dirty="0" smtClean="0">
                <a:solidFill>
                  <a:srgbClr val="0000FF"/>
                </a:solidFill>
                <a:latin typeface="方正大黑简体" pitchFamily="2" charset="-122"/>
                <a:ea typeface="方正大黑简体" pitchFamily="2" charset="-122"/>
                <a:cs typeface="+mn-cs"/>
              </a:rPr>
              <a:t>（</a:t>
            </a:r>
            <a:r>
              <a:rPr lang="en-US" altLang="zh-CN" sz="2800" dirty="0" smtClean="0">
                <a:solidFill>
                  <a:srgbClr val="0000FF"/>
                </a:solidFill>
                <a:latin typeface="方正大黑简体" pitchFamily="2" charset="-122"/>
                <a:ea typeface="方正大黑简体" pitchFamily="2" charset="-122"/>
                <a:cs typeface="+mn-cs"/>
              </a:rPr>
              <a:t>1</a:t>
            </a:r>
            <a:r>
              <a:rPr lang="zh-CN" altLang="en-US" sz="2800" dirty="0" smtClean="0">
                <a:solidFill>
                  <a:srgbClr val="0000FF"/>
                </a:solidFill>
                <a:latin typeface="方正大黑简体" pitchFamily="2" charset="-122"/>
                <a:ea typeface="方正大黑简体" pitchFamily="2" charset="-122"/>
                <a:cs typeface="+mn-cs"/>
              </a:rPr>
              <a:t>）线性均衡器</a:t>
            </a:r>
          </a:p>
        </p:txBody>
      </p:sp>
      <p:sp>
        <p:nvSpPr>
          <p:cNvPr id="50" name="Rectangle 3"/>
          <p:cNvSpPr txBox="1">
            <a:spLocks noChangeArrowheads="1"/>
          </p:cNvSpPr>
          <p:nvPr/>
        </p:nvSpPr>
        <p:spPr bwMode="auto">
          <a:xfrm>
            <a:off x="428596" y="4643446"/>
            <a:ext cx="7848600" cy="777875"/>
          </a:xfrm>
          <a:prstGeom prst="rect">
            <a:avLst/>
          </a:prstGeom>
          <a:noFill/>
          <a:ln w="9525">
            <a:noFill/>
            <a:miter lim="800000"/>
            <a:headEnd/>
            <a:tailEnd/>
          </a:ln>
        </p:spPr>
        <p:txBody>
          <a:bodyPr/>
          <a:lstStyle/>
          <a:p>
            <a:pPr marL="190500" indent="-234950" defTabSz="696913" eaLnBrk="0" hangingPunct="0">
              <a:lnSpc>
                <a:spcPct val="110000"/>
              </a:lnSpc>
              <a:spcBef>
                <a:spcPct val="20000"/>
              </a:spcBef>
              <a:buClr>
                <a:srgbClr val="3333FF"/>
              </a:buClr>
              <a:buFont typeface="Wingdings" pitchFamily="2" charset="2"/>
              <a:buChar char="p"/>
              <a:defRPr/>
            </a:pPr>
            <a:r>
              <a:rPr lang="zh-CN" altLang="en-US" sz="2400" dirty="0" smtClean="0">
                <a:solidFill>
                  <a:srgbClr val="FF0000"/>
                </a:solidFill>
                <a:latin typeface="方正大黑简体" pitchFamily="2" charset="-122"/>
                <a:ea typeface="方正大黑简体" pitchFamily="2" charset="-122"/>
              </a:rPr>
              <a:t>  基本原理：</a:t>
            </a:r>
            <a:r>
              <a:rPr lang="zh-CN" altLang="en-US" sz="2400" dirty="0" smtClean="0">
                <a:solidFill>
                  <a:srgbClr val="0000FF"/>
                </a:solidFill>
                <a:latin typeface="方正大黑简体" pitchFamily="2" charset="-122"/>
                <a:ea typeface="方正大黑简体" pitchFamily="2" charset="-122"/>
              </a:rPr>
              <a:t>调节</a:t>
            </a:r>
            <a:r>
              <a:rPr lang="zh-CN" altLang="en-US" sz="2400" dirty="0">
                <a:solidFill>
                  <a:srgbClr val="0000FF"/>
                </a:solidFill>
                <a:latin typeface="方正大黑简体" pitchFamily="2" charset="-122"/>
                <a:ea typeface="方正大黑简体" pitchFamily="2" charset="-122"/>
              </a:rPr>
              <a:t>权系数使其它时刻信号的总和为零</a:t>
            </a:r>
          </a:p>
        </p:txBody>
      </p:sp>
      <p:sp>
        <p:nvSpPr>
          <p:cNvPr id="9" name="Rectangle 2"/>
          <p:cNvSpPr txBox="1">
            <a:spLocks noChangeArrowheads="1"/>
          </p:cNvSpPr>
          <p:nvPr/>
        </p:nvSpPr>
        <p:spPr>
          <a:xfrm>
            <a:off x="457200" y="214290"/>
            <a:ext cx="8401080" cy="1143000"/>
          </a:xfrm>
          <a:prstGeom prst="rect">
            <a:avLst/>
          </a:prstGeom>
        </p:spPr>
        <p:txBody>
          <a:bodyPr vert="horz" lIns="91440" tIns="45720" rIns="91440" bIns="45720" rtlCol="0" anchor="ctr">
            <a:normAutofit/>
          </a:bodyPr>
          <a:lstStyle/>
          <a:p>
            <a:pPr lvl="0" algn="ctr">
              <a:spcBef>
                <a:spcPct val="0"/>
              </a:spcBef>
              <a:defRPr/>
            </a:pPr>
            <a:r>
              <a:rPr lang="en-US" altLang="zh-CN" sz="3600" dirty="0" smtClean="0">
                <a:solidFill>
                  <a:schemeClr val="bg1"/>
                </a:solidFill>
                <a:latin typeface="方正兰亭粗黑简体" pitchFamily="2" charset="-122"/>
                <a:ea typeface="方正兰亭粗黑简体" pitchFamily="2" charset="-122"/>
              </a:rPr>
              <a:t>   </a:t>
            </a:r>
            <a:r>
              <a:rPr lang="en-US" altLang="zh-CN" sz="3200" dirty="0" smtClean="0">
                <a:solidFill>
                  <a:schemeClr val="bg1"/>
                </a:solidFill>
                <a:latin typeface="方正兰亭粗黑简体" pitchFamily="2" charset="-122"/>
                <a:ea typeface="方正兰亭粗黑简体" pitchFamily="2" charset="-122"/>
              </a:rPr>
              <a:t>1</a:t>
            </a:r>
            <a:r>
              <a:rPr lang="zh-CN" altLang="en-US" sz="3200" dirty="0" smtClean="0">
                <a:solidFill>
                  <a:schemeClr val="bg1"/>
                </a:solidFill>
                <a:latin typeface="方正兰亭粗黑简体" pitchFamily="2" charset="-122"/>
                <a:ea typeface="方正兰亭粗黑简体" pitchFamily="2" charset="-122"/>
              </a:rPr>
              <a:t>、按照均衡器输出是否用于反馈的分类</a:t>
            </a:r>
          </a:p>
        </p:txBody>
      </p:sp>
      <p:grpSp>
        <p:nvGrpSpPr>
          <p:cNvPr id="11" name="组合 10"/>
          <p:cNvGrpSpPr/>
          <p:nvPr/>
        </p:nvGrpSpPr>
        <p:grpSpPr>
          <a:xfrm>
            <a:off x="1347788" y="1857375"/>
            <a:ext cx="7160779" cy="2800350"/>
            <a:chOff x="1347788" y="1857375"/>
            <a:chExt cx="7160779" cy="2800350"/>
          </a:xfrm>
        </p:grpSpPr>
        <p:pic>
          <p:nvPicPr>
            <p:cNvPr id="868357" name="Picture 5"/>
            <p:cNvPicPr>
              <a:picLocks noChangeAspect="1" noChangeArrowheads="1"/>
            </p:cNvPicPr>
            <p:nvPr/>
          </p:nvPicPr>
          <p:blipFill>
            <a:blip r:embed="rId3"/>
            <a:srcRect/>
            <a:stretch>
              <a:fillRect/>
            </a:stretch>
          </p:blipFill>
          <p:spPr bwMode="auto">
            <a:xfrm>
              <a:off x="1347788" y="1928802"/>
              <a:ext cx="7160779" cy="2728923"/>
            </a:xfrm>
            <a:prstGeom prst="rect">
              <a:avLst/>
            </a:prstGeom>
            <a:noFill/>
            <a:ln w="9525">
              <a:noFill/>
              <a:miter lim="800000"/>
              <a:headEnd/>
              <a:tailEnd/>
            </a:ln>
            <a:effectLst/>
          </p:spPr>
        </p:pic>
        <p:graphicFrame>
          <p:nvGraphicFramePr>
            <p:cNvPr id="7" name="对象 6"/>
            <p:cNvGraphicFramePr>
              <a:graphicFrameLocks noChangeAspect="1"/>
            </p:cNvGraphicFramePr>
            <p:nvPr/>
          </p:nvGraphicFramePr>
          <p:xfrm>
            <a:off x="2127250" y="1857375"/>
            <a:ext cx="396875" cy="285750"/>
          </p:xfrm>
          <a:graphic>
            <a:graphicData uri="http://schemas.openxmlformats.org/presentationml/2006/ole">
              <mc:AlternateContent xmlns:mc="http://schemas.openxmlformats.org/markup-compatibility/2006">
                <mc:Choice xmlns:v="urn:schemas-microsoft-com:vml" Requires="v">
                  <p:oleObj spid="_x0000_s868494" name="Equation" r:id="rId4" imgW="317362" imgH="228501" progId="Equation.DSMT4">
                    <p:embed/>
                  </p:oleObj>
                </mc:Choice>
                <mc:Fallback>
                  <p:oleObj name="Equation" r:id="rId4" imgW="317362" imgH="228501" progId="Equation.DSMT4">
                    <p:embed/>
                    <p:pic>
                      <p:nvPicPr>
                        <p:cNvPr id="0"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27250" y="1857375"/>
                          <a:ext cx="396875" cy="285750"/>
                        </a:xfrm>
                        <a:prstGeom prst="rect">
                          <a:avLst/>
                        </a:prstGeom>
                        <a:solidFill>
                          <a:schemeClr val="bg1"/>
                        </a:solidFill>
                      </p:spPr>
                    </p:pic>
                  </p:oleObj>
                </mc:Fallback>
              </mc:AlternateContent>
            </a:graphicData>
          </a:graphic>
        </p:graphicFrame>
        <p:graphicFrame>
          <p:nvGraphicFramePr>
            <p:cNvPr id="8" name="对象 7"/>
            <p:cNvGraphicFramePr>
              <a:graphicFrameLocks noChangeAspect="1"/>
            </p:cNvGraphicFramePr>
            <p:nvPr/>
          </p:nvGraphicFramePr>
          <p:xfrm>
            <a:off x="7778774" y="3948254"/>
            <a:ext cx="222250" cy="285750"/>
          </p:xfrm>
          <a:graphic>
            <a:graphicData uri="http://schemas.openxmlformats.org/presentationml/2006/ole">
              <mc:AlternateContent xmlns:mc="http://schemas.openxmlformats.org/markup-compatibility/2006">
                <mc:Choice xmlns:v="urn:schemas-microsoft-com:vml" Requires="v">
                  <p:oleObj spid="_x0000_s868495" name="Equation" r:id="rId6" imgW="177646" imgH="228402" progId="Equation.DSMT4">
                    <p:embed/>
                  </p:oleObj>
                </mc:Choice>
                <mc:Fallback>
                  <p:oleObj name="Equation" r:id="rId6" imgW="177646" imgH="228402" progId="Equation.DSMT4">
                    <p:embed/>
                    <p:pic>
                      <p:nvPicPr>
                        <p:cNvPr id="0" name="Picture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778774" y="3948254"/>
                          <a:ext cx="222250" cy="285750"/>
                        </a:xfrm>
                        <a:prstGeom prst="rect">
                          <a:avLst/>
                        </a:prstGeom>
                        <a:solidFill>
                          <a:schemeClr val="bg1"/>
                        </a:solidFill>
                      </p:spPr>
                    </p:pic>
                  </p:oleObj>
                </mc:Fallback>
              </mc:AlternateContent>
            </a:graphicData>
          </a:graphic>
        </p:graphicFrame>
      </p:grpSp>
      <p:pic>
        <p:nvPicPr>
          <p:cNvPr id="2" name="图片 1"/>
          <p:cNvPicPr>
            <a:picLocks noChangeAspect="1"/>
          </p:cNvPicPr>
          <p:nvPr/>
        </p:nvPicPr>
        <p:blipFill>
          <a:blip r:embed="rId8"/>
          <a:stretch>
            <a:fillRect/>
          </a:stretch>
        </p:blipFill>
        <p:spPr>
          <a:xfrm>
            <a:off x="2076465" y="5229237"/>
            <a:ext cx="5162550" cy="1028700"/>
          </a:xfrm>
          <a:prstGeom prst="rect">
            <a:avLst/>
          </a:prstGeom>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p:cNvPicPr>
            <a:picLocks noChangeAspect="1" noChangeArrowheads="1"/>
          </p:cNvPicPr>
          <p:nvPr/>
        </p:nvPicPr>
        <p:blipFill>
          <a:blip r:embed="rId3"/>
          <a:srcRect/>
          <a:stretch>
            <a:fillRect/>
          </a:stretch>
        </p:blipFill>
        <p:spPr bwMode="auto">
          <a:xfrm>
            <a:off x="2706182" y="2285992"/>
            <a:ext cx="6152098" cy="4186235"/>
          </a:xfrm>
          <a:prstGeom prst="rect">
            <a:avLst/>
          </a:prstGeom>
          <a:noFill/>
          <a:ln w="9525">
            <a:noFill/>
            <a:miter lim="800000"/>
            <a:headEnd/>
            <a:tailEnd/>
          </a:ln>
          <a:effectLst/>
        </p:spPr>
      </p:pic>
      <p:sp>
        <p:nvSpPr>
          <p:cNvPr id="37891" name="Rectangle 2"/>
          <p:cNvSpPr>
            <a:spLocks noGrp="1" noChangeArrowheads="1"/>
          </p:cNvSpPr>
          <p:nvPr>
            <p:ph type="title"/>
          </p:nvPr>
        </p:nvSpPr>
        <p:spPr>
          <a:xfrm>
            <a:off x="-32" y="908720"/>
            <a:ext cx="9215472" cy="1566490"/>
          </a:xfrm>
        </p:spPr>
        <p:txBody>
          <a:bodyPr>
            <a:noAutofit/>
          </a:bodyPr>
          <a:lstStyle/>
          <a:p>
            <a:pPr algn="l">
              <a:lnSpc>
                <a:spcPct val="150000"/>
              </a:lnSpc>
            </a:pPr>
            <a:r>
              <a:rPr lang="zh-CN" altLang="en-US" sz="2400" dirty="0" smtClean="0">
                <a:solidFill>
                  <a:srgbClr val="0000FF"/>
                </a:solidFill>
                <a:latin typeface="方正大黑简体" pitchFamily="2" charset="-122"/>
                <a:ea typeface="方正大黑简体" pitchFamily="2" charset="-122"/>
                <a:cs typeface="+mn-cs"/>
              </a:rPr>
              <a:t>（</a:t>
            </a:r>
            <a:r>
              <a:rPr lang="en-US" altLang="zh-CN" sz="2400" dirty="0" smtClean="0">
                <a:solidFill>
                  <a:srgbClr val="0000FF"/>
                </a:solidFill>
                <a:latin typeface="方正大黑简体" pitchFamily="2" charset="-122"/>
                <a:ea typeface="方正大黑简体" pitchFamily="2" charset="-122"/>
                <a:cs typeface="+mn-cs"/>
              </a:rPr>
              <a:t>2</a:t>
            </a:r>
            <a:r>
              <a:rPr lang="zh-CN" altLang="en-US" sz="2400" dirty="0" smtClean="0">
                <a:solidFill>
                  <a:srgbClr val="0000FF"/>
                </a:solidFill>
                <a:latin typeface="方正大黑简体" pitchFamily="2" charset="-122"/>
                <a:ea typeface="方正大黑简体" pitchFamily="2" charset="-122"/>
                <a:cs typeface="+mn-cs"/>
              </a:rPr>
              <a:t>）非线性均衡器</a:t>
            </a:r>
            <a:r>
              <a:rPr lang="en-US" altLang="zh-CN" sz="2400" dirty="0" smtClean="0">
                <a:solidFill>
                  <a:srgbClr val="0000FF"/>
                </a:solidFill>
                <a:latin typeface="方正大黑简体" pitchFamily="2" charset="-122"/>
                <a:ea typeface="方正大黑简体" pitchFamily="2" charset="-122"/>
                <a:cs typeface="+mn-cs"/>
              </a:rPr>
              <a:t/>
            </a:r>
            <a:br>
              <a:rPr lang="en-US" altLang="zh-CN" sz="2400" dirty="0" smtClean="0">
                <a:solidFill>
                  <a:srgbClr val="0000FF"/>
                </a:solidFill>
                <a:latin typeface="方正大黑简体" pitchFamily="2" charset="-122"/>
                <a:ea typeface="方正大黑简体" pitchFamily="2" charset="-122"/>
                <a:cs typeface="+mn-cs"/>
              </a:rPr>
            </a:br>
            <a:r>
              <a:rPr lang="en-US" altLang="zh-CN" sz="2400" dirty="0" smtClean="0">
                <a:solidFill>
                  <a:srgbClr val="0000FF"/>
                </a:solidFill>
                <a:latin typeface="方正大黑简体" pitchFamily="2" charset="-122"/>
                <a:ea typeface="方正大黑简体" pitchFamily="2" charset="-122"/>
                <a:cs typeface="+mn-cs"/>
              </a:rPr>
              <a:t> </a:t>
            </a:r>
            <a:r>
              <a:rPr lang="en-US" altLang="zh-CN" sz="2000" dirty="0" smtClean="0">
                <a:solidFill>
                  <a:srgbClr val="0000FF"/>
                </a:solidFill>
                <a:latin typeface="方正大黑简体" pitchFamily="2" charset="-122"/>
                <a:ea typeface="方正大黑简体" pitchFamily="2" charset="-122"/>
                <a:cs typeface="+mn-cs"/>
              </a:rPr>
              <a:t> </a:t>
            </a:r>
            <a:r>
              <a:rPr lang="zh-CN" altLang="en-US" sz="2400" dirty="0" smtClean="0">
                <a:solidFill>
                  <a:srgbClr val="0000FF"/>
                </a:solidFill>
                <a:latin typeface="方正大黑简体" pitchFamily="2" charset="-122"/>
                <a:ea typeface="方正大黑简体" pitchFamily="2" charset="-122"/>
                <a:cs typeface="+mn-cs"/>
              </a:rPr>
              <a:t>以判决反馈均衡器</a:t>
            </a:r>
            <a:r>
              <a:rPr lang="en-US" altLang="zh-CN" sz="2400" dirty="0" smtClean="0">
                <a:solidFill>
                  <a:srgbClr val="0000FF"/>
                </a:solidFill>
                <a:latin typeface="方正大黑简体" pitchFamily="2" charset="-122"/>
                <a:ea typeface="方正大黑简体" pitchFamily="2" charset="-122"/>
                <a:cs typeface="+mn-cs"/>
              </a:rPr>
              <a:t>(DFE</a:t>
            </a:r>
            <a:r>
              <a:rPr lang="zh-CN" altLang="en-US" sz="2400" dirty="0" smtClean="0">
                <a:solidFill>
                  <a:srgbClr val="0000FF"/>
                </a:solidFill>
                <a:latin typeface="方正大黑简体" pitchFamily="2" charset="-122"/>
                <a:ea typeface="方正大黑简体" pitchFamily="2" charset="-122"/>
                <a:cs typeface="+mn-cs"/>
              </a:rPr>
              <a:t>，</a:t>
            </a:r>
            <a:r>
              <a:rPr lang="en-US" altLang="zh-CN" sz="2400" dirty="0">
                <a:solidFill>
                  <a:srgbClr val="0000FF"/>
                </a:solidFill>
                <a:latin typeface="方正大黑简体" pitchFamily="2" charset="-122"/>
                <a:ea typeface="方正大黑简体" pitchFamily="2" charset="-122"/>
              </a:rPr>
              <a:t>Decision </a:t>
            </a:r>
            <a:r>
              <a:rPr lang="en-US" altLang="zh-CN" sz="2400" dirty="0" smtClean="0">
                <a:solidFill>
                  <a:srgbClr val="0000FF"/>
                </a:solidFill>
                <a:latin typeface="方正大黑简体" pitchFamily="2" charset="-122"/>
                <a:ea typeface="方正大黑简体" pitchFamily="2" charset="-122"/>
              </a:rPr>
              <a:t>Feedback Equalizer</a:t>
            </a:r>
            <a:r>
              <a:rPr lang="en-US" altLang="zh-CN" sz="2400" dirty="0" smtClean="0">
                <a:solidFill>
                  <a:srgbClr val="0000FF"/>
                </a:solidFill>
                <a:latin typeface="方正大黑简体" pitchFamily="2" charset="-122"/>
                <a:ea typeface="方正大黑简体" pitchFamily="2" charset="-122"/>
                <a:cs typeface="+mn-cs"/>
              </a:rPr>
              <a:t>)</a:t>
            </a:r>
            <a:r>
              <a:rPr lang="zh-CN" altLang="en-US" sz="2400" dirty="0" smtClean="0">
                <a:solidFill>
                  <a:srgbClr val="0000FF"/>
                </a:solidFill>
                <a:latin typeface="方正大黑简体" pitchFamily="2" charset="-122"/>
                <a:ea typeface="方正大黑简体" pitchFamily="2" charset="-122"/>
                <a:cs typeface="+mn-cs"/>
              </a:rPr>
              <a:t>为例</a:t>
            </a:r>
          </a:p>
        </p:txBody>
      </p:sp>
      <p:sp>
        <p:nvSpPr>
          <p:cNvPr id="30726" name="矩形 7"/>
          <p:cNvSpPr>
            <a:spLocks noChangeArrowheads="1"/>
          </p:cNvSpPr>
          <p:nvPr/>
        </p:nvSpPr>
        <p:spPr bwMode="auto">
          <a:xfrm>
            <a:off x="323528" y="2564904"/>
            <a:ext cx="2571739" cy="2862322"/>
          </a:xfrm>
          <a:prstGeom prst="rect">
            <a:avLst/>
          </a:prstGeom>
          <a:noFill/>
          <a:ln w="9525">
            <a:noFill/>
            <a:miter lim="800000"/>
            <a:headEnd/>
            <a:tailEnd/>
          </a:ln>
        </p:spPr>
        <p:txBody>
          <a:bodyPr wrap="square">
            <a:spAutoFit/>
          </a:bodyPr>
          <a:lstStyle/>
          <a:p>
            <a:pPr>
              <a:lnSpc>
                <a:spcPct val="150000"/>
              </a:lnSpc>
              <a:spcBef>
                <a:spcPct val="20000"/>
              </a:spcBef>
              <a:buClr>
                <a:srgbClr val="3333FF"/>
              </a:buClr>
              <a:buFont typeface="Wingdings" pitchFamily="2" charset="2"/>
              <a:buChar char="p"/>
              <a:defRPr/>
            </a:pPr>
            <a:r>
              <a:rPr lang="zh-CN" altLang="en-US" sz="2400" dirty="0" smtClean="0">
                <a:solidFill>
                  <a:srgbClr val="FF0000"/>
                </a:solidFill>
                <a:latin typeface="方正大黑简体" pitchFamily="2" charset="-122"/>
                <a:ea typeface="方正大黑简体" pitchFamily="2" charset="-122"/>
              </a:rPr>
              <a:t> 概念</a:t>
            </a:r>
            <a:r>
              <a:rPr lang="zh-CN" altLang="en-US" sz="2400" dirty="0">
                <a:solidFill>
                  <a:srgbClr val="FF0000"/>
                </a:solidFill>
                <a:latin typeface="方正大黑简体" pitchFamily="2" charset="-122"/>
                <a:ea typeface="方正大黑简体" pitchFamily="2" charset="-122"/>
              </a:rPr>
              <a:t>：</a:t>
            </a:r>
            <a:r>
              <a:rPr lang="zh-CN" altLang="en-US" sz="2400" dirty="0">
                <a:solidFill>
                  <a:srgbClr val="0000FF"/>
                </a:solidFill>
                <a:latin typeface="方正大黑简体" pitchFamily="2" charset="-122"/>
                <a:ea typeface="方正大黑简体" pitchFamily="2" charset="-122"/>
              </a:rPr>
              <a:t>均衡器的输出被应用于反馈逻辑中，影响</a:t>
            </a:r>
            <a:r>
              <a:rPr lang="zh-CN" altLang="en-US" sz="2400" dirty="0" smtClean="0">
                <a:solidFill>
                  <a:srgbClr val="0000FF"/>
                </a:solidFill>
                <a:latin typeface="方正大黑简体" pitchFamily="2" charset="-122"/>
                <a:ea typeface="方正大黑简体" pitchFamily="2" charset="-122"/>
              </a:rPr>
              <a:t>了后续的输出结果。</a:t>
            </a:r>
            <a:endParaRPr lang="zh-CN" altLang="en-US" sz="2400" dirty="0">
              <a:solidFill>
                <a:srgbClr val="0000FF"/>
              </a:solidFill>
              <a:latin typeface="方正大黑简体" pitchFamily="2" charset="-122"/>
              <a:ea typeface="方正大黑简体" pitchFamily="2" charset="-122"/>
            </a:endParaRPr>
          </a:p>
        </p:txBody>
      </p:sp>
      <p:sp>
        <p:nvSpPr>
          <p:cNvPr id="7" name="椭圆 6"/>
          <p:cNvSpPr>
            <a:spLocks noChangeArrowheads="1"/>
          </p:cNvSpPr>
          <p:nvPr/>
        </p:nvSpPr>
        <p:spPr bwMode="auto">
          <a:xfrm>
            <a:off x="7786714" y="4500563"/>
            <a:ext cx="500062" cy="642937"/>
          </a:xfrm>
          <a:prstGeom prst="ellipse">
            <a:avLst/>
          </a:prstGeom>
          <a:noFill/>
          <a:ln w="28575" algn="ctr">
            <a:solidFill>
              <a:srgbClr val="FF0000"/>
            </a:solidFill>
            <a:round/>
            <a:headEnd/>
            <a:tailEnd/>
          </a:ln>
        </p:spPr>
        <p:txBody>
          <a:bodyPr/>
          <a:lstStyle/>
          <a:p>
            <a:pPr marL="298450" indent="-298450" defTabSz="696913">
              <a:spcBef>
                <a:spcPct val="20000"/>
              </a:spcBef>
              <a:buClr>
                <a:schemeClr val="accent1"/>
              </a:buClr>
              <a:buFont typeface="Wingdings" pitchFamily="2" charset="2"/>
              <a:buChar char="Ø"/>
            </a:pPr>
            <a:endParaRPr lang="zh-CN" altLang="en-US">
              <a:latin typeface="方正大黑简体" pitchFamily="2" charset="-122"/>
              <a:ea typeface="方正大黑简体" pitchFamily="2" charset="-122"/>
            </a:endParaRPr>
          </a:p>
        </p:txBody>
      </p:sp>
      <p:sp>
        <p:nvSpPr>
          <p:cNvPr id="8" name="矩形 7"/>
          <p:cNvSpPr/>
          <p:nvPr/>
        </p:nvSpPr>
        <p:spPr>
          <a:xfrm>
            <a:off x="1285852" y="317622"/>
            <a:ext cx="7411003" cy="753924"/>
          </a:xfrm>
          <a:prstGeom prst="rect">
            <a:avLst/>
          </a:prstGeom>
        </p:spPr>
        <p:txBody>
          <a:bodyPr wrap="none">
            <a:spAutoFit/>
          </a:bodyPr>
          <a:lstStyle/>
          <a:p>
            <a:pPr>
              <a:lnSpc>
                <a:spcPct val="150000"/>
              </a:lnSpc>
              <a:spcBef>
                <a:spcPct val="20000"/>
              </a:spcBef>
              <a:buClr>
                <a:schemeClr val="accent1"/>
              </a:buClr>
              <a:buFont typeface="Wingdings" pitchFamily="2" charset="2"/>
              <a:buNone/>
              <a:defRPr/>
            </a:pPr>
            <a:r>
              <a:rPr lang="en-US" altLang="zh-CN" sz="3200" dirty="0" smtClean="0">
                <a:solidFill>
                  <a:schemeClr val="bg1"/>
                </a:solidFill>
                <a:latin typeface="方正兰亭粗黑简体" pitchFamily="2" charset="-122"/>
                <a:ea typeface="方正兰亭粗黑简体" pitchFamily="2" charset="-122"/>
              </a:rPr>
              <a:t>1</a:t>
            </a:r>
            <a:r>
              <a:rPr lang="zh-CN" altLang="en-US" sz="3200" dirty="0" smtClean="0">
                <a:solidFill>
                  <a:schemeClr val="bg1"/>
                </a:solidFill>
                <a:latin typeface="方正兰亭粗黑简体" pitchFamily="2" charset="-122"/>
                <a:ea typeface="方正兰亭粗黑简体" pitchFamily="2" charset="-122"/>
              </a:rPr>
              <a:t>、按照均衡器输出是否用于反馈的分类</a:t>
            </a:r>
            <a:endParaRPr lang="zh-CN" altLang="en-US" sz="3200" dirty="0">
              <a:solidFill>
                <a:schemeClr val="bg1"/>
              </a:solidFill>
              <a:latin typeface="方正兰亭粗黑简体" pitchFamily="2" charset="-122"/>
              <a:ea typeface="方正兰亭粗黑简体" pitchFamily="2" charset="-122"/>
            </a:endParaRPr>
          </a:p>
        </p:txBody>
      </p:sp>
      <p:sp>
        <p:nvSpPr>
          <p:cNvPr id="10" name="TextBox 9"/>
          <p:cNvSpPr txBox="1"/>
          <p:nvPr/>
        </p:nvSpPr>
        <p:spPr>
          <a:xfrm>
            <a:off x="5786446" y="6239967"/>
            <a:ext cx="785818" cy="184666"/>
          </a:xfrm>
          <a:prstGeom prst="rect">
            <a:avLst/>
          </a:prstGeom>
          <a:solidFill>
            <a:schemeClr val="bg1"/>
          </a:solidFill>
        </p:spPr>
        <p:txBody>
          <a:bodyPr wrap="square" lIns="0" tIns="0" rIns="0" bIns="0" rtlCol="0">
            <a:spAutoFit/>
          </a:bodyPr>
          <a:lstStyle/>
          <a:p>
            <a:r>
              <a:rPr lang="zh-CN" altLang="en-US" sz="1200" b="1" dirty="0" smtClean="0"/>
              <a:t>后馈滤波器</a:t>
            </a:r>
            <a:endParaRPr lang="zh-CN" altLang="en-US" sz="12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3822989" y="5053027"/>
            <a:ext cx="3533775" cy="895350"/>
          </a:xfrm>
          <a:prstGeom prst="rect">
            <a:avLst/>
          </a:prstGeom>
        </p:spPr>
      </p:pic>
      <p:sp>
        <p:nvSpPr>
          <p:cNvPr id="18436" name="Rectangle 3"/>
          <p:cNvSpPr>
            <a:spLocks noGrp="1" noChangeArrowheads="1"/>
          </p:cNvSpPr>
          <p:nvPr>
            <p:ph type="body" idx="1"/>
          </p:nvPr>
        </p:nvSpPr>
        <p:spPr>
          <a:xfrm>
            <a:off x="571500" y="1955824"/>
            <a:ext cx="7848600" cy="4402134"/>
          </a:xfrm>
        </p:spPr>
        <p:txBody>
          <a:bodyPr>
            <a:normAutofit/>
          </a:bodyPr>
          <a:lstStyle/>
          <a:p>
            <a:pPr>
              <a:lnSpc>
                <a:spcPct val="150000"/>
              </a:lnSpc>
              <a:spcBef>
                <a:spcPts val="600"/>
              </a:spcBef>
              <a:buClr>
                <a:srgbClr val="3333FF"/>
              </a:buClr>
              <a:buFont typeface="Wingdings" pitchFamily="2" charset="2"/>
              <a:buChar char="p"/>
              <a:defRPr/>
            </a:pPr>
            <a:r>
              <a:rPr lang="zh-CN" altLang="en-US" sz="2400" dirty="0" smtClean="0">
                <a:solidFill>
                  <a:srgbClr val="0000FF"/>
                </a:solidFill>
                <a:latin typeface="方正大黑简体" pitchFamily="2" charset="-122"/>
                <a:ea typeface="方正大黑简体" pitchFamily="2" charset="-122"/>
              </a:rPr>
              <a:t> </a:t>
            </a:r>
            <a:r>
              <a:rPr lang="zh-CN" altLang="en-US" sz="2400" dirty="0" smtClean="0">
                <a:solidFill>
                  <a:srgbClr val="FF0000"/>
                </a:solidFill>
                <a:latin typeface="方正大黑简体" pitchFamily="2" charset="-122"/>
                <a:ea typeface="方正大黑简体" pitchFamily="2" charset="-122"/>
              </a:rPr>
              <a:t>基本思路：</a:t>
            </a:r>
            <a:r>
              <a:rPr lang="zh-CN" altLang="en-US" sz="2400" dirty="0" smtClean="0">
                <a:solidFill>
                  <a:srgbClr val="0000FF"/>
                </a:solidFill>
                <a:latin typeface="方正大黑简体" pitchFamily="2" charset="-122"/>
                <a:ea typeface="方正大黑简体" pitchFamily="2" charset="-122"/>
              </a:rPr>
              <a:t>一旦一个信息符号被检测判定后，就可在检测后续符号之前预测并消除由这个信息符号带来的码间串扰。</a:t>
            </a:r>
          </a:p>
          <a:p>
            <a:pPr>
              <a:lnSpc>
                <a:spcPct val="150000"/>
              </a:lnSpc>
              <a:spcBef>
                <a:spcPts val="600"/>
              </a:spcBef>
              <a:buClr>
                <a:srgbClr val="3333FF"/>
              </a:buClr>
              <a:buFont typeface="Wingdings" pitchFamily="2" charset="2"/>
              <a:buChar char="p"/>
              <a:defRPr/>
            </a:pPr>
            <a:r>
              <a:rPr lang="zh-CN" altLang="en-US" sz="2400" dirty="0" smtClean="0">
                <a:solidFill>
                  <a:srgbClr val="FF0000"/>
                </a:solidFill>
                <a:latin typeface="方正大黑简体" pitchFamily="2" charset="-122"/>
                <a:ea typeface="方正大黑简体" pitchFamily="2" charset="-122"/>
              </a:rPr>
              <a:t> 实现：</a:t>
            </a:r>
            <a:r>
              <a:rPr lang="zh-CN" altLang="en-US" sz="2400" dirty="0" smtClean="0">
                <a:solidFill>
                  <a:srgbClr val="0000FF"/>
                </a:solidFill>
                <a:latin typeface="方正大黑简体" pitchFamily="2" charset="-122"/>
                <a:ea typeface="方正大黑简体" pitchFamily="2" charset="-122"/>
              </a:rPr>
              <a:t>由一个前馈滤波器(</a:t>
            </a:r>
            <a:r>
              <a:rPr lang="en-US" altLang="zh-CN" sz="2400" dirty="0" smtClean="0">
                <a:solidFill>
                  <a:srgbClr val="0000FF"/>
                </a:solidFill>
                <a:latin typeface="方正大黑简体" pitchFamily="2" charset="-122"/>
                <a:ea typeface="方正大黑简体" pitchFamily="2" charset="-122"/>
              </a:rPr>
              <a:t>FFF)</a:t>
            </a:r>
            <a:r>
              <a:rPr lang="zh-CN" altLang="en-US" sz="2400" dirty="0" smtClean="0">
                <a:solidFill>
                  <a:srgbClr val="0000FF"/>
                </a:solidFill>
                <a:latin typeface="方正大黑简体" pitchFamily="2" charset="-122"/>
                <a:ea typeface="方正大黑简体" pitchFamily="2" charset="-122"/>
              </a:rPr>
              <a:t>和一个后馈滤波器(</a:t>
            </a:r>
            <a:r>
              <a:rPr lang="en-US" altLang="zh-CN" sz="2400" dirty="0" smtClean="0">
                <a:solidFill>
                  <a:srgbClr val="0000FF"/>
                </a:solidFill>
                <a:latin typeface="方正大黑简体" pitchFamily="2" charset="-122"/>
                <a:ea typeface="方正大黑简体" pitchFamily="2" charset="-122"/>
              </a:rPr>
              <a:t>FBF)</a:t>
            </a:r>
            <a:r>
              <a:rPr lang="zh-CN" altLang="en-US" sz="2400" dirty="0" smtClean="0">
                <a:solidFill>
                  <a:srgbClr val="0000FF"/>
                </a:solidFill>
                <a:latin typeface="方正大黑简体" pitchFamily="2" charset="-122"/>
                <a:ea typeface="方正大黑简体" pitchFamily="2" charset="-122"/>
              </a:rPr>
              <a:t>组成横向滤波器结构实现。</a:t>
            </a:r>
          </a:p>
          <a:p>
            <a:pPr>
              <a:lnSpc>
                <a:spcPct val="150000"/>
              </a:lnSpc>
              <a:spcBef>
                <a:spcPts val="600"/>
              </a:spcBef>
              <a:buClr>
                <a:srgbClr val="3333FF"/>
              </a:buClr>
              <a:buFont typeface="Wingdings" pitchFamily="2" charset="2"/>
              <a:buChar char="p"/>
              <a:defRPr/>
            </a:pPr>
            <a:r>
              <a:rPr lang="zh-CN" altLang="en-US" sz="2400" dirty="0" smtClean="0">
                <a:solidFill>
                  <a:srgbClr val="0000FF"/>
                </a:solidFill>
                <a:latin typeface="方正大黑简体" pitchFamily="2" charset="-122"/>
                <a:ea typeface="方正大黑简体" pitchFamily="2" charset="-122"/>
              </a:rPr>
              <a:t> 均衡器的输出为：</a:t>
            </a:r>
          </a:p>
        </p:txBody>
      </p:sp>
      <p:sp>
        <p:nvSpPr>
          <p:cNvPr id="5" name="Rectangle 2"/>
          <p:cNvSpPr txBox="1">
            <a:spLocks noChangeArrowheads="1"/>
          </p:cNvSpPr>
          <p:nvPr/>
        </p:nvSpPr>
        <p:spPr bwMode="auto">
          <a:xfrm>
            <a:off x="642910" y="1214438"/>
            <a:ext cx="7358089" cy="914400"/>
          </a:xfrm>
          <a:prstGeom prst="rect">
            <a:avLst/>
          </a:prstGeom>
          <a:noFill/>
          <a:ln w="9525">
            <a:noFill/>
            <a:miter lim="800000"/>
            <a:headEnd/>
            <a:tailEnd/>
          </a:ln>
        </p:spPr>
        <p:txBody>
          <a:bodyPr anchor="ctr"/>
          <a:lstStyle/>
          <a:p>
            <a:pPr defTabSz="696913">
              <a:defRPr/>
            </a:pPr>
            <a:r>
              <a:rPr lang="zh-CN" altLang="en-US" sz="2800" dirty="0" smtClean="0">
                <a:solidFill>
                  <a:srgbClr val="0000FF"/>
                </a:solidFill>
                <a:latin typeface="方正大黑简体" pitchFamily="2" charset="-122"/>
                <a:ea typeface="方正大黑简体" pitchFamily="2" charset="-122"/>
              </a:rPr>
              <a:t>（</a:t>
            </a:r>
            <a:r>
              <a:rPr lang="en-US" altLang="zh-CN" sz="2800" dirty="0" smtClean="0">
                <a:solidFill>
                  <a:srgbClr val="0000FF"/>
                </a:solidFill>
                <a:latin typeface="方正大黑简体" pitchFamily="2" charset="-122"/>
                <a:ea typeface="方正大黑简体" pitchFamily="2" charset="-122"/>
              </a:rPr>
              <a:t>2</a:t>
            </a:r>
            <a:r>
              <a:rPr lang="zh-CN" altLang="en-US" sz="2800" dirty="0" smtClean="0">
                <a:solidFill>
                  <a:srgbClr val="0000FF"/>
                </a:solidFill>
                <a:latin typeface="方正大黑简体" pitchFamily="2" charset="-122"/>
                <a:ea typeface="方正大黑简体" pitchFamily="2" charset="-122"/>
              </a:rPr>
              <a:t>）非线性</a:t>
            </a:r>
            <a:r>
              <a:rPr lang="zh-CN" altLang="en-US" sz="2800" dirty="0">
                <a:solidFill>
                  <a:srgbClr val="0000FF"/>
                </a:solidFill>
                <a:latin typeface="方正大黑简体" pitchFamily="2" charset="-122"/>
                <a:ea typeface="方正大黑简体" pitchFamily="2" charset="-122"/>
              </a:rPr>
              <a:t>均衡器</a:t>
            </a:r>
          </a:p>
        </p:txBody>
      </p:sp>
      <p:sp>
        <p:nvSpPr>
          <p:cNvPr id="6" name="椭圆 5"/>
          <p:cNvSpPr>
            <a:spLocks noChangeArrowheads="1"/>
          </p:cNvSpPr>
          <p:nvPr/>
        </p:nvSpPr>
        <p:spPr bwMode="auto">
          <a:xfrm>
            <a:off x="5880684" y="5000636"/>
            <a:ext cx="1571636" cy="1000132"/>
          </a:xfrm>
          <a:prstGeom prst="ellipse">
            <a:avLst/>
          </a:prstGeom>
          <a:noFill/>
          <a:ln w="28575" algn="ctr">
            <a:solidFill>
              <a:srgbClr val="FF0000"/>
            </a:solidFill>
            <a:round/>
            <a:headEnd/>
            <a:tailEnd/>
          </a:ln>
        </p:spPr>
        <p:txBody>
          <a:bodyPr/>
          <a:lstStyle/>
          <a:p>
            <a:pPr marL="298450" indent="-298450" defTabSz="696913">
              <a:spcBef>
                <a:spcPct val="20000"/>
              </a:spcBef>
              <a:buClr>
                <a:schemeClr val="accent1"/>
              </a:buClr>
              <a:buFont typeface="Wingdings" pitchFamily="2" charset="2"/>
              <a:buChar char="Ø"/>
            </a:pPr>
            <a:endParaRPr lang="zh-CN" altLang="en-US">
              <a:latin typeface="方正大黑简体" pitchFamily="2" charset="-122"/>
              <a:ea typeface="方正大黑简体" pitchFamily="2" charset="-122"/>
            </a:endParaRPr>
          </a:p>
        </p:txBody>
      </p:sp>
      <p:sp>
        <p:nvSpPr>
          <p:cNvPr id="8" name="矩形 7"/>
          <p:cNvSpPr/>
          <p:nvPr/>
        </p:nvSpPr>
        <p:spPr>
          <a:xfrm>
            <a:off x="1285852" y="317622"/>
            <a:ext cx="7411003" cy="753924"/>
          </a:xfrm>
          <a:prstGeom prst="rect">
            <a:avLst/>
          </a:prstGeom>
        </p:spPr>
        <p:txBody>
          <a:bodyPr wrap="none">
            <a:spAutoFit/>
          </a:bodyPr>
          <a:lstStyle/>
          <a:p>
            <a:pPr>
              <a:lnSpc>
                <a:spcPct val="150000"/>
              </a:lnSpc>
              <a:spcBef>
                <a:spcPct val="20000"/>
              </a:spcBef>
              <a:buClr>
                <a:schemeClr val="accent1"/>
              </a:buClr>
              <a:buFont typeface="Wingdings" pitchFamily="2" charset="2"/>
              <a:buNone/>
              <a:defRPr/>
            </a:pPr>
            <a:r>
              <a:rPr lang="en-US" altLang="zh-CN" sz="3200" dirty="0" smtClean="0">
                <a:solidFill>
                  <a:schemeClr val="bg1"/>
                </a:solidFill>
                <a:latin typeface="方正兰亭粗黑简体" pitchFamily="2" charset="-122"/>
                <a:ea typeface="方正兰亭粗黑简体" pitchFamily="2" charset="-122"/>
              </a:rPr>
              <a:t>1</a:t>
            </a:r>
            <a:r>
              <a:rPr lang="zh-CN" altLang="en-US" sz="3200" dirty="0" smtClean="0">
                <a:solidFill>
                  <a:schemeClr val="bg1"/>
                </a:solidFill>
                <a:latin typeface="方正兰亭粗黑简体" pitchFamily="2" charset="-122"/>
                <a:ea typeface="方正兰亭粗黑简体" pitchFamily="2" charset="-122"/>
              </a:rPr>
              <a:t>、按照均衡器输出是否用于反馈的分类</a:t>
            </a:r>
            <a:endParaRPr lang="zh-CN" altLang="en-US" sz="3200" dirty="0">
              <a:solidFill>
                <a:schemeClr val="bg1"/>
              </a:solidFill>
              <a:latin typeface="方正兰亭粗黑简体" pitchFamily="2" charset="-122"/>
              <a:ea typeface="方正兰亭粗黑简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Rectangle 3"/>
          <p:cNvSpPr>
            <a:spLocks noGrp="1" noChangeArrowheads="1"/>
          </p:cNvSpPr>
          <p:nvPr>
            <p:ph type="body" idx="1"/>
          </p:nvPr>
        </p:nvSpPr>
        <p:spPr>
          <a:xfrm>
            <a:off x="500062" y="1285875"/>
            <a:ext cx="8143904" cy="4902200"/>
          </a:xfrm>
        </p:spPr>
        <p:txBody>
          <a:bodyPr>
            <a:normAutofit/>
          </a:bodyPr>
          <a:lstStyle/>
          <a:p>
            <a:pPr>
              <a:lnSpc>
                <a:spcPct val="150000"/>
              </a:lnSpc>
              <a:buClr>
                <a:srgbClr val="3333FF"/>
              </a:buClr>
              <a:buFont typeface="Wingdings" pitchFamily="2" charset="2"/>
              <a:buChar char="p"/>
              <a:defRPr/>
            </a:pPr>
            <a:r>
              <a:rPr lang="zh-CN" altLang="en-US" sz="2800" dirty="0" smtClean="0">
                <a:solidFill>
                  <a:srgbClr val="FF0000"/>
                </a:solidFill>
                <a:latin typeface="方正大黑简体" pitchFamily="2" charset="-122"/>
                <a:ea typeface="方正大黑简体" pitchFamily="2" charset="-122"/>
              </a:rPr>
              <a:t>思考：</a:t>
            </a:r>
            <a:r>
              <a:rPr lang="zh-CN" altLang="en-US" sz="2800" dirty="0" smtClean="0">
                <a:solidFill>
                  <a:srgbClr val="0000FF"/>
                </a:solidFill>
                <a:latin typeface="方正大黑简体" pitchFamily="2" charset="-122"/>
                <a:ea typeface="方正大黑简体" pitchFamily="2" charset="-122"/>
              </a:rPr>
              <a:t>线性均衡器和非线性均衡器的适用场合有何区别？</a:t>
            </a:r>
            <a:endParaRPr lang="en-US" altLang="zh-CN" sz="2800" dirty="0" smtClean="0">
              <a:latin typeface="方正大黑简体" pitchFamily="2" charset="-122"/>
              <a:ea typeface="方正大黑简体" pitchFamily="2" charset="-122"/>
            </a:endParaRPr>
          </a:p>
          <a:p>
            <a:pPr lvl="1">
              <a:lnSpc>
                <a:spcPct val="150000"/>
              </a:lnSpc>
              <a:buClr>
                <a:srgbClr val="FF0000"/>
              </a:buClr>
              <a:buFont typeface="Wingdings" pitchFamily="2" charset="2"/>
              <a:buChar char="ü"/>
              <a:defRPr/>
            </a:pPr>
            <a:r>
              <a:rPr lang="zh-CN" altLang="en-US" sz="2400" dirty="0" smtClean="0">
                <a:solidFill>
                  <a:srgbClr val="0000FF"/>
                </a:solidFill>
                <a:latin typeface="方正大黑简体" pitchFamily="2" charset="-122"/>
                <a:ea typeface="方正大黑简体" pitchFamily="2" charset="-122"/>
              </a:rPr>
              <a:t>当信道中有深度频谱衰落时，线性均衡器会对出现深衰落的那段频谱及近旁的频谱产生很大的增益，从而不能有效地补偿信道的衰落特性。</a:t>
            </a:r>
            <a:endParaRPr lang="en-US" altLang="zh-CN" sz="2400" dirty="0" smtClean="0">
              <a:solidFill>
                <a:srgbClr val="0000FF"/>
              </a:solidFill>
              <a:latin typeface="方正大黑简体" pitchFamily="2" charset="-122"/>
              <a:ea typeface="方正大黑简体" pitchFamily="2" charset="-122"/>
            </a:endParaRPr>
          </a:p>
          <a:p>
            <a:pPr lvl="1">
              <a:lnSpc>
                <a:spcPct val="110000"/>
              </a:lnSpc>
              <a:buClr>
                <a:schemeClr val="accent1">
                  <a:lumMod val="75000"/>
                </a:schemeClr>
              </a:buClr>
              <a:defRPr/>
            </a:pPr>
            <a:endParaRPr lang="zh-CN" altLang="en-US" dirty="0" smtClean="0">
              <a:latin typeface="方正大黑简体" pitchFamily="2" charset="-122"/>
              <a:ea typeface="方正大黑简体" pitchFamily="2" charset="-122"/>
            </a:endParaRPr>
          </a:p>
        </p:txBody>
      </p:sp>
      <p:sp>
        <p:nvSpPr>
          <p:cNvPr id="4" name="AutoShape 8"/>
          <p:cNvSpPr>
            <a:spLocks noChangeArrowheads="1"/>
          </p:cNvSpPr>
          <p:nvPr/>
        </p:nvSpPr>
        <p:spPr bwMode="auto">
          <a:xfrm>
            <a:off x="1071538" y="4572008"/>
            <a:ext cx="7632700" cy="1571619"/>
          </a:xfrm>
          <a:prstGeom prst="roundRect">
            <a:avLst>
              <a:gd name="adj" fmla="val 16667"/>
            </a:avLst>
          </a:prstGeom>
          <a:gradFill rotWithShape="1">
            <a:gsLst>
              <a:gs pos="0">
                <a:srgbClr val="CCECFF"/>
              </a:gs>
              <a:gs pos="50000">
                <a:srgbClr val="FFFFFF"/>
              </a:gs>
              <a:gs pos="100000">
                <a:srgbClr val="CCECFF"/>
              </a:gs>
            </a:gsLst>
            <a:lin ang="5400000" scaled="1"/>
          </a:gradFill>
          <a:ln w="28575" algn="ctr">
            <a:solidFill>
              <a:srgbClr val="003399"/>
            </a:solidFill>
            <a:round/>
            <a:headEnd/>
            <a:tailEnd/>
          </a:ln>
          <a:effectLst>
            <a:outerShdw dist="107763" dir="18900000" algn="ctr" rotWithShape="0">
              <a:srgbClr val="B2B2B2">
                <a:alpha val="50000"/>
              </a:srgbClr>
            </a:outerShdw>
          </a:effectLst>
        </p:spPr>
        <p:txBody>
          <a:bodyPr anchor="ctr"/>
          <a:lstStyle/>
          <a:p>
            <a:pPr marL="0" lvl="1" fontAlgn="auto">
              <a:lnSpc>
                <a:spcPct val="150000"/>
              </a:lnSpc>
              <a:spcBef>
                <a:spcPct val="20000"/>
              </a:spcBef>
              <a:spcAft>
                <a:spcPts val="0"/>
              </a:spcAft>
              <a:buClr>
                <a:schemeClr val="accent1"/>
              </a:buClr>
              <a:buFont typeface="Wingdings" pitchFamily="2" charset="2"/>
              <a:buNone/>
              <a:defRPr/>
            </a:pPr>
            <a:r>
              <a:rPr kumimoji="1" lang="zh-CN" altLang="en-US" sz="2800" kern="0" dirty="0" smtClean="0">
                <a:solidFill>
                  <a:srgbClr val="FF0000"/>
                </a:solidFill>
                <a:latin typeface="方正大黑简体" pitchFamily="2" charset="-122"/>
                <a:ea typeface="方正大黑简体" pitchFamily="2" charset="-122"/>
              </a:rPr>
              <a:t>线性</a:t>
            </a:r>
            <a:r>
              <a:rPr kumimoji="1" lang="zh-CN" altLang="en-US" sz="2800" kern="0" dirty="0">
                <a:solidFill>
                  <a:srgbClr val="FF0000"/>
                </a:solidFill>
                <a:latin typeface="方正大黑简体" pitchFamily="2" charset="-122"/>
                <a:ea typeface="方正大黑简体" pitchFamily="2" charset="-122"/>
              </a:rPr>
              <a:t>均衡器</a:t>
            </a:r>
            <a:r>
              <a:rPr kumimoji="1" lang="zh-CN" altLang="en-US" sz="2800" kern="0" dirty="0">
                <a:solidFill>
                  <a:srgbClr val="002060"/>
                </a:solidFill>
                <a:latin typeface="方正大黑简体" pitchFamily="2" charset="-122"/>
                <a:ea typeface="方正大黑简体" pitchFamily="2" charset="-122"/>
              </a:rPr>
              <a:t>适用于谱衰落较平坦的信道</a:t>
            </a:r>
            <a:r>
              <a:rPr kumimoji="1" lang="zh-CN" altLang="en-US" sz="2800" kern="0" dirty="0" smtClean="0">
                <a:solidFill>
                  <a:srgbClr val="002060"/>
                </a:solidFill>
                <a:latin typeface="方正大黑简体" pitchFamily="2" charset="-122"/>
                <a:ea typeface="方正大黑简体" pitchFamily="2" charset="-122"/>
              </a:rPr>
              <a:t>；</a:t>
            </a:r>
            <a:endParaRPr kumimoji="1" lang="en-US" altLang="zh-CN" sz="2800" kern="0" dirty="0" smtClean="0">
              <a:solidFill>
                <a:srgbClr val="002060"/>
              </a:solidFill>
              <a:latin typeface="方正大黑简体" pitchFamily="2" charset="-122"/>
              <a:ea typeface="方正大黑简体" pitchFamily="2" charset="-122"/>
            </a:endParaRPr>
          </a:p>
          <a:p>
            <a:pPr marL="0" lvl="1" fontAlgn="auto">
              <a:lnSpc>
                <a:spcPct val="150000"/>
              </a:lnSpc>
              <a:spcBef>
                <a:spcPct val="20000"/>
              </a:spcBef>
              <a:spcAft>
                <a:spcPts val="0"/>
              </a:spcAft>
              <a:buClr>
                <a:schemeClr val="accent1"/>
              </a:buClr>
              <a:buFont typeface="Wingdings" pitchFamily="2" charset="2"/>
              <a:buNone/>
              <a:defRPr/>
            </a:pPr>
            <a:r>
              <a:rPr kumimoji="1" lang="zh-CN" altLang="en-US" sz="2800" kern="0" dirty="0" smtClean="0">
                <a:solidFill>
                  <a:srgbClr val="FF0000"/>
                </a:solidFill>
                <a:latin typeface="方正大黑简体" pitchFamily="2" charset="-122"/>
                <a:ea typeface="方正大黑简体" pitchFamily="2" charset="-122"/>
              </a:rPr>
              <a:t>非线性均衡器</a:t>
            </a:r>
            <a:r>
              <a:rPr kumimoji="1" lang="zh-CN" altLang="en-US" sz="2800" kern="0" dirty="0">
                <a:solidFill>
                  <a:srgbClr val="002060"/>
                </a:solidFill>
                <a:latin typeface="方正大黑简体" pitchFamily="2" charset="-122"/>
                <a:ea typeface="方正大黑简体" pitchFamily="2" charset="-122"/>
              </a:rPr>
              <a:t>适用于频谱衰落严重不均的信道。</a:t>
            </a:r>
            <a:endParaRPr kumimoji="1" lang="en-US" altLang="zh-CN" sz="2800" kern="0" dirty="0">
              <a:solidFill>
                <a:srgbClr val="002060"/>
              </a:solidFill>
              <a:latin typeface="方正大黑简体" pitchFamily="2" charset="-122"/>
              <a:ea typeface="方正大黑简体" pitchFamily="2" charset="-122"/>
            </a:endParaRPr>
          </a:p>
        </p:txBody>
      </p:sp>
      <p:sp>
        <p:nvSpPr>
          <p:cNvPr id="6" name="矩形 5"/>
          <p:cNvSpPr/>
          <p:nvPr/>
        </p:nvSpPr>
        <p:spPr>
          <a:xfrm>
            <a:off x="1285852" y="317622"/>
            <a:ext cx="7411003" cy="753924"/>
          </a:xfrm>
          <a:prstGeom prst="rect">
            <a:avLst/>
          </a:prstGeom>
        </p:spPr>
        <p:txBody>
          <a:bodyPr wrap="none">
            <a:spAutoFit/>
          </a:bodyPr>
          <a:lstStyle/>
          <a:p>
            <a:pPr>
              <a:lnSpc>
                <a:spcPct val="150000"/>
              </a:lnSpc>
              <a:spcBef>
                <a:spcPct val="20000"/>
              </a:spcBef>
              <a:buClr>
                <a:schemeClr val="accent1"/>
              </a:buClr>
              <a:buFont typeface="Wingdings" pitchFamily="2" charset="2"/>
              <a:buNone/>
              <a:defRPr/>
            </a:pPr>
            <a:r>
              <a:rPr lang="en-US" altLang="zh-CN" sz="3200" dirty="0" smtClean="0">
                <a:solidFill>
                  <a:schemeClr val="bg1"/>
                </a:solidFill>
                <a:latin typeface="方正兰亭粗黑简体" pitchFamily="2" charset="-122"/>
                <a:ea typeface="方正兰亭粗黑简体" pitchFamily="2" charset="-122"/>
              </a:rPr>
              <a:t>1</a:t>
            </a:r>
            <a:r>
              <a:rPr lang="zh-CN" altLang="en-US" sz="3200" dirty="0" smtClean="0">
                <a:solidFill>
                  <a:schemeClr val="bg1"/>
                </a:solidFill>
                <a:latin typeface="方正兰亭粗黑简体" pitchFamily="2" charset="-122"/>
                <a:ea typeface="方正兰亭粗黑简体" pitchFamily="2" charset="-122"/>
              </a:rPr>
              <a:t>、按照均衡器输出是否用于反馈的分类</a:t>
            </a:r>
            <a:endParaRPr lang="zh-CN" altLang="en-US" sz="3200" dirty="0">
              <a:solidFill>
                <a:schemeClr val="bg1"/>
              </a:solidFill>
              <a:latin typeface="方正兰亭粗黑简体" pitchFamily="2" charset="-122"/>
              <a:ea typeface="方正兰亭粗黑简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8436">
                                            <p:txEl>
                                              <p:pRg st="1" end="1"/>
                                            </p:txEl>
                                          </p:spTgt>
                                        </p:tgtEl>
                                        <p:attrNameLst>
                                          <p:attrName>style.visibility</p:attrName>
                                        </p:attrNameLst>
                                      </p:cBhvr>
                                      <p:to>
                                        <p:strVal val="visible"/>
                                      </p:to>
                                    </p:set>
                                    <p:animEffect transition="in" filter="blinds(horizontal)">
                                      <p:cBhvr>
                                        <p:cTn id="7" dur="500"/>
                                        <p:tgtEl>
                                          <p:spTgt spid="18436">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2"/>
          <p:cNvSpPr>
            <a:spLocks noGrp="1" noChangeArrowheads="1"/>
          </p:cNvSpPr>
          <p:nvPr>
            <p:ph type="title"/>
          </p:nvPr>
        </p:nvSpPr>
        <p:spPr>
          <a:xfrm>
            <a:off x="757238" y="300022"/>
            <a:ext cx="7315200" cy="914400"/>
          </a:xfrm>
        </p:spPr>
        <p:txBody>
          <a:bodyPr>
            <a:normAutofit/>
          </a:bodyPr>
          <a:lstStyle/>
          <a:p>
            <a:pPr eaLnBrk="1" hangingPunct="1">
              <a:defRPr/>
            </a:pPr>
            <a:r>
              <a:rPr lang="en-US" altLang="zh-CN" sz="3600" dirty="0" smtClean="0">
                <a:solidFill>
                  <a:schemeClr val="bg1"/>
                </a:solidFill>
                <a:latin typeface="方正兰亭粗黑简体" pitchFamily="2" charset="-122"/>
                <a:ea typeface="方正兰亭粗黑简体" pitchFamily="2" charset="-122"/>
              </a:rPr>
              <a:t>2</a:t>
            </a:r>
            <a:r>
              <a:rPr lang="zh-CN" altLang="en-US" sz="3600" dirty="0" smtClean="0">
                <a:solidFill>
                  <a:schemeClr val="bg1"/>
                </a:solidFill>
                <a:latin typeface="方正兰亭粗黑简体" pitchFamily="2" charset="-122"/>
                <a:ea typeface="方正兰亭粗黑简体" pitchFamily="2" charset="-122"/>
              </a:rPr>
              <a:t>、按照检测级别分类</a:t>
            </a:r>
          </a:p>
        </p:txBody>
      </p:sp>
      <p:sp>
        <p:nvSpPr>
          <p:cNvPr id="32772" name="Rectangle 3"/>
          <p:cNvSpPr>
            <a:spLocks noGrp="1" noChangeArrowheads="1"/>
          </p:cNvSpPr>
          <p:nvPr>
            <p:ph type="body" idx="1"/>
          </p:nvPr>
        </p:nvSpPr>
        <p:spPr>
          <a:xfrm>
            <a:off x="428625" y="1428750"/>
            <a:ext cx="8001000" cy="4929188"/>
          </a:xfrm>
        </p:spPr>
        <p:txBody>
          <a:bodyPr>
            <a:normAutofit/>
          </a:bodyPr>
          <a:lstStyle/>
          <a:p>
            <a:pPr eaLnBrk="1" hangingPunct="1">
              <a:lnSpc>
                <a:spcPct val="150000"/>
              </a:lnSpc>
              <a:buClr>
                <a:srgbClr val="3333FF"/>
              </a:buClr>
              <a:buFont typeface="Wingdings" pitchFamily="2" charset="2"/>
              <a:buChar char="p"/>
              <a:defRPr/>
            </a:pPr>
            <a:r>
              <a:rPr lang="zh-CN" altLang="en-US" sz="2800" dirty="0" smtClean="0">
                <a:solidFill>
                  <a:srgbClr val="0000FF"/>
                </a:solidFill>
                <a:latin typeface="方正大黑简体" pitchFamily="2" charset="-122"/>
                <a:ea typeface="方正大黑简体" pitchFamily="2" charset="-122"/>
              </a:rPr>
              <a:t> </a:t>
            </a:r>
            <a:r>
              <a:rPr lang="zh-CN" altLang="en-US" sz="2800" dirty="0" smtClean="0">
                <a:solidFill>
                  <a:srgbClr val="FF0000"/>
                </a:solidFill>
                <a:latin typeface="方正大黑简体" pitchFamily="2" charset="-122"/>
                <a:ea typeface="方正大黑简体" pitchFamily="2" charset="-122"/>
              </a:rPr>
              <a:t>码片均衡器：</a:t>
            </a:r>
            <a:r>
              <a:rPr lang="zh-CN" altLang="en-US" sz="2800" dirty="0" smtClean="0">
                <a:solidFill>
                  <a:srgbClr val="0000FF"/>
                </a:solidFill>
                <a:latin typeface="方正大黑简体" pitchFamily="2" charset="-122"/>
                <a:ea typeface="方正大黑简体" pitchFamily="2" charset="-122"/>
              </a:rPr>
              <a:t>在码片级进行均衡，只能采用线性均衡，在码片级无法判决。</a:t>
            </a:r>
            <a:endParaRPr lang="en-US" altLang="zh-CN" sz="2800" dirty="0" smtClean="0">
              <a:solidFill>
                <a:srgbClr val="0000FF"/>
              </a:solidFill>
              <a:latin typeface="方正大黑简体" pitchFamily="2" charset="-122"/>
              <a:ea typeface="方正大黑简体" pitchFamily="2" charset="-122"/>
            </a:endParaRPr>
          </a:p>
          <a:p>
            <a:pPr eaLnBrk="1" hangingPunct="1">
              <a:lnSpc>
                <a:spcPct val="150000"/>
              </a:lnSpc>
              <a:buClr>
                <a:srgbClr val="3333FF"/>
              </a:buClr>
              <a:buFont typeface="Wingdings" pitchFamily="2" charset="2"/>
              <a:buChar char="p"/>
              <a:defRPr/>
            </a:pPr>
            <a:r>
              <a:rPr lang="zh-CN" altLang="en-US" sz="2800" dirty="0" smtClean="0">
                <a:solidFill>
                  <a:srgbClr val="0000FF"/>
                </a:solidFill>
                <a:latin typeface="方正大黑简体" pitchFamily="2" charset="-122"/>
                <a:ea typeface="方正大黑简体" pitchFamily="2" charset="-122"/>
              </a:rPr>
              <a:t> </a:t>
            </a:r>
            <a:r>
              <a:rPr lang="zh-CN" altLang="en-US" sz="2800" dirty="0" smtClean="0">
                <a:solidFill>
                  <a:srgbClr val="FF0000"/>
                </a:solidFill>
                <a:latin typeface="方正大黑简体" pitchFamily="2" charset="-122"/>
                <a:ea typeface="方正大黑简体" pitchFamily="2" charset="-122"/>
              </a:rPr>
              <a:t>符号均衡器：</a:t>
            </a:r>
            <a:r>
              <a:rPr lang="zh-CN" altLang="en-US" sz="2800" dirty="0" smtClean="0">
                <a:solidFill>
                  <a:srgbClr val="0000FF"/>
                </a:solidFill>
                <a:latin typeface="方正大黑简体" pitchFamily="2" charset="-122"/>
                <a:ea typeface="方正大黑简体" pitchFamily="2" charset="-122"/>
              </a:rPr>
              <a:t>逐个符号进行判决，然后去除每个符号的码间串扰。</a:t>
            </a:r>
            <a:endParaRPr lang="en-US" altLang="zh-CN" sz="2800" dirty="0" smtClean="0">
              <a:solidFill>
                <a:srgbClr val="0000FF"/>
              </a:solidFill>
              <a:latin typeface="方正大黑简体" pitchFamily="2" charset="-122"/>
              <a:ea typeface="方正大黑简体" pitchFamily="2" charset="-122"/>
            </a:endParaRPr>
          </a:p>
          <a:p>
            <a:pPr>
              <a:lnSpc>
                <a:spcPct val="150000"/>
              </a:lnSpc>
              <a:buClr>
                <a:srgbClr val="3333FF"/>
              </a:buClr>
              <a:buFont typeface="Wingdings" pitchFamily="2" charset="2"/>
              <a:buChar char="p"/>
              <a:defRPr/>
            </a:pPr>
            <a:r>
              <a:rPr lang="zh-CN" altLang="en-US" sz="2800" dirty="0" smtClean="0">
                <a:solidFill>
                  <a:srgbClr val="0000FF"/>
                </a:solidFill>
                <a:latin typeface="方正大黑简体" pitchFamily="2" charset="-122"/>
                <a:ea typeface="方正大黑简体" pitchFamily="2" charset="-122"/>
              </a:rPr>
              <a:t> </a:t>
            </a:r>
            <a:r>
              <a:rPr lang="zh-CN" altLang="en-US" sz="2800" dirty="0" smtClean="0">
                <a:solidFill>
                  <a:srgbClr val="FF0000"/>
                </a:solidFill>
                <a:latin typeface="方正大黑简体" pitchFamily="2" charset="-122"/>
                <a:ea typeface="方正大黑简体" pitchFamily="2" charset="-122"/>
              </a:rPr>
              <a:t>序列均衡器：</a:t>
            </a:r>
            <a:r>
              <a:rPr lang="zh-CN" altLang="en-US" sz="2800" dirty="0" smtClean="0">
                <a:solidFill>
                  <a:srgbClr val="0000FF"/>
                </a:solidFill>
                <a:latin typeface="方正大黑简体" pitchFamily="2" charset="-122"/>
                <a:ea typeface="方正大黑简体" pitchFamily="2" charset="-122"/>
              </a:rPr>
              <a:t>进行符号序列检测判决，然后去除码间串扰。</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ChangeArrowheads="1"/>
          </p:cNvSpPr>
          <p:nvPr>
            <p:ph type="title"/>
          </p:nvPr>
        </p:nvSpPr>
        <p:spPr>
          <a:xfrm>
            <a:off x="757262" y="300022"/>
            <a:ext cx="7315200" cy="914400"/>
          </a:xfrm>
        </p:spPr>
        <p:txBody>
          <a:bodyPr>
            <a:normAutofit/>
          </a:bodyPr>
          <a:lstStyle/>
          <a:p>
            <a:pPr eaLnBrk="1" hangingPunct="1">
              <a:defRPr/>
            </a:pPr>
            <a:r>
              <a:rPr lang="en-US" altLang="zh-CN" sz="3600" dirty="0" smtClean="0">
                <a:solidFill>
                  <a:schemeClr val="bg1"/>
                </a:solidFill>
                <a:latin typeface="方正兰亭粗黑简体" pitchFamily="2" charset="-122"/>
                <a:ea typeface="方正兰亭粗黑简体" pitchFamily="2" charset="-122"/>
              </a:rPr>
              <a:t>3</a:t>
            </a:r>
            <a:r>
              <a:rPr lang="zh-CN" altLang="en-US" sz="3600" dirty="0" smtClean="0">
                <a:solidFill>
                  <a:schemeClr val="bg1"/>
                </a:solidFill>
                <a:latin typeface="方正兰亭粗黑简体" pitchFamily="2" charset="-122"/>
                <a:ea typeface="方正兰亭粗黑简体" pitchFamily="2" charset="-122"/>
              </a:rPr>
              <a:t>、按照频谱效率分类 </a:t>
            </a:r>
          </a:p>
        </p:txBody>
      </p:sp>
      <p:sp>
        <p:nvSpPr>
          <p:cNvPr id="36868" name="Rectangle 3"/>
          <p:cNvSpPr>
            <a:spLocks noGrp="1" noChangeArrowheads="1"/>
          </p:cNvSpPr>
          <p:nvPr>
            <p:ph type="body" idx="1"/>
          </p:nvPr>
        </p:nvSpPr>
        <p:spPr>
          <a:xfrm>
            <a:off x="500063" y="1428750"/>
            <a:ext cx="8072437" cy="4786313"/>
          </a:xfrm>
        </p:spPr>
        <p:txBody>
          <a:bodyPr>
            <a:normAutofit/>
          </a:bodyPr>
          <a:lstStyle/>
          <a:p>
            <a:pPr eaLnBrk="1" hangingPunct="1">
              <a:lnSpc>
                <a:spcPct val="150000"/>
              </a:lnSpc>
              <a:buClr>
                <a:srgbClr val="3333FF"/>
              </a:buClr>
              <a:buFont typeface="Wingdings" pitchFamily="2" charset="2"/>
              <a:buChar char="p"/>
              <a:defRPr/>
            </a:pPr>
            <a:r>
              <a:rPr lang="zh-CN" altLang="en-US" sz="2400" dirty="0" smtClean="0">
                <a:solidFill>
                  <a:srgbClr val="FFC000"/>
                </a:solidFill>
                <a:latin typeface="方正大黑简体" pitchFamily="2" charset="-122"/>
                <a:ea typeface="方正大黑简体" pitchFamily="2" charset="-122"/>
              </a:rPr>
              <a:t> </a:t>
            </a:r>
            <a:r>
              <a:rPr lang="zh-CN" altLang="en-US" sz="2400" dirty="0" smtClean="0">
                <a:solidFill>
                  <a:srgbClr val="FF0000"/>
                </a:solidFill>
                <a:latin typeface="方正大黑简体" pitchFamily="2" charset="-122"/>
                <a:ea typeface="方正大黑简体" pitchFamily="2" charset="-122"/>
              </a:rPr>
              <a:t>基于训练序列的均衡：</a:t>
            </a:r>
            <a:r>
              <a:rPr lang="zh-CN" altLang="en-US" sz="2400" dirty="0" smtClean="0">
                <a:solidFill>
                  <a:srgbClr val="0000FF"/>
                </a:solidFill>
                <a:latin typeface="方正大黑简体" pitchFamily="2" charset="-122"/>
                <a:ea typeface="方正大黑简体" pitchFamily="2" charset="-122"/>
              </a:rPr>
              <a:t>发射端发送训练序列，接收端根据此训练序列对均衡器进行调整。</a:t>
            </a:r>
          </a:p>
          <a:p>
            <a:pPr eaLnBrk="1" hangingPunct="1">
              <a:lnSpc>
                <a:spcPct val="150000"/>
              </a:lnSpc>
              <a:buClr>
                <a:srgbClr val="3333FF"/>
              </a:buClr>
              <a:buFont typeface="Wingdings" pitchFamily="2" charset="2"/>
              <a:buChar char="p"/>
              <a:defRPr/>
            </a:pPr>
            <a:r>
              <a:rPr lang="zh-CN" altLang="en-US" sz="2400" dirty="0" smtClean="0">
                <a:solidFill>
                  <a:srgbClr val="FF0000"/>
                </a:solidFill>
                <a:latin typeface="方正大黑简体" pitchFamily="2" charset="-122"/>
                <a:ea typeface="方正大黑简体" pitchFamily="2" charset="-122"/>
              </a:rPr>
              <a:t> 盲均衡 ：</a:t>
            </a:r>
            <a:r>
              <a:rPr lang="zh-CN" altLang="en-US" sz="2400" dirty="0" smtClean="0">
                <a:solidFill>
                  <a:srgbClr val="0000FF"/>
                </a:solidFill>
                <a:latin typeface="方正大黑简体" pitchFamily="2" charset="-122"/>
                <a:ea typeface="方正大黑简体" pitchFamily="2" charset="-122"/>
              </a:rPr>
              <a:t>不需要训练序列，利用发射信号特性进行调整，频谱利用率高，但收敛速率慢，目前在实际中难以较好地应用。</a:t>
            </a:r>
          </a:p>
          <a:p>
            <a:pPr eaLnBrk="1" hangingPunct="1">
              <a:lnSpc>
                <a:spcPct val="150000"/>
              </a:lnSpc>
              <a:buClr>
                <a:srgbClr val="3333FF"/>
              </a:buClr>
              <a:buFont typeface="Wingdings" pitchFamily="2" charset="2"/>
              <a:buChar char="p"/>
              <a:defRPr/>
            </a:pPr>
            <a:r>
              <a:rPr lang="zh-CN" altLang="en-US" sz="2400" dirty="0" smtClean="0">
                <a:solidFill>
                  <a:srgbClr val="FF0000"/>
                </a:solidFill>
                <a:latin typeface="方正大黑简体" pitchFamily="2" charset="-122"/>
                <a:ea typeface="方正大黑简体" pitchFamily="2" charset="-122"/>
              </a:rPr>
              <a:t> 半盲均衡：</a:t>
            </a:r>
            <a:r>
              <a:rPr lang="zh-CN" altLang="en-US" sz="2400" dirty="0" smtClean="0">
                <a:solidFill>
                  <a:srgbClr val="0000FF"/>
                </a:solidFill>
                <a:latin typeface="方正大黑简体" pitchFamily="2" charset="-122"/>
                <a:ea typeface="方正大黑简体" pitchFamily="2" charset="-122"/>
              </a:rPr>
              <a:t>初始引导调节均衡器参数，随后在同步接收的前提下自主调节系数，效率居中。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6868">
                                            <p:txEl>
                                              <p:pRg st="0" end="0"/>
                                            </p:txEl>
                                          </p:spTgt>
                                        </p:tgtEl>
                                        <p:attrNameLst>
                                          <p:attrName>style.visibility</p:attrName>
                                        </p:attrNameLst>
                                      </p:cBhvr>
                                      <p:to>
                                        <p:strVal val="visible"/>
                                      </p:to>
                                    </p:set>
                                    <p:animEffect transition="in" filter="blinds(horizontal)">
                                      <p:cBhvr>
                                        <p:cTn id="7" dur="500"/>
                                        <p:tgtEl>
                                          <p:spTgt spid="3686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6868">
                                            <p:txEl>
                                              <p:pRg st="1" end="1"/>
                                            </p:txEl>
                                          </p:spTgt>
                                        </p:tgtEl>
                                        <p:attrNameLst>
                                          <p:attrName>style.visibility</p:attrName>
                                        </p:attrNameLst>
                                      </p:cBhvr>
                                      <p:to>
                                        <p:strVal val="visible"/>
                                      </p:to>
                                    </p:set>
                                    <p:animEffect transition="in" filter="blinds(horizontal)">
                                      <p:cBhvr>
                                        <p:cTn id="12" dur="500"/>
                                        <p:tgtEl>
                                          <p:spTgt spid="3686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6868">
                                            <p:txEl>
                                              <p:pRg st="2" end="2"/>
                                            </p:txEl>
                                          </p:spTgt>
                                        </p:tgtEl>
                                        <p:attrNameLst>
                                          <p:attrName>style.visibility</p:attrName>
                                        </p:attrNameLst>
                                      </p:cBhvr>
                                      <p:to>
                                        <p:strVal val="visible"/>
                                      </p:to>
                                    </p:set>
                                    <p:animEffect transition="in" filter="blinds(horizontal)">
                                      <p:cBhvr>
                                        <p:cTn id="17" dur="500"/>
                                        <p:tgtEl>
                                          <p:spTgt spid="3686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idx="4294967295"/>
          </p:nvPr>
        </p:nvSpPr>
        <p:spPr>
          <a:xfrm>
            <a:off x="1357290" y="332656"/>
            <a:ext cx="6858000" cy="808021"/>
          </a:xfrm>
        </p:spPr>
        <p:txBody>
          <a:bodyPr>
            <a:noAutofit/>
          </a:bodyPr>
          <a:lstStyle/>
          <a:p>
            <a:pPr eaLnBrk="1" hangingPunct="1"/>
            <a:r>
              <a:rPr lang="zh-CN" altLang="en-US" sz="3600" dirty="0" smtClean="0">
                <a:solidFill>
                  <a:schemeClr val="bg1"/>
                </a:solidFill>
                <a:latin typeface="方正兰亭粗黑简体" pitchFamily="2" charset="-122"/>
                <a:ea typeface="方正兰亭粗黑简体" pitchFamily="2" charset="-122"/>
              </a:rPr>
              <a:t>本次课的教学内容</a:t>
            </a:r>
          </a:p>
        </p:txBody>
      </p:sp>
      <p:sp>
        <p:nvSpPr>
          <p:cNvPr id="15364" name="Rectangle 3"/>
          <p:cNvSpPr>
            <a:spLocks noGrp="1" noChangeArrowheads="1"/>
          </p:cNvSpPr>
          <p:nvPr>
            <p:ph type="body" idx="4294967295"/>
          </p:nvPr>
        </p:nvSpPr>
        <p:spPr>
          <a:xfrm>
            <a:off x="857224" y="1357298"/>
            <a:ext cx="7286654" cy="3895716"/>
          </a:xfrm>
        </p:spPr>
        <p:txBody>
          <a:bodyPr/>
          <a:lstStyle/>
          <a:p>
            <a:pPr algn="just" eaLnBrk="1" hangingPunct="1">
              <a:lnSpc>
                <a:spcPct val="150000"/>
              </a:lnSpc>
              <a:spcBef>
                <a:spcPts val="1200"/>
              </a:spcBef>
              <a:buFontTx/>
              <a:buNone/>
            </a:pPr>
            <a:r>
              <a:rPr lang="en-US" altLang="zh-CN" sz="2800" dirty="0" smtClean="0">
                <a:solidFill>
                  <a:srgbClr val="0000FF"/>
                </a:solidFill>
                <a:latin typeface="方正兰亭粗黑简体" pitchFamily="2" charset="-122"/>
                <a:ea typeface="方正兰亭粗黑简体" pitchFamily="2" charset="-122"/>
              </a:rPr>
              <a:t>5.3.1 </a:t>
            </a:r>
            <a:r>
              <a:rPr lang="zh-CN" altLang="en-US" sz="2800" dirty="0" smtClean="0">
                <a:solidFill>
                  <a:srgbClr val="0000FF"/>
                </a:solidFill>
                <a:latin typeface="方正兰亭粗黑简体" pitchFamily="2" charset="-122"/>
                <a:ea typeface="方正兰亭粗黑简体" pitchFamily="2" charset="-122"/>
              </a:rPr>
              <a:t>自适应均衡原理</a:t>
            </a:r>
          </a:p>
          <a:p>
            <a:pPr algn="just" eaLnBrk="1" hangingPunct="1">
              <a:lnSpc>
                <a:spcPct val="150000"/>
              </a:lnSpc>
              <a:spcBef>
                <a:spcPts val="1200"/>
              </a:spcBef>
              <a:buFontTx/>
              <a:buNone/>
            </a:pPr>
            <a:r>
              <a:rPr lang="en-US" altLang="zh-CN" sz="2800" dirty="0" smtClean="0">
                <a:solidFill>
                  <a:srgbClr val="0000FF"/>
                </a:solidFill>
                <a:latin typeface="方正兰亭粗黑简体" pitchFamily="2" charset="-122"/>
                <a:ea typeface="方正兰亭粗黑简体" pitchFamily="2" charset="-122"/>
              </a:rPr>
              <a:t>5.3.2 </a:t>
            </a:r>
            <a:r>
              <a:rPr lang="zh-CN" altLang="en-US" sz="2800" dirty="0" smtClean="0">
                <a:solidFill>
                  <a:srgbClr val="0000FF"/>
                </a:solidFill>
                <a:latin typeface="方正兰亭粗黑简体" pitchFamily="2" charset="-122"/>
                <a:ea typeface="方正兰亭粗黑简体" pitchFamily="2" charset="-122"/>
              </a:rPr>
              <a:t>均衡器类型</a:t>
            </a:r>
            <a:endParaRPr lang="en-US" altLang="zh-CN" sz="2800" dirty="0" smtClean="0">
              <a:solidFill>
                <a:srgbClr val="0000FF"/>
              </a:solidFill>
              <a:latin typeface="方正兰亭粗黑简体" pitchFamily="2" charset="-122"/>
              <a:ea typeface="方正兰亭粗黑简体" pitchFamily="2" charset="-122"/>
            </a:endParaRPr>
          </a:p>
          <a:p>
            <a:pPr algn="just" eaLnBrk="1" hangingPunct="1">
              <a:lnSpc>
                <a:spcPct val="150000"/>
              </a:lnSpc>
              <a:spcBef>
                <a:spcPts val="1200"/>
              </a:spcBef>
              <a:buFontTx/>
              <a:buNone/>
            </a:pPr>
            <a:r>
              <a:rPr lang="en-US" altLang="zh-CN" sz="2800" dirty="0" smtClean="0">
                <a:solidFill>
                  <a:srgbClr val="FF0000"/>
                </a:solidFill>
                <a:latin typeface="方正兰亭粗黑简体" pitchFamily="2" charset="-122"/>
                <a:ea typeface="方正兰亭粗黑简体" pitchFamily="2" charset="-122"/>
              </a:rPr>
              <a:t>5.3.3 </a:t>
            </a:r>
            <a:r>
              <a:rPr lang="zh-CN" altLang="en-US" sz="2800" dirty="0" smtClean="0">
                <a:solidFill>
                  <a:srgbClr val="FF0000"/>
                </a:solidFill>
                <a:latin typeface="方正兰亭粗黑简体" pitchFamily="2" charset="-122"/>
                <a:ea typeface="方正兰亭粗黑简体" pitchFamily="2" charset="-122"/>
              </a:rPr>
              <a:t>均衡算法</a:t>
            </a:r>
          </a:p>
          <a:p>
            <a:pPr algn="just" eaLnBrk="1" hangingPunct="1">
              <a:lnSpc>
                <a:spcPct val="150000"/>
              </a:lnSpc>
              <a:spcBef>
                <a:spcPts val="1200"/>
              </a:spcBef>
              <a:buFontTx/>
              <a:buNone/>
            </a:pPr>
            <a:r>
              <a:rPr lang="en-US" altLang="zh-CN" sz="2800" dirty="0" smtClean="0">
                <a:solidFill>
                  <a:srgbClr val="0000FF"/>
                </a:solidFill>
                <a:latin typeface="方正兰亭粗黑简体" pitchFamily="2" charset="-122"/>
                <a:ea typeface="方正兰亭粗黑简体" pitchFamily="2" charset="-122"/>
              </a:rPr>
              <a:t>5.3.4 </a:t>
            </a:r>
            <a:r>
              <a:rPr lang="zh-CN" altLang="en-US" sz="2800" dirty="0" smtClean="0">
                <a:solidFill>
                  <a:srgbClr val="0000FF"/>
                </a:solidFill>
                <a:latin typeface="方正兰亭粗黑简体" pitchFamily="2" charset="-122"/>
                <a:ea typeface="方正兰亭粗黑简体" pitchFamily="2" charset="-122"/>
              </a:rPr>
              <a:t>自适应均衡器的应用</a:t>
            </a:r>
          </a:p>
        </p:txBody>
      </p:sp>
    </p:spTree>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2"/>
          <p:cNvSpPr>
            <a:spLocks noGrp="1" noChangeArrowheads="1"/>
          </p:cNvSpPr>
          <p:nvPr>
            <p:ph type="title"/>
          </p:nvPr>
        </p:nvSpPr>
        <p:spPr>
          <a:xfrm>
            <a:off x="757238" y="300022"/>
            <a:ext cx="7315200" cy="914400"/>
          </a:xfrm>
        </p:spPr>
        <p:txBody>
          <a:bodyPr>
            <a:normAutofit/>
          </a:bodyPr>
          <a:lstStyle/>
          <a:p>
            <a:pPr>
              <a:defRPr/>
            </a:pPr>
            <a:r>
              <a:rPr lang="zh-CN" altLang="en-US" sz="3600" dirty="0" smtClean="0">
                <a:solidFill>
                  <a:schemeClr val="bg1"/>
                </a:solidFill>
                <a:latin typeface="方正兰亭粗黑简体" pitchFamily="2" charset="-122"/>
                <a:ea typeface="方正兰亭粗黑简体" pitchFamily="2" charset="-122"/>
              </a:rPr>
              <a:t>四、均衡算法</a:t>
            </a:r>
            <a:endParaRPr lang="zh-CN" altLang="en-US" sz="3600" dirty="0" smtClean="0">
              <a:solidFill>
                <a:schemeClr val="bg1"/>
              </a:solidFill>
              <a:latin typeface="方正兰亭粗黑简体" pitchFamily="2" charset="-122"/>
              <a:ea typeface="方正兰亭粗黑简体" pitchFamily="2" charset="-122"/>
              <a:cs typeface="+mn-cs"/>
            </a:endParaRPr>
          </a:p>
        </p:txBody>
      </p:sp>
      <p:sp>
        <p:nvSpPr>
          <p:cNvPr id="66564" name="Rectangle 3"/>
          <p:cNvSpPr>
            <a:spLocks noGrp="1" noChangeArrowheads="1"/>
          </p:cNvSpPr>
          <p:nvPr>
            <p:ph type="body" idx="1"/>
          </p:nvPr>
        </p:nvSpPr>
        <p:spPr>
          <a:xfrm>
            <a:off x="642938" y="1285875"/>
            <a:ext cx="8143875" cy="5072063"/>
          </a:xfrm>
        </p:spPr>
        <p:txBody>
          <a:bodyPr>
            <a:normAutofit lnSpcReduction="10000"/>
          </a:bodyPr>
          <a:lstStyle/>
          <a:p>
            <a:pPr algn="just">
              <a:lnSpc>
                <a:spcPct val="150000"/>
              </a:lnSpc>
              <a:buClr>
                <a:schemeClr val="accent1">
                  <a:lumMod val="75000"/>
                </a:schemeClr>
              </a:buClr>
              <a:buNone/>
              <a:defRPr/>
            </a:pPr>
            <a:r>
              <a:rPr lang="zh-CN" altLang="en-US" sz="2800" dirty="0" smtClean="0">
                <a:solidFill>
                  <a:srgbClr val="000099"/>
                </a:solidFill>
                <a:latin typeface="方正大黑简体" pitchFamily="2" charset="-122"/>
                <a:ea typeface="方正大黑简体" pitchFamily="2" charset="-122"/>
              </a:rPr>
              <a:t> </a:t>
            </a:r>
            <a:r>
              <a:rPr lang="en-US" altLang="zh-CN" sz="2800" dirty="0" smtClean="0">
                <a:solidFill>
                  <a:srgbClr val="000099"/>
                </a:solidFill>
                <a:latin typeface="方正大黑简体" pitchFamily="2" charset="-122"/>
                <a:ea typeface="方正大黑简体" pitchFamily="2" charset="-122"/>
              </a:rPr>
              <a:t>1</a:t>
            </a:r>
            <a:r>
              <a:rPr lang="zh-CN" altLang="en-US" sz="2800" dirty="0" smtClean="0">
                <a:solidFill>
                  <a:srgbClr val="000099"/>
                </a:solidFill>
                <a:latin typeface="方正大黑简体" pitchFamily="2" charset="-122"/>
                <a:ea typeface="方正大黑简体" pitchFamily="2" charset="-122"/>
              </a:rPr>
              <a:t>、均衡算法的定义</a:t>
            </a:r>
          </a:p>
          <a:p>
            <a:pPr lvl="1" algn="just">
              <a:lnSpc>
                <a:spcPct val="150000"/>
              </a:lnSpc>
              <a:buClr>
                <a:srgbClr val="3333FF"/>
              </a:buClr>
              <a:buFont typeface="Wingdings" pitchFamily="2" charset="2"/>
              <a:buChar char="p"/>
              <a:defRPr/>
            </a:pPr>
            <a:r>
              <a:rPr lang="zh-CN" altLang="en-US" sz="2400" dirty="0" smtClean="0">
                <a:solidFill>
                  <a:srgbClr val="0000FF"/>
                </a:solidFill>
                <a:latin typeface="方正大黑简体" pitchFamily="2" charset="-122"/>
                <a:ea typeface="方正大黑简体" pitchFamily="2" charset="-122"/>
              </a:rPr>
              <a:t> 在给定均衡准则下，调节均衡器抽头系数（</a:t>
            </a:r>
            <a:r>
              <a:rPr lang="zh-CN" altLang="en-US" sz="2400" dirty="0" smtClean="0">
                <a:solidFill>
                  <a:srgbClr val="3333FF"/>
                </a:solidFill>
                <a:latin typeface="方正大黑简体" pitchFamily="2" charset="-122"/>
                <a:ea typeface="方正大黑简体" pitchFamily="2" charset="-122"/>
              </a:rPr>
              <a:t>权重</a:t>
            </a:r>
            <a:r>
              <a:rPr lang="zh-CN" altLang="en-US" sz="2400" dirty="0" smtClean="0">
                <a:solidFill>
                  <a:srgbClr val="0000FF"/>
                </a:solidFill>
                <a:latin typeface="方正大黑简体" pitchFamily="2" charset="-122"/>
                <a:ea typeface="方正大黑简体" pitchFamily="2" charset="-122"/>
              </a:rPr>
              <a:t>）以实现均衡准则要求的方法称为均衡算法。</a:t>
            </a:r>
            <a:endParaRPr lang="en-US" altLang="zh-CN" sz="2400" dirty="0" smtClean="0">
              <a:solidFill>
                <a:srgbClr val="0000FF"/>
              </a:solidFill>
              <a:latin typeface="方正大黑简体" pitchFamily="2" charset="-122"/>
              <a:ea typeface="方正大黑简体" pitchFamily="2" charset="-122"/>
            </a:endParaRPr>
          </a:p>
          <a:p>
            <a:pPr lvl="1" algn="just">
              <a:lnSpc>
                <a:spcPct val="150000"/>
              </a:lnSpc>
              <a:buClr>
                <a:srgbClr val="3333FF"/>
              </a:buClr>
              <a:buNone/>
              <a:defRPr/>
            </a:pPr>
            <a:endParaRPr lang="en-US" altLang="zh-CN" sz="2600" dirty="0" smtClean="0">
              <a:solidFill>
                <a:srgbClr val="0000FF"/>
              </a:solidFill>
              <a:latin typeface="方正大黑简体" pitchFamily="2" charset="-122"/>
              <a:ea typeface="方正大黑简体" pitchFamily="2" charset="-122"/>
            </a:endParaRPr>
          </a:p>
          <a:p>
            <a:pPr algn="just">
              <a:lnSpc>
                <a:spcPct val="150000"/>
              </a:lnSpc>
              <a:buClr>
                <a:srgbClr val="3333FF"/>
              </a:buClr>
              <a:buNone/>
              <a:defRPr/>
            </a:pPr>
            <a:r>
              <a:rPr lang="en-US" altLang="zh-CN" sz="2800" dirty="0" smtClean="0">
                <a:solidFill>
                  <a:srgbClr val="000099"/>
                </a:solidFill>
                <a:latin typeface="方正大黑简体" pitchFamily="2" charset="-122"/>
                <a:ea typeface="方正大黑简体" pitchFamily="2" charset="-122"/>
              </a:rPr>
              <a:t>2</a:t>
            </a:r>
            <a:r>
              <a:rPr lang="zh-CN" altLang="en-US" sz="2800" dirty="0" smtClean="0">
                <a:solidFill>
                  <a:srgbClr val="000099"/>
                </a:solidFill>
                <a:latin typeface="方正大黑简体" pitchFamily="2" charset="-122"/>
                <a:ea typeface="方正大黑简体" pitchFamily="2" charset="-122"/>
              </a:rPr>
              <a:t>、衡量均衡算法优劣的主要指标</a:t>
            </a:r>
            <a:endParaRPr lang="en-US" altLang="zh-CN" sz="2800" dirty="0" smtClean="0">
              <a:solidFill>
                <a:srgbClr val="000099"/>
              </a:solidFill>
              <a:latin typeface="方正大黑简体" pitchFamily="2" charset="-122"/>
              <a:ea typeface="方正大黑简体" pitchFamily="2" charset="-122"/>
            </a:endParaRPr>
          </a:p>
          <a:p>
            <a:pPr lvl="1" algn="just">
              <a:lnSpc>
                <a:spcPct val="150000"/>
              </a:lnSpc>
              <a:buClr>
                <a:srgbClr val="3333FF"/>
              </a:buClr>
              <a:buFont typeface="Wingdings" pitchFamily="2" charset="2"/>
              <a:buChar char="p"/>
              <a:defRPr/>
            </a:pPr>
            <a:r>
              <a:rPr lang="zh-CN" altLang="en-US" sz="2400" dirty="0" smtClean="0">
                <a:solidFill>
                  <a:srgbClr val="0000FF"/>
                </a:solidFill>
                <a:latin typeface="方正大黑简体" pitchFamily="2" charset="-122"/>
                <a:ea typeface="方正大黑简体" pitchFamily="2" charset="-122"/>
              </a:rPr>
              <a:t> 收敛速度</a:t>
            </a:r>
            <a:endParaRPr lang="en-US" altLang="zh-CN" sz="2400" dirty="0" smtClean="0">
              <a:solidFill>
                <a:srgbClr val="0000FF"/>
              </a:solidFill>
              <a:latin typeface="方正大黑简体" pitchFamily="2" charset="-122"/>
              <a:ea typeface="方正大黑简体" pitchFamily="2" charset="-122"/>
            </a:endParaRPr>
          </a:p>
          <a:p>
            <a:pPr lvl="1" algn="just">
              <a:lnSpc>
                <a:spcPct val="150000"/>
              </a:lnSpc>
              <a:buClr>
                <a:srgbClr val="3333FF"/>
              </a:buClr>
              <a:buFont typeface="Wingdings" pitchFamily="2" charset="2"/>
              <a:buChar char="p"/>
              <a:defRPr/>
            </a:pPr>
            <a:r>
              <a:rPr lang="zh-CN" altLang="en-US" sz="2400" dirty="0" smtClean="0">
                <a:solidFill>
                  <a:srgbClr val="0000FF"/>
                </a:solidFill>
                <a:latin typeface="方正大黑简体" pitchFamily="2" charset="-122"/>
                <a:ea typeface="方正大黑简体" pitchFamily="2" charset="-122"/>
              </a:rPr>
              <a:t> 运算量</a:t>
            </a:r>
            <a:endParaRPr lang="en-US" altLang="zh-CN" sz="2400" dirty="0" smtClean="0">
              <a:solidFill>
                <a:srgbClr val="0000FF"/>
              </a:solidFill>
              <a:latin typeface="方正大黑简体" pitchFamily="2" charset="-122"/>
              <a:ea typeface="方正大黑简体" pitchFamily="2" charset="-122"/>
            </a:endParaRPr>
          </a:p>
          <a:p>
            <a:pPr lvl="1" algn="just">
              <a:lnSpc>
                <a:spcPct val="150000"/>
              </a:lnSpc>
              <a:buClr>
                <a:srgbClr val="3333FF"/>
              </a:buClr>
              <a:buFont typeface="Wingdings" pitchFamily="2" charset="2"/>
              <a:buChar char="p"/>
              <a:defRPr/>
            </a:pPr>
            <a:r>
              <a:rPr lang="zh-CN" altLang="en-US" sz="2400" dirty="0" smtClean="0">
                <a:solidFill>
                  <a:srgbClr val="0000FF"/>
                </a:solidFill>
                <a:latin typeface="方正大黑简体" pitchFamily="2" charset="-122"/>
                <a:ea typeface="方正大黑简体" pitchFamily="2" charset="-122"/>
              </a:rPr>
              <a:t> 数值特性</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6564">
                                            <p:txEl>
                                              <p:pRg st="3" end="3"/>
                                            </p:txEl>
                                          </p:spTgt>
                                        </p:tgtEl>
                                        <p:attrNameLst>
                                          <p:attrName>style.visibility</p:attrName>
                                        </p:attrNameLst>
                                      </p:cBhvr>
                                      <p:to>
                                        <p:strVal val="visible"/>
                                      </p:to>
                                    </p:set>
                                    <p:animEffect transition="in" filter="blinds(horizontal)">
                                      <p:cBhvr>
                                        <p:cTn id="7" dur="500"/>
                                        <p:tgtEl>
                                          <p:spTgt spid="66564">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6564">
                                            <p:txEl>
                                              <p:pRg st="4" end="4"/>
                                            </p:txEl>
                                          </p:spTgt>
                                        </p:tgtEl>
                                        <p:attrNameLst>
                                          <p:attrName>style.visibility</p:attrName>
                                        </p:attrNameLst>
                                      </p:cBhvr>
                                      <p:to>
                                        <p:strVal val="visible"/>
                                      </p:to>
                                    </p:set>
                                    <p:animEffect transition="in" filter="blinds(horizontal)">
                                      <p:cBhvr>
                                        <p:cTn id="12" dur="500"/>
                                        <p:tgtEl>
                                          <p:spTgt spid="66564">
                                            <p:txEl>
                                              <p:pRg st="4" end="4"/>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66564">
                                            <p:txEl>
                                              <p:pRg st="5" end="5"/>
                                            </p:txEl>
                                          </p:spTgt>
                                        </p:tgtEl>
                                        <p:attrNameLst>
                                          <p:attrName>style.visibility</p:attrName>
                                        </p:attrNameLst>
                                      </p:cBhvr>
                                      <p:to>
                                        <p:strVal val="visible"/>
                                      </p:to>
                                    </p:set>
                                    <p:animEffect transition="in" filter="blinds(horizontal)">
                                      <p:cBhvr>
                                        <p:cTn id="15" dur="500"/>
                                        <p:tgtEl>
                                          <p:spTgt spid="66564">
                                            <p:txEl>
                                              <p:pRg st="5" end="5"/>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66564">
                                            <p:txEl>
                                              <p:pRg st="6" end="6"/>
                                            </p:txEl>
                                          </p:spTgt>
                                        </p:tgtEl>
                                        <p:attrNameLst>
                                          <p:attrName>style.visibility</p:attrName>
                                        </p:attrNameLst>
                                      </p:cBhvr>
                                      <p:to>
                                        <p:strVal val="visible"/>
                                      </p:to>
                                    </p:set>
                                    <p:animEffect transition="in" filter="blinds(horizontal)">
                                      <p:cBhvr>
                                        <p:cTn id="18" dur="500"/>
                                        <p:tgtEl>
                                          <p:spTgt spid="6656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9" name="Rectangle 3"/>
          <p:cNvSpPr>
            <a:spLocks noGrp="1" noChangeArrowheads="1"/>
          </p:cNvSpPr>
          <p:nvPr>
            <p:ph type="body" idx="1"/>
          </p:nvPr>
        </p:nvSpPr>
        <p:spPr>
          <a:xfrm>
            <a:off x="571500" y="1214438"/>
            <a:ext cx="7848600" cy="5429250"/>
          </a:xfrm>
        </p:spPr>
        <p:txBody>
          <a:bodyPr/>
          <a:lstStyle/>
          <a:p>
            <a:pPr>
              <a:lnSpc>
                <a:spcPct val="150000"/>
              </a:lnSpc>
              <a:buClr>
                <a:schemeClr val="accent1">
                  <a:lumMod val="75000"/>
                </a:schemeClr>
              </a:buClr>
              <a:buNone/>
              <a:defRPr/>
            </a:pPr>
            <a:r>
              <a:rPr lang="en-US" altLang="zh-CN" sz="2800" dirty="0" smtClean="0">
                <a:solidFill>
                  <a:srgbClr val="000099"/>
                </a:solidFill>
                <a:latin typeface="方正大黑简体" pitchFamily="2" charset="-122"/>
                <a:ea typeface="方正大黑简体" pitchFamily="2" charset="-122"/>
              </a:rPr>
              <a:t>3</a:t>
            </a:r>
            <a:r>
              <a:rPr lang="zh-CN" altLang="en-US" sz="2800" dirty="0" smtClean="0">
                <a:solidFill>
                  <a:srgbClr val="000099"/>
                </a:solidFill>
                <a:latin typeface="方正大黑简体" pitchFamily="2" charset="-122"/>
                <a:ea typeface="方正大黑简体" pitchFamily="2" charset="-122"/>
              </a:rPr>
              <a:t>、均衡准则－ 权系数的优化准则</a:t>
            </a:r>
          </a:p>
          <a:p>
            <a:pPr lvl="1">
              <a:lnSpc>
                <a:spcPct val="150000"/>
              </a:lnSpc>
              <a:buClr>
                <a:srgbClr val="3333FF"/>
              </a:buClr>
              <a:buFont typeface="Wingdings" pitchFamily="2" charset="2"/>
              <a:buChar char="p"/>
              <a:defRPr/>
            </a:pPr>
            <a:r>
              <a:rPr lang="zh-CN" altLang="en-US" sz="2800" dirty="0" smtClean="0">
                <a:solidFill>
                  <a:srgbClr val="3333FF"/>
                </a:solidFill>
                <a:latin typeface="方正大黑简体" pitchFamily="2" charset="-122"/>
                <a:ea typeface="方正大黑简体" pitchFamily="2" charset="-122"/>
              </a:rPr>
              <a:t> </a:t>
            </a:r>
            <a:r>
              <a:rPr lang="zh-CN" altLang="en-US" sz="2800" dirty="0" smtClean="0">
                <a:solidFill>
                  <a:srgbClr val="FF0000"/>
                </a:solidFill>
                <a:latin typeface="方正大黑简体" pitchFamily="2" charset="-122"/>
                <a:ea typeface="方正大黑简体" pitchFamily="2" charset="-122"/>
              </a:rPr>
              <a:t>最小峰值失真准则：</a:t>
            </a:r>
            <a:r>
              <a:rPr lang="zh-CN" altLang="en-US" sz="2800" dirty="0" smtClean="0">
                <a:solidFill>
                  <a:srgbClr val="3333FF"/>
                </a:solidFill>
                <a:latin typeface="方正大黑简体" pitchFamily="2" charset="-122"/>
                <a:ea typeface="方正大黑简体" pitchFamily="2" charset="-122"/>
              </a:rPr>
              <a:t>使码间串扰值最小。</a:t>
            </a:r>
          </a:p>
          <a:p>
            <a:pPr lvl="2">
              <a:lnSpc>
                <a:spcPct val="150000"/>
              </a:lnSpc>
              <a:buClr>
                <a:srgbClr val="FF0000"/>
              </a:buClr>
              <a:buFont typeface="Wingdings" pitchFamily="2" charset="2"/>
              <a:buChar char="ü"/>
              <a:defRPr/>
            </a:pPr>
            <a:r>
              <a:rPr lang="zh-CN" altLang="en-US" dirty="0" smtClean="0">
                <a:solidFill>
                  <a:srgbClr val="3333FF"/>
                </a:solidFill>
                <a:latin typeface="方正大黑简体" pitchFamily="2" charset="-122"/>
                <a:ea typeface="方正大黑简体" pitchFamily="2" charset="-122"/>
              </a:rPr>
              <a:t> 最大失真定义为均衡器输出端的最大码间串扰。</a:t>
            </a:r>
            <a:endParaRPr lang="en-US" altLang="zh-CN" dirty="0" smtClean="0">
              <a:solidFill>
                <a:srgbClr val="3333FF"/>
              </a:solidFill>
              <a:latin typeface="方正大黑简体" pitchFamily="2" charset="-122"/>
              <a:ea typeface="方正大黑简体" pitchFamily="2" charset="-122"/>
            </a:endParaRPr>
          </a:p>
          <a:p>
            <a:pPr lvl="2">
              <a:lnSpc>
                <a:spcPct val="150000"/>
              </a:lnSpc>
              <a:buClr>
                <a:srgbClr val="FF0000"/>
              </a:buClr>
              <a:buFont typeface="Wingdings" pitchFamily="2" charset="2"/>
              <a:buChar char="ü"/>
              <a:defRPr/>
            </a:pPr>
            <a:r>
              <a:rPr lang="en-US" altLang="zh-CN" dirty="0" smtClean="0">
                <a:solidFill>
                  <a:srgbClr val="3333FF"/>
                </a:solidFill>
                <a:latin typeface="方正大黑简体" pitchFamily="2" charset="-122"/>
                <a:ea typeface="方正大黑简体" pitchFamily="2" charset="-122"/>
              </a:rPr>
              <a:t> </a:t>
            </a:r>
            <a:r>
              <a:rPr lang="zh-CN" altLang="en-US" dirty="0" smtClean="0">
                <a:solidFill>
                  <a:srgbClr val="3333FF"/>
                </a:solidFill>
                <a:latin typeface="方正大黑简体" pitchFamily="2" charset="-122"/>
                <a:ea typeface="方正大黑简体" pitchFamily="2" charset="-122"/>
              </a:rPr>
              <a:t>要求使最大失真最小化。</a:t>
            </a:r>
            <a:endParaRPr lang="en-US" altLang="zh-CN" dirty="0" smtClean="0">
              <a:solidFill>
                <a:srgbClr val="3333FF"/>
              </a:solidFill>
              <a:latin typeface="方正大黑简体" pitchFamily="2" charset="-122"/>
              <a:ea typeface="方正大黑简体" pitchFamily="2" charset="-122"/>
            </a:endParaRPr>
          </a:p>
          <a:p>
            <a:pPr lvl="2">
              <a:lnSpc>
                <a:spcPct val="150000"/>
              </a:lnSpc>
              <a:buClr>
                <a:srgbClr val="FF0000"/>
              </a:buClr>
              <a:buNone/>
              <a:defRPr/>
            </a:pPr>
            <a:endParaRPr lang="en-US" altLang="zh-CN" dirty="0" smtClean="0">
              <a:solidFill>
                <a:srgbClr val="3333FF"/>
              </a:solidFill>
              <a:latin typeface="方正大黑简体" pitchFamily="2" charset="-122"/>
              <a:ea typeface="方正大黑简体" pitchFamily="2" charset="-122"/>
            </a:endParaRPr>
          </a:p>
          <a:p>
            <a:pPr lvl="1">
              <a:lnSpc>
                <a:spcPct val="150000"/>
              </a:lnSpc>
              <a:buClr>
                <a:srgbClr val="3333FF"/>
              </a:buClr>
              <a:buFont typeface="Wingdings" pitchFamily="2" charset="2"/>
              <a:buChar char="p"/>
              <a:defRPr/>
            </a:pPr>
            <a:r>
              <a:rPr lang="zh-CN" altLang="en-US" sz="2800" dirty="0" smtClean="0">
                <a:solidFill>
                  <a:srgbClr val="FF0000"/>
                </a:solidFill>
                <a:latin typeface="方正大黑简体" pitchFamily="2" charset="-122"/>
                <a:ea typeface="方正大黑简体" pitchFamily="2" charset="-122"/>
              </a:rPr>
              <a:t> 最小均方误差（</a:t>
            </a:r>
            <a:r>
              <a:rPr lang="en-US" altLang="zh-CN" sz="2800" dirty="0" smtClean="0">
                <a:solidFill>
                  <a:srgbClr val="FF0000"/>
                </a:solidFill>
                <a:latin typeface="方正大黑简体" pitchFamily="2" charset="-122"/>
                <a:ea typeface="方正大黑简体" pitchFamily="2" charset="-122"/>
              </a:rPr>
              <a:t>LMS</a:t>
            </a:r>
            <a:r>
              <a:rPr lang="zh-CN" altLang="en-US" sz="2800" dirty="0" smtClean="0">
                <a:solidFill>
                  <a:srgbClr val="FF0000"/>
                </a:solidFill>
                <a:latin typeface="方正大黑简体" pitchFamily="2" charset="-122"/>
                <a:ea typeface="方正大黑简体" pitchFamily="2" charset="-122"/>
              </a:rPr>
              <a:t>）准则</a:t>
            </a:r>
            <a:r>
              <a:rPr lang="zh-CN" altLang="en-US" sz="2800" dirty="0" smtClean="0">
                <a:solidFill>
                  <a:srgbClr val="3333FF"/>
                </a:solidFill>
                <a:latin typeface="方正大黑简体" pitchFamily="2" charset="-122"/>
                <a:ea typeface="方正大黑简体" pitchFamily="2" charset="-122"/>
              </a:rPr>
              <a:t>：</a:t>
            </a:r>
            <a:r>
              <a:rPr lang="en-US" altLang="zh-CN" sz="2800" dirty="0" smtClean="0">
                <a:solidFill>
                  <a:srgbClr val="3333FF"/>
                </a:solidFill>
                <a:latin typeface="方正大黑简体" pitchFamily="2" charset="-122"/>
                <a:ea typeface="方正大黑简体" pitchFamily="2" charset="-122"/>
              </a:rPr>
              <a:t>k</a:t>
            </a:r>
            <a:r>
              <a:rPr lang="zh-CN" altLang="en-US" sz="2800" dirty="0" smtClean="0">
                <a:solidFill>
                  <a:srgbClr val="3333FF"/>
                </a:solidFill>
                <a:latin typeface="方正大黑简体" pitchFamily="2" charset="-122"/>
                <a:ea typeface="方正大黑简体" pitchFamily="2" charset="-122"/>
              </a:rPr>
              <a:t>时刻均衡器期望输出值和实际输出值间的均方误差</a:t>
            </a:r>
            <a:r>
              <a:rPr lang="en-US" altLang="zh-CN" sz="2800" i="1" dirty="0" smtClean="0">
                <a:solidFill>
                  <a:srgbClr val="3333FF"/>
                </a:solidFill>
                <a:latin typeface="Times New Roman" panose="02020603050405020304" pitchFamily="18" charset="0"/>
                <a:ea typeface="方正大黑简体" pitchFamily="2" charset="-122"/>
                <a:cs typeface="Times New Roman" panose="02020603050405020304" pitchFamily="18" charset="0"/>
              </a:rPr>
              <a:t>E</a:t>
            </a:r>
            <a:r>
              <a:rPr lang="en-US" altLang="zh-CN" sz="2800" dirty="0" smtClean="0">
                <a:solidFill>
                  <a:srgbClr val="3333FF"/>
                </a:solidFill>
                <a:latin typeface="Times New Roman" panose="02020603050405020304" pitchFamily="18" charset="0"/>
                <a:ea typeface="方正大黑简体" pitchFamily="2" charset="-122"/>
                <a:cs typeface="Times New Roman" panose="02020603050405020304" pitchFamily="18" charset="0"/>
              </a:rPr>
              <a:t>[</a:t>
            </a:r>
            <a:r>
              <a:rPr lang="en-US" altLang="zh-CN" sz="2800" i="1" dirty="0" smtClean="0">
                <a:solidFill>
                  <a:srgbClr val="3333FF"/>
                </a:solidFill>
                <a:latin typeface="Times New Roman" panose="02020603050405020304" pitchFamily="18" charset="0"/>
                <a:ea typeface="方正大黑简体" pitchFamily="2" charset="-122"/>
                <a:cs typeface="Times New Roman" panose="02020603050405020304" pitchFamily="18" charset="0"/>
              </a:rPr>
              <a:t>e</a:t>
            </a:r>
            <a:r>
              <a:rPr lang="en-US" altLang="zh-CN" sz="2800" dirty="0" smtClean="0">
                <a:solidFill>
                  <a:srgbClr val="3333FF"/>
                </a:solidFill>
                <a:latin typeface="Times New Roman" panose="02020603050405020304" pitchFamily="18" charset="0"/>
                <a:ea typeface="方正大黑简体" pitchFamily="2" charset="-122"/>
                <a:cs typeface="Times New Roman" panose="02020603050405020304" pitchFamily="18" charset="0"/>
              </a:rPr>
              <a:t>(k)</a:t>
            </a:r>
            <a:r>
              <a:rPr lang="en-US" altLang="zh-CN" sz="2800" i="1" dirty="0" smtClean="0">
                <a:solidFill>
                  <a:srgbClr val="3333FF"/>
                </a:solidFill>
                <a:latin typeface="Times New Roman" panose="02020603050405020304" pitchFamily="18" charset="0"/>
                <a:ea typeface="方正大黑简体" pitchFamily="2" charset="-122"/>
                <a:cs typeface="Times New Roman" panose="02020603050405020304" pitchFamily="18" charset="0"/>
              </a:rPr>
              <a:t>e</a:t>
            </a:r>
            <a:r>
              <a:rPr lang="en-US" altLang="zh-CN" sz="2800" baseline="30000" dirty="0" smtClean="0">
                <a:solidFill>
                  <a:srgbClr val="3333FF"/>
                </a:solidFill>
                <a:latin typeface="Times New Roman" panose="02020603050405020304" pitchFamily="18" charset="0"/>
                <a:ea typeface="方正大黑简体" pitchFamily="2" charset="-122"/>
                <a:cs typeface="Times New Roman" panose="02020603050405020304" pitchFamily="18" charset="0"/>
              </a:rPr>
              <a:t>*</a:t>
            </a:r>
            <a:r>
              <a:rPr lang="en-US" altLang="zh-CN" sz="2800" dirty="0" smtClean="0">
                <a:solidFill>
                  <a:srgbClr val="3333FF"/>
                </a:solidFill>
                <a:latin typeface="Times New Roman" panose="02020603050405020304" pitchFamily="18" charset="0"/>
                <a:ea typeface="方正大黑简体" pitchFamily="2" charset="-122"/>
                <a:cs typeface="Times New Roman" panose="02020603050405020304" pitchFamily="18" charset="0"/>
              </a:rPr>
              <a:t>(k)]</a:t>
            </a:r>
            <a:r>
              <a:rPr lang="zh-CN" altLang="en-US" sz="2800" dirty="0" smtClean="0">
                <a:solidFill>
                  <a:srgbClr val="3333FF"/>
                </a:solidFill>
                <a:latin typeface="方正大黑简体" pitchFamily="2" charset="-122"/>
                <a:ea typeface="方正大黑简体" pitchFamily="2" charset="-122"/>
              </a:rPr>
              <a:t>最小化。</a:t>
            </a:r>
            <a:endParaRPr lang="zh-CN" altLang="en-US" dirty="0" smtClean="0">
              <a:solidFill>
                <a:srgbClr val="3333FF"/>
              </a:solidFill>
              <a:latin typeface="方正大黑简体" pitchFamily="2" charset="-122"/>
              <a:ea typeface="方正大黑简体" pitchFamily="2" charset="-122"/>
            </a:endParaRPr>
          </a:p>
        </p:txBody>
      </p:sp>
      <p:sp>
        <p:nvSpPr>
          <p:cNvPr id="5" name="Rectangle 2"/>
          <p:cNvSpPr>
            <a:spLocks noGrp="1" noChangeArrowheads="1"/>
          </p:cNvSpPr>
          <p:nvPr>
            <p:ph type="title"/>
          </p:nvPr>
        </p:nvSpPr>
        <p:spPr>
          <a:xfrm>
            <a:off x="757238" y="300022"/>
            <a:ext cx="7315200" cy="914400"/>
          </a:xfrm>
        </p:spPr>
        <p:txBody>
          <a:bodyPr>
            <a:normAutofit/>
          </a:bodyPr>
          <a:lstStyle/>
          <a:p>
            <a:pPr>
              <a:defRPr/>
            </a:pPr>
            <a:r>
              <a:rPr lang="zh-CN" altLang="en-US" sz="3600" dirty="0" smtClean="0">
                <a:solidFill>
                  <a:schemeClr val="bg1"/>
                </a:solidFill>
                <a:latin typeface="方正兰亭粗黑简体" pitchFamily="2" charset="-122"/>
                <a:ea typeface="方正兰亭粗黑简体" pitchFamily="2" charset="-122"/>
              </a:rPr>
              <a:t>四、均衡算法</a:t>
            </a:r>
            <a:endParaRPr lang="zh-CN" altLang="en-US" sz="3600" dirty="0" smtClean="0">
              <a:solidFill>
                <a:schemeClr val="bg1"/>
              </a:solidFill>
              <a:latin typeface="方正兰亭粗黑简体" pitchFamily="2" charset="-122"/>
              <a:ea typeface="方正兰亭粗黑简体"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5779">
                                            <p:txEl>
                                              <p:pRg st="5" end="5"/>
                                            </p:txEl>
                                          </p:spTgt>
                                        </p:tgtEl>
                                        <p:attrNameLst>
                                          <p:attrName>style.visibility</p:attrName>
                                        </p:attrNameLst>
                                      </p:cBhvr>
                                      <p:to>
                                        <p:strVal val="visible"/>
                                      </p:to>
                                    </p:set>
                                    <p:animEffect transition="in" filter="blinds(horizontal)">
                                      <p:cBhvr>
                                        <p:cTn id="7" dur="500"/>
                                        <p:tgtEl>
                                          <p:spTgt spid="7577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4" name="Rectangle 3"/>
          <p:cNvSpPr>
            <a:spLocks noGrp="1" noChangeArrowheads="1"/>
          </p:cNvSpPr>
          <p:nvPr>
            <p:ph type="body" idx="1"/>
          </p:nvPr>
        </p:nvSpPr>
        <p:spPr>
          <a:xfrm>
            <a:off x="357188" y="1357298"/>
            <a:ext cx="7772400" cy="4286266"/>
          </a:xfrm>
        </p:spPr>
        <p:txBody>
          <a:bodyPr>
            <a:normAutofit/>
          </a:bodyPr>
          <a:lstStyle/>
          <a:p>
            <a:pPr>
              <a:lnSpc>
                <a:spcPct val="150000"/>
              </a:lnSpc>
              <a:buClr>
                <a:schemeClr val="accent1">
                  <a:lumMod val="75000"/>
                </a:schemeClr>
              </a:buClr>
              <a:buNone/>
              <a:defRPr/>
            </a:pPr>
            <a:r>
              <a:rPr lang="en-US" altLang="zh-CN" sz="2800" dirty="0" smtClean="0">
                <a:solidFill>
                  <a:srgbClr val="000099"/>
                </a:solidFill>
                <a:latin typeface="方正大黑简体" pitchFamily="2" charset="-122"/>
                <a:ea typeface="方正大黑简体" pitchFamily="2" charset="-122"/>
              </a:rPr>
              <a:t>4</a:t>
            </a:r>
            <a:r>
              <a:rPr lang="zh-CN" altLang="en-US" sz="2800" dirty="0" smtClean="0">
                <a:solidFill>
                  <a:srgbClr val="000099"/>
                </a:solidFill>
                <a:latin typeface="方正大黑简体" pitchFamily="2" charset="-122"/>
                <a:ea typeface="方正大黑简体" pitchFamily="2" charset="-122"/>
              </a:rPr>
              <a:t>、</a:t>
            </a:r>
            <a:r>
              <a:rPr lang="en-US" altLang="zh-CN" sz="2800" dirty="0" smtClean="0">
                <a:solidFill>
                  <a:srgbClr val="000099"/>
                </a:solidFill>
                <a:latin typeface="方正大黑简体" pitchFamily="2" charset="-122"/>
                <a:ea typeface="方正大黑简体" pitchFamily="2" charset="-122"/>
              </a:rPr>
              <a:t>LMS</a:t>
            </a:r>
            <a:r>
              <a:rPr lang="zh-CN" altLang="en-US" sz="2800" dirty="0" smtClean="0">
                <a:solidFill>
                  <a:srgbClr val="000099"/>
                </a:solidFill>
                <a:latin typeface="方正大黑简体" pitchFamily="2" charset="-122"/>
                <a:ea typeface="方正大黑简体" pitchFamily="2" charset="-122"/>
              </a:rPr>
              <a:t>算法原理</a:t>
            </a:r>
            <a:endParaRPr lang="en-US" altLang="zh-CN" sz="2800" dirty="0" smtClean="0">
              <a:solidFill>
                <a:srgbClr val="000099"/>
              </a:solidFill>
              <a:latin typeface="方正大黑简体" pitchFamily="2" charset="-122"/>
              <a:ea typeface="方正大黑简体" pitchFamily="2" charset="-122"/>
            </a:endParaRPr>
          </a:p>
          <a:p>
            <a:pPr>
              <a:lnSpc>
                <a:spcPct val="150000"/>
              </a:lnSpc>
              <a:buClr>
                <a:srgbClr val="3333FF"/>
              </a:buClr>
              <a:buNone/>
              <a:defRPr/>
            </a:pPr>
            <a:r>
              <a:rPr lang="zh-CN" altLang="en-US" sz="2400" dirty="0" smtClean="0">
                <a:solidFill>
                  <a:srgbClr val="3333FF"/>
                </a:solidFill>
                <a:latin typeface="方正大黑简体" pitchFamily="2" charset="-122"/>
                <a:ea typeface="方正大黑简体" pitchFamily="2" charset="-122"/>
              </a:rPr>
              <a:t>（</a:t>
            </a:r>
            <a:r>
              <a:rPr lang="en-US" altLang="zh-CN" sz="2400" dirty="0" smtClean="0">
                <a:solidFill>
                  <a:srgbClr val="3333FF"/>
                </a:solidFill>
                <a:latin typeface="方正大黑简体" pitchFamily="2" charset="-122"/>
                <a:ea typeface="方正大黑简体" pitchFamily="2" charset="-122"/>
              </a:rPr>
              <a:t>1</a:t>
            </a:r>
            <a:r>
              <a:rPr lang="zh-CN" altLang="en-US" sz="2400" dirty="0" smtClean="0">
                <a:solidFill>
                  <a:srgbClr val="3333FF"/>
                </a:solidFill>
                <a:latin typeface="方正大黑简体" pitchFamily="2" charset="-122"/>
                <a:ea typeface="方正大黑简体" pitchFamily="2" charset="-122"/>
              </a:rPr>
              <a:t>）目标</a:t>
            </a:r>
            <a:endParaRPr lang="en-US" altLang="zh-CN" sz="2400" dirty="0" smtClean="0">
              <a:solidFill>
                <a:srgbClr val="3333FF"/>
              </a:solidFill>
              <a:latin typeface="方正大黑简体" pitchFamily="2" charset="-122"/>
              <a:ea typeface="方正大黑简体" pitchFamily="2" charset="-122"/>
            </a:endParaRPr>
          </a:p>
          <a:p>
            <a:pPr lvl="1" eaLnBrk="1" hangingPunct="1">
              <a:lnSpc>
                <a:spcPct val="200000"/>
              </a:lnSpc>
              <a:buClr>
                <a:srgbClr val="3333FF"/>
              </a:buClr>
              <a:buFont typeface="Wingdings" pitchFamily="2" charset="2"/>
              <a:buChar char="p"/>
              <a:defRPr/>
            </a:pPr>
            <a:endParaRPr lang="en-US" altLang="zh-CN" sz="2400" dirty="0" smtClean="0">
              <a:solidFill>
                <a:srgbClr val="3333FF"/>
              </a:solidFill>
              <a:latin typeface="方正大黑简体" pitchFamily="2" charset="-122"/>
              <a:ea typeface="方正大黑简体" pitchFamily="2" charset="-122"/>
            </a:endParaRPr>
          </a:p>
          <a:p>
            <a:pPr lvl="1" eaLnBrk="1" hangingPunct="1">
              <a:lnSpc>
                <a:spcPct val="150000"/>
              </a:lnSpc>
              <a:buClr>
                <a:srgbClr val="3333FF"/>
              </a:buClr>
              <a:buFont typeface="Wingdings" pitchFamily="2" charset="2"/>
              <a:buChar char="p"/>
              <a:defRPr/>
            </a:pPr>
            <a:r>
              <a:rPr lang="en-US" altLang="zh-CN" sz="2400" b="1" i="1" dirty="0" smtClean="0">
                <a:latin typeface="Times New Roman" panose="02020603050405020304" pitchFamily="18" charset="0"/>
                <a:ea typeface="方正大黑简体" pitchFamily="2" charset="-122"/>
                <a:cs typeface="Times New Roman" panose="02020603050405020304" pitchFamily="18" charset="0"/>
              </a:rPr>
              <a:t>y</a:t>
            </a:r>
            <a:r>
              <a:rPr lang="en-US" altLang="zh-CN" sz="2400" dirty="0" smtClean="0">
                <a:latin typeface="Times New Roman" panose="02020603050405020304" pitchFamily="18" charset="0"/>
                <a:ea typeface="方正大黑简体" pitchFamily="2" charset="-122"/>
                <a:cs typeface="Times New Roman" panose="02020603050405020304" pitchFamily="18" charset="0"/>
              </a:rPr>
              <a:t>(</a:t>
            </a:r>
            <a:r>
              <a:rPr lang="en-US" altLang="zh-CN" sz="2400" i="1" dirty="0" smtClean="0">
                <a:latin typeface="Times New Roman" panose="02020603050405020304" pitchFamily="18" charset="0"/>
                <a:ea typeface="方正大黑简体" pitchFamily="2" charset="-122"/>
                <a:cs typeface="Times New Roman" panose="02020603050405020304" pitchFamily="18" charset="0"/>
              </a:rPr>
              <a:t>k</a:t>
            </a:r>
            <a:r>
              <a:rPr lang="en-US" altLang="zh-CN" sz="2400" dirty="0" smtClean="0">
                <a:latin typeface="Times New Roman" panose="02020603050405020304" pitchFamily="18" charset="0"/>
                <a:ea typeface="方正大黑简体" pitchFamily="2" charset="-122"/>
                <a:cs typeface="Times New Roman" panose="02020603050405020304" pitchFamily="18" charset="0"/>
              </a:rPr>
              <a:t>)</a:t>
            </a:r>
            <a:r>
              <a:rPr lang="zh-CN" altLang="en-US" sz="2400" dirty="0" smtClean="0">
                <a:solidFill>
                  <a:srgbClr val="3333FF"/>
                </a:solidFill>
                <a:latin typeface="方正大黑简体" pitchFamily="2" charset="-122"/>
                <a:ea typeface="方正大黑简体" pitchFamily="2" charset="-122"/>
              </a:rPr>
              <a:t>：均衡器输入信号</a:t>
            </a:r>
            <a:endParaRPr lang="en-US" altLang="zh-CN" sz="2400" dirty="0" smtClean="0">
              <a:solidFill>
                <a:srgbClr val="3333FF"/>
              </a:solidFill>
              <a:latin typeface="方正大黑简体" pitchFamily="2" charset="-122"/>
              <a:ea typeface="方正大黑简体" pitchFamily="2" charset="-122"/>
            </a:endParaRPr>
          </a:p>
          <a:p>
            <a:pPr lvl="1">
              <a:lnSpc>
                <a:spcPct val="150000"/>
              </a:lnSpc>
              <a:buClr>
                <a:srgbClr val="3333FF"/>
              </a:buClr>
              <a:buFont typeface="Wingdings" pitchFamily="2" charset="2"/>
              <a:buChar char="p"/>
              <a:defRPr/>
            </a:pPr>
            <a:r>
              <a:rPr lang="en-US" altLang="zh-CN" sz="2400" b="1" i="1" dirty="0" smtClean="0">
                <a:latin typeface="Times New Roman" panose="02020603050405020304" pitchFamily="18" charset="0"/>
                <a:ea typeface="方正大黑简体" pitchFamily="2" charset="-122"/>
                <a:cs typeface="Times New Roman" panose="02020603050405020304" pitchFamily="18" charset="0"/>
              </a:rPr>
              <a:t>w</a:t>
            </a:r>
            <a:r>
              <a:rPr lang="en-US" altLang="zh-CN" sz="2400" dirty="0" smtClean="0">
                <a:latin typeface="Times New Roman" panose="02020603050405020304" pitchFamily="18" charset="0"/>
                <a:ea typeface="方正大黑简体" pitchFamily="2" charset="-122"/>
                <a:cs typeface="Times New Roman" panose="02020603050405020304" pitchFamily="18" charset="0"/>
              </a:rPr>
              <a:t>(</a:t>
            </a:r>
            <a:r>
              <a:rPr lang="en-US" altLang="zh-CN" sz="2400" i="1" dirty="0" smtClean="0">
                <a:latin typeface="Times New Roman" panose="02020603050405020304" pitchFamily="18" charset="0"/>
                <a:ea typeface="方正大黑简体" pitchFamily="2" charset="-122"/>
                <a:cs typeface="Times New Roman" panose="02020603050405020304" pitchFamily="18" charset="0"/>
              </a:rPr>
              <a:t>k</a:t>
            </a:r>
            <a:r>
              <a:rPr lang="en-US" altLang="zh-CN" sz="2400" dirty="0" smtClean="0">
                <a:latin typeface="Times New Roman" panose="02020603050405020304" pitchFamily="18" charset="0"/>
                <a:ea typeface="方正大黑简体" pitchFamily="2" charset="-122"/>
                <a:cs typeface="Times New Roman" panose="02020603050405020304" pitchFamily="18" charset="0"/>
              </a:rPr>
              <a:t>)</a:t>
            </a:r>
            <a:r>
              <a:rPr lang="zh-CN" altLang="en-US" sz="2400" i="1" dirty="0" smtClean="0">
                <a:latin typeface="Times New Roman" panose="02020603050405020304" pitchFamily="18" charset="0"/>
                <a:ea typeface="方正大黑简体" pitchFamily="2" charset="-122"/>
                <a:cs typeface="Times New Roman" panose="02020603050405020304" pitchFamily="18" charset="0"/>
              </a:rPr>
              <a:t> </a:t>
            </a:r>
            <a:r>
              <a:rPr lang="zh-CN" altLang="en-US" sz="2400" dirty="0" smtClean="0">
                <a:solidFill>
                  <a:srgbClr val="3333FF"/>
                </a:solidFill>
                <a:latin typeface="方正大黑简体" pitchFamily="2" charset="-122"/>
                <a:ea typeface="方正大黑简体" pitchFamily="2" charset="-122"/>
              </a:rPr>
              <a:t>：均衡器抽头系数</a:t>
            </a:r>
            <a:endParaRPr lang="en-US" altLang="zh-CN" sz="2400" dirty="0" smtClean="0">
              <a:solidFill>
                <a:srgbClr val="3333FF"/>
              </a:solidFill>
              <a:latin typeface="方正大黑简体" pitchFamily="2" charset="-122"/>
              <a:ea typeface="方正大黑简体" pitchFamily="2" charset="-122"/>
            </a:endParaRPr>
          </a:p>
        </p:txBody>
      </p:sp>
      <p:sp>
        <p:nvSpPr>
          <p:cNvPr id="6" name="Rectangle 2"/>
          <p:cNvSpPr txBox="1">
            <a:spLocks noChangeArrowheads="1"/>
          </p:cNvSpPr>
          <p:nvPr/>
        </p:nvSpPr>
        <p:spPr>
          <a:xfrm>
            <a:off x="757238" y="300022"/>
            <a:ext cx="7315200" cy="91440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zh-CN" altLang="en-US" sz="3600" b="0" i="0" u="none" strike="noStrike" kern="1200" cap="none" spc="0" normalizeH="0" baseline="0" noProof="0" smtClean="0">
                <a:ln>
                  <a:noFill/>
                </a:ln>
                <a:solidFill>
                  <a:schemeClr val="bg1"/>
                </a:solidFill>
                <a:effectLst/>
                <a:uLnTx/>
                <a:uFillTx/>
                <a:latin typeface="方正兰亭粗黑简体" pitchFamily="2" charset="-122"/>
                <a:ea typeface="方正兰亭粗黑简体" pitchFamily="2" charset="-122"/>
                <a:cs typeface="+mj-cs"/>
              </a:rPr>
              <a:t>四、均衡算法</a:t>
            </a:r>
            <a:endParaRPr kumimoji="0" lang="zh-CN" altLang="en-US" sz="3600" b="0" i="0" u="none" strike="noStrike" kern="1200" cap="none" spc="0" normalizeH="0" baseline="0" noProof="0" dirty="0" smtClean="0">
              <a:ln>
                <a:noFill/>
              </a:ln>
              <a:solidFill>
                <a:schemeClr val="bg1"/>
              </a:solidFill>
              <a:effectLst/>
              <a:uLnTx/>
              <a:uFillTx/>
              <a:latin typeface="方正兰亭粗黑简体" pitchFamily="2" charset="-122"/>
              <a:ea typeface="方正兰亭粗黑简体" pitchFamily="2" charset="-122"/>
              <a:cs typeface="+mn-cs"/>
            </a:endParaRPr>
          </a:p>
        </p:txBody>
      </p:sp>
      <p:sp>
        <p:nvSpPr>
          <p:cNvPr id="8" name="矩形 7"/>
          <p:cNvSpPr/>
          <p:nvPr/>
        </p:nvSpPr>
        <p:spPr>
          <a:xfrm>
            <a:off x="285720" y="4786322"/>
            <a:ext cx="8215370" cy="646331"/>
          </a:xfrm>
          <a:prstGeom prst="rect">
            <a:avLst/>
          </a:prstGeom>
        </p:spPr>
        <p:txBody>
          <a:bodyPr wrap="square">
            <a:spAutoFit/>
          </a:bodyPr>
          <a:lstStyle/>
          <a:p>
            <a:pPr>
              <a:lnSpc>
                <a:spcPct val="150000"/>
              </a:lnSpc>
            </a:pPr>
            <a:r>
              <a:rPr lang="zh-CN" altLang="en-US" sz="2400" dirty="0" smtClean="0">
                <a:solidFill>
                  <a:srgbClr val="FF0000"/>
                </a:solidFill>
                <a:latin typeface="方正大黑简体" pitchFamily="2" charset="-122"/>
                <a:ea typeface="方正大黑简体" pitchFamily="2" charset="-122"/>
              </a:rPr>
              <a:t>思考：</a:t>
            </a:r>
            <a:r>
              <a:rPr lang="zh-CN" altLang="en-US" sz="2400" dirty="0" smtClean="0">
                <a:solidFill>
                  <a:srgbClr val="3333FF"/>
                </a:solidFill>
                <a:latin typeface="方正大黑简体" pitchFamily="2" charset="-122"/>
                <a:ea typeface="方正大黑简体" pitchFamily="2" charset="-122"/>
              </a:rPr>
              <a:t>为什么实现最小均方误差，即可得到合适均衡器系数？</a:t>
            </a:r>
          </a:p>
        </p:txBody>
      </p:sp>
      <p:sp>
        <p:nvSpPr>
          <p:cNvPr id="10" name="矩形 9"/>
          <p:cNvSpPr/>
          <p:nvPr/>
        </p:nvSpPr>
        <p:spPr>
          <a:xfrm>
            <a:off x="1142976" y="5429264"/>
            <a:ext cx="7715304" cy="588494"/>
          </a:xfrm>
          <a:prstGeom prst="rect">
            <a:avLst/>
          </a:prstGeom>
        </p:spPr>
        <p:txBody>
          <a:bodyPr wrap="square">
            <a:spAutoFit/>
          </a:bodyPr>
          <a:lstStyle/>
          <a:p>
            <a:pPr>
              <a:lnSpc>
                <a:spcPct val="150000"/>
              </a:lnSpc>
            </a:pPr>
            <a:r>
              <a:rPr lang="zh-CN" altLang="en-US" sz="2400" dirty="0" smtClean="0">
                <a:solidFill>
                  <a:srgbClr val="3333FF"/>
                </a:solidFill>
                <a:latin typeface="方正大黑简体" pitchFamily="2" charset="-122"/>
                <a:ea typeface="方正大黑简体" pitchFamily="2" charset="-122"/>
              </a:rPr>
              <a:t>当均衡器的输入与期望输出一定时，均方差由谁决定</a:t>
            </a:r>
            <a:r>
              <a:rPr lang="en-US" altLang="zh-CN" sz="2400" dirty="0" smtClean="0">
                <a:solidFill>
                  <a:srgbClr val="3333FF"/>
                </a:solidFill>
                <a:latin typeface="方正大黑简体" pitchFamily="2" charset="-122"/>
                <a:ea typeface="方正大黑简体" pitchFamily="2" charset="-122"/>
              </a:rPr>
              <a:t>?</a:t>
            </a:r>
            <a:endParaRPr lang="zh-CN" altLang="en-US" sz="2400" dirty="0" smtClean="0">
              <a:solidFill>
                <a:srgbClr val="3333FF"/>
              </a:solidFill>
              <a:latin typeface="方正大黑简体" pitchFamily="2" charset="-122"/>
              <a:ea typeface="方正大黑简体" pitchFamily="2" charset="-122"/>
            </a:endParaRPr>
          </a:p>
        </p:txBody>
      </p:sp>
      <p:pic>
        <p:nvPicPr>
          <p:cNvPr id="2" name="图片 1"/>
          <p:cNvPicPr>
            <a:picLocks noChangeAspect="1"/>
          </p:cNvPicPr>
          <p:nvPr/>
        </p:nvPicPr>
        <p:blipFill>
          <a:blip r:embed="rId2"/>
          <a:stretch>
            <a:fillRect/>
          </a:stretch>
        </p:blipFill>
        <p:spPr>
          <a:xfrm>
            <a:off x="3059832" y="2043509"/>
            <a:ext cx="2061763" cy="737419"/>
          </a:xfrm>
          <a:prstGeom prst="rect">
            <a:avLst/>
          </a:prstGeom>
        </p:spPr>
      </p:pic>
      <p:pic>
        <p:nvPicPr>
          <p:cNvPr id="3" name="图片 2"/>
          <p:cNvPicPr>
            <a:picLocks noChangeAspect="1"/>
          </p:cNvPicPr>
          <p:nvPr/>
        </p:nvPicPr>
        <p:blipFill>
          <a:blip r:embed="rId3"/>
          <a:stretch>
            <a:fillRect/>
          </a:stretch>
        </p:blipFill>
        <p:spPr>
          <a:xfrm>
            <a:off x="2411760" y="2961214"/>
            <a:ext cx="3526384" cy="51720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blinds(horizontal)">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a:blip r:embed="rId2"/>
          <a:stretch>
            <a:fillRect/>
          </a:stretch>
        </p:blipFill>
        <p:spPr>
          <a:xfrm>
            <a:off x="2197744" y="3786190"/>
            <a:ext cx="3526384" cy="517203"/>
          </a:xfrm>
          <a:prstGeom prst="rect">
            <a:avLst/>
          </a:prstGeom>
        </p:spPr>
      </p:pic>
      <p:sp>
        <p:nvSpPr>
          <p:cNvPr id="66564" name="Rectangle 3"/>
          <p:cNvSpPr>
            <a:spLocks noGrp="1" noChangeArrowheads="1"/>
          </p:cNvSpPr>
          <p:nvPr>
            <p:ph type="body" idx="1"/>
          </p:nvPr>
        </p:nvSpPr>
        <p:spPr>
          <a:xfrm>
            <a:off x="357188" y="1357298"/>
            <a:ext cx="7772400" cy="1571636"/>
          </a:xfrm>
        </p:spPr>
        <p:txBody>
          <a:bodyPr>
            <a:normAutofit/>
          </a:bodyPr>
          <a:lstStyle/>
          <a:p>
            <a:pPr>
              <a:lnSpc>
                <a:spcPct val="150000"/>
              </a:lnSpc>
              <a:buClr>
                <a:schemeClr val="accent1">
                  <a:lumMod val="75000"/>
                </a:schemeClr>
              </a:buClr>
              <a:buNone/>
              <a:defRPr/>
            </a:pPr>
            <a:r>
              <a:rPr lang="en-US" altLang="zh-CN" sz="2800" dirty="0" smtClean="0">
                <a:solidFill>
                  <a:srgbClr val="000099"/>
                </a:solidFill>
                <a:latin typeface="方正大黑简体" pitchFamily="2" charset="-122"/>
                <a:ea typeface="方正大黑简体" pitchFamily="2" charset="-122"/>
              </a:rPr>
              <a:t>4</a:t>
            </a:r>
            <a:r>
              <a:rPr lang="zh-CN" altLang="en-US" sz="2800" dirty="0" smtClean="0">
                <a:solidFill>
                  <a:srgbClr val="000099"/>
                </a:solidFill>
                <a:latin typeface="方正大黑简体" pitchFamily="2" charset="-122"/>
                <a:ea typeface="方正大黑简体" pitchFamily="2" charset="-122"/>
              </a:rPr>
              <a:t>、</a:t>
            </a:r>
            <a:r>
              <a:rPr lang="en-US" altLang="zh-CN" sz="2800" dirty="0" smtClean="0">
                <a:solidFill>
                  <a:srgbClr val="000099"/>
                </a:solidFill>
                <a:latin typeface="方正大黑简体" pitchFamily="2" charset="-122"/>
                <a:ea typeface="方正大黑简体" pitchFamily="2" charset="-122"/>
              </a:rPr>
              <a:t>LMS</a:t>
            </a:r>
            <a:r>
              <a:rPr lang="zh-CN" altLang="en-US" sz="2800" dirty="0" smtClean="0">
                <a:solidFill>
                  <a:srgbClr val="000099"/>
                </a:solidFill>
                <a:latin typeface="方正大黑简体" pitchFamily="2" charset="-122"/>
                <a:ea typeface="方正大黑简体" pitchFamily="2" charset="-122"/>
              </a:rPr>
              <a:t>算法原理</a:t>
            </a:r>
            <a:endParaRPr lang="en-US" altLang="zh-CN" sz="2800" dirty="0" smtClean="0">
              <a:solidFill>
                <a:srgbClr val="000099"/>
              </a:solidFill>
              <a:latin typeface="方正大黑简体" pitchFamily="2" charset="-122"/>
              <a:ea typeface="方正大黑简体" pitchFamily="2" charset="-122"/>
            </a:endParaRPr>
          </a:p>
          <a:p>
            <a:pPr lvl="1" eaLnBrk="1" hangingPunct="1">
              <a:lnSpc>
                <a:spcPct val="150000"/>
              </a:lnSpc>
              <a:buClr>
                <a:srgbClr val="3333FF"/>
              </a:buClr>
              <a:buFont typeface="Wingdings" pitchFamily="2" charset="2"/>
              <a:buChar char="p"/>
              <a:defRPr/>
            </a:pPr>
            <a:endParaRPr lang="en-US" altLang="zh-CN" sz="2400" dirty="0" smtClean="0">
              <a:solidFill>
                <a:srgbClr val="3333FF"/>
              </a:solidFill>
              <a:latin typeface="方正大黑简体" pitchFamily="2" charset="-122"/>
              <a:ea typeface="方正大黑简体" pitchFamily="2" charset="-122"/>
            </a:endParaRPr>
          </a:p>
        </p:txBody>
      </p:sp>
      <p:sp>
        <p:nvSpPr>
          <p:cNvPr id="6" name="Rectangle 2"/>
          <p:cNvSpPr txBox="1">
            <a:spLocks noChangeArrowheads="1"/>
          </p:cNvSpPr>
          <p:nvPr/>
        </p:nvSpPr>
        <p:spPr>
          <a:xfrm>
            <a:off x="757238" y="300022"/>
            <a:ext cx="7315200" cy="91440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zh-CN" altLang="en-US" sz="3600" b="0" i="0" u="none" strike="noStrike" kern="1200" cap="none" spc="0" normalizeH="0" baseline="0" noProof="0" dirty="0" smtClean="0">
                <a:ln>
                  <a:noFill/>
                </a:ln>
                <a:solidFill>
                  <a:schemeClr val="bg1"/>
                </a:solidFill>
                <a:effectLst/>
                <a:uLnTx/>
                <a:uFillTx/>
                <a:latin typeface="方正兰亭粗黑简体" pitchFamily="2" charset="-122"/>
                <a:ea typeface="方正兰亭粗黑简体" pitchFamily="2" charset="-122"/>
                <a:cs typeface="+mj-cs"/>
              </a:rPr>
              <a:t>四、均衡算法</a:t>
            </a:r>
            <a:endParaRPr kumimoji="0" lang="zh-CN" altLang="en-US" sz="3600" b="0" i="0" u="none" strike="noStrike" kern="1200" cap="none" spc="0" normalizeH="0" baseline="0" noProof="0" dirty="0" smtClean="0">
              <a:ln>
                <a:noFill/>
              </a:ln>
              <a:solidFill>
                <a:schemeClr val="bg1"/>
              </a:solidFill>
              <a:effectLst/>
              <a:uLnTx/>
              <a:uFillTx/>
              <a:latin typeface="方正兰亭粗黑简体" pitchFamily="2" charset="-122"/>
              <a:ea typeface="方正兰亭粗黑简体" pitchFamily="2" charset="-122"/>
              <a:cs typeface="+mn-cs"/>
            </a:endParaRPr>
          </a:p>
        </p:txBody>
      </p:sp>
      <p:sp>
        <p:nvSpPr>
          <p:cNvPr id="7" name="矩形 6"/>
          <p:cNvSpPr/>
          <p:nvPr/>
        </p:nvSpPr>
        <p:spPr>
          <a:xfrm>
            <a:off x="785786" y="2214554"/>
            <a:ext cx="7715304" cy="586571"/>
          </a:xfrm>
          <a:prstGeom prst="rect">
            <a:avLst/>
          </a:prstGeom>
        </p:spPr>
        <p:txBody>
          <a:bodyPr wrap="square">
            <a:spAutoFit/>
          </a:bodyPr>
          <a:lstStyle/>
          <a:p>
            <a:pPr>
              <a:lnSpc>
                <a:spcPct val="150000"/>
              </a:lnSpc>
              <a:buFont typeface="Wingdings" pitchFamily="2" charset="2"/>
              <a:buChar char="p"/>
            </a:pPr>
            <a:r>
              <a:rPr lang="zh-CN" altLang="en-US" sz="2400" dirty="0" smtClean="0">
                <a:solidFill>
                  <a:srgbClr val="3333FF"/>
                </a:solidFill>
                <a:latin typeface="方正大黑简体" pitchFamily="2" charset="-122"/>
                <a:ea typeface="方正大黑简体" pitchFamily="2" charset="-122"/>
              </a:rPr>
              <a:t> 当均衡器的输入与期望输出一定时，均方差由谁决定</a:t>
            </a:r>
            <a:r>
              <a:rPr lang="en-US" altLang="zh-CN" sz="2400" dirty="0" smtClean="0">
                <a:solidFill>
                  <a:srgbClr val="3333FF"/>
                </a:solidFill>
                <a:latin typeface="方正大黑简体" pitchFamily="2" charset="-122"/>
                <a:ea typeface="方正大黑简体" pitchFamily="2" charset="-122"/>
              </a:rPr>
              <a:t>?</a:t>
            </a:r>
            <a:endParaRPr lang="zh-CN" altLang="en-US" sz="2400" dirty="0" smtClean="0">
              <a:solidFill>
                <a:srgbClr val="3333FF"/>
              </a:solidFill>
              <a:latin typeface="方正大黑简体" pitchFamily="2" charset="-122"/>
              <a:ea typeface="方正大黑简体" pitchFamily="2" charset="-122"/>
            </a:endParaRPr>
          </a:p>
        </p:txBody>
      </p:sp>
      <p:sp>
        <p:nvSpPr>
          <p:cNvPr id="9" name="矩形 8"/>
          <p:cNvSpPr/>
          <p:nvPr/>
        </p:nvSpPr>
        <p:spPr>
          <a:xfrm>
            <a:off x="785786" y="4443249"/>
            <a:ext cx="7786742" cy="1200329"/>
          </a:xfrm>
          <a:prstGeom prst="rect">
            <a:avLst/>
          </a:prstGeom>
        </p:spPr>
        <p:txBody>
          <a:bodyPr wrap="square">
            <a:spAutoFit/>
          </a:bodyPr>
          <a:lstStyle/>
          <a:p>
            <a:pPr>
              <a:lnSpc>
                <a:spcPct val="150000"/>
              </a:lnSpc>
              <a:buFont typeface="Wingdings" pitchFamily="2" charset="2"/>
              <a:buChar char="p"/>
            </a:pPr>
            <a:r>
              <a:rPr lang="zh-CN" altLang="en-US" sz="2400" dirty="0" smtClean="0">
                <a:solidFill>
                  <a:srgbClr val="3333FF"/>
                </a:solidFill>
                <a:latin typeface="方正大黑简体" pitchFamily="2" charset="-122"/>
                <a:ea typeface="方正大黑简体" pitchFamily="2" charset="-122"/>
              </a:rPr>
              <a:t> 此时，均方差由权重向量</a:t>
            </a:r>
            <a:r>
              <a:rPr lang="en-US" altLang="zh-CN" sz="2400" b="1" dirty="0" smtClean="0">
                <a:latin typeface="方正大黑简体" pitchFamily="2" charset="-122"/>
                <a:ea typeface="方正大黑简体" pitchFamily="2" charset="-122"/>
              </a:rPr>
              <a:t>w</a:t>
            </a:r>
            <a:r>
              <a:rPr lang="zh-CN" altLang="en-US" sz="2400" dirty="0" smtClean="0">
                <a:solidFill>
                  <a:srgbClr val="3333FF"/>
                </a:solidFill>
                <a:latin typeface="方正大黑简体" pitchFamily="2" charset="-122"/>
                <a:ea typeface="方正大黑简体" pitchFamily="2" charset="-122"/>
              </a:rPr>
              <a:t>决定，使得均方差最小的</a:t>
            </a:r>
            <a:r>
              <a:rPr lang="en-US" altLang="zh-CN" sz="2400" b="1" dirty="0" smtClean="0">
                <a:latin typeface="方正大黑简体" pitchFamily="2" charset="-122"/>
                <a:ea typeface="方正大黑简体" pitchFamily="2" charset="-122"/>
              </a:rPr>
              <a:t>w</a:t>
            </a:r>
            <a:r>
              <a:rPr lang="zh-CN" altLang="en-US" sz="2400" dirty="0" smtClean="0">
                <a:solidFill>
                  <a:srgbClr val="3333FF"/>
                </a:solidFill>
                <a:latin typeface="方正大黑简体" pitchFamily="2" charset="-122"/>
                <a:ea typeface="方正大黑简体" pitchFamily="2" charset="-122"/>
              </a:rPr>
              <a:t>就是最优的权重向量，即可尽可能减小多径的影响。</a:t>
            </a:r>
          </a:p>
        </p:txBody>
      </p:sp>
      <p:sp>
        <p:nvSpPr>
          <p:cNvPr id="10" name="椭圆 9"/>
          <p:cNvSpPr/>
          <p:nvPr/>
        </p:nvSpPr>
        <p:spPr>
          <a:xfrm>
            <a:off x="3107898" y="3762126"/>
            <a:ext cx="785818" cy="571504"/>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方正大黑简体" pitchFamily="2" charset="-122"/>
              <a:ea typeface="方正大黑简体" pitchFamily="2" charset="-122"/>
            </a:endParaRPr>
          </a:p>
        </p:txBody>
      </p:sp>
      <p:sp>
        <p:nvSpPr>
          <p:cNvPr id="11" name="椭圆 10"/>
          <p:cNvSpPr/>
          <p:nvPr/>
        </p:nvSpPr>
        <p:spPr>
          <a:xfrm>
            <a:off x="4071180" y="3750094"/>
            <a:ext cx="928694" cy="642942"/>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方正大黑简体" pitchFamily="2" charset="-122"/>
              <a:ea typeface="方正大黑简体" pitchFamily="2" charset="-122"/>
            </a:endParaRPr>
          </a:p>
        </p:txBody>
      </p:sp>
      <p:pic>
        <p:nvPicPr>
          <p:cNvPr id="12" name="图片 11"/>
          <p:cNvPicPr>
            <a:picLocks noChangeAspect="1"/>
          </p:cNvPicPr>
          <p:nvPr/>
        </p:nvPicPr>
        <p:blipFill>
          <a:blip r:embed="rId3"/>
          <a:stretch>
            <a:fillRect/>
          </a:stretch>
        </p:blipFill>
        <p:spPr>
          <a:xfrm>
            <a:off x="3212506" y="2913773"/>
            <a:ext cx="2061763" cy="73741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idx="4294967295"/>
          </p:nvPr>
        </p:nvSpPr>
        <p:spPr>
          <a:xfrm>
            <a:off x="1357290" y="332656"/>
            <a:ext cx="6858000" cy="808021"/>
          </a:xfrm>
        </p:spPr>
        <p:txBody>
          <a:bodyPr>
            <a:noAutofit/>
          </a:bodyPr>
          <a:lstStyle/>
          <a:p>
            <a:pPr eaLnBrk="1" hangingPunct="1"/>
            <a:r>
              <a:rPr lang="zh-CN" altLang="en-US" sz="3600" dirty="0" smtClean="0">
                <a:solidFill>
                  <a:schemeClr val="bg1"/>
                </a:solidFill>
                <a:latin typeface="方正兰亭粗黑简体" pitchFamily="2" charset="-122"/>
                <a:ea typeface="方正兰亭粗黑简体" pitchFamily="2" charset="-122"/>
              </a:rPr>
              <a:t>本次课的教学内容</a:t>
            </a:r>
          </a:p>
        </p:txBody>
      </p:sp>
      <p:sp>
        <p:nvSpPr>
          <p:cNvPr id="15364" name="Rectangle 3"/>
          <p:cNvSpPr>
            <a:spLocks noGrp="1" noChangeArrowheads="1"/>
          </p:cNvSpPr>
          <p:nvPr>
            <p:ph type="body" idx="4294967295"/>
          </p:nvPr>
        </p:nvSpPr>
        <p:spPr>
          <a:xfrm>
            <a:off x="857224" y="1357298"/>
            <a:ext cx="7286654" cy="3895716"/>
          </a:xfrm>
        </p:spPr>
        <p:txBody>
          <a:bodyPr/>
          <a:lstStyle/>
          <a:p>
            <a:pPr algn="just" eaLnBrk="1" hangingPunct="1">
              <a:lnSpc>
                <a:spcPct val="150000"/>
              </a:lnSpc>
              <a:spcBef>
                <a:spcPts val="1200"/>
              </a:spcBef>
              <a:buFontTx/>
              <a:buNone/>
            </a:pPr>
            <a:r>
              <a:rPr lang="en-US" altLang="zh-CN" sz="2800" dirty="0" smtClean="0">
                <a:solidFill>
                  <a:srgbClr val="0000FF"/>
                </a:solidFill>
                <a:latin typeface="方正大黑简体" pitchFamily="2" charset="-122"/>
                <a:ea typeface="方正大黑简体" pitchFamily="2" charset="-122"/>
              </a:rPr>
              <a:t>5.3.1 </a:t>
            </a:r>
            <a:r>
              <a:rPr lang="zh-CN" altLang="en-US" sz="2800" dirty="0" smtClean="0">
                <a:solidFill>
                  <a:srgbClr val="0000FF"/>
                </a:solidFill>
                <a:latin typeface="方正大黑简体" pitchFamily="2" charset="-122"/>
                <a:ea typeface="方正大黑简体" pitchFamily="2" charset="-122"/>
              </a:rPr>
              <a:t>自适应均衡原理</a:t>
            </a:r>
          </a:p>
          <a:p>
            <a:pPr algn="just" eaLnBrk="1" hangingPunct="1">
              <a:lnSpc>
                <a:spcPct val="150000"/>
              </a:lnSpc>
              <a:spcBef>
                <a:spcPts val="1200"/>
              </a:spcBef>
              <a:buFontTx/>
              <a:buNone/>
            </a:pPr>
            <a:r>
              <a:rPr lang="en-US" altLang="zh-CN" sz="2800" dirty="0" smtClean="0">
                <a:solidFill>
                  <a:srgbClr val="0000FF"/>
                </a:solidFill>
                <a:latin typeface="方正大黑简体" pitchFamily="2" charset="-122"/>
                <a:ea typeface="方正大黑简体" pitchFamily="2" charset="-122"/>
              </a:rPr>
              <a:t>5.3.2 </a:t>
            </a:r>
            <a:r>
              <a:rPr lang="zh-CN" altLang="en-US" sz="2800" dirty="0" smtClean="0">
                <a:solidFill>
                  <a:srgbClr val="0000FF"/>
                </a:solidFill>
                <a:latin typeface="方正大黑简体" pitchFamily="2" charset="-122"/>
                <a:ea typeface="方正大黑简体" pitchFamily="2" charset="-122"/>
              </a:rPr>
              <a:t>均衡器类型</a:t>
            </a:r>
            <a:endParaRPr lang="en-US" altLang="zh-CN" sz="2800" dirty="0" smtClean="0">
              <a:solidFill>
                <a:srgbClr val="0000FF"/>
              </a:solidFill>
              <a:latin typeface="方正大黑简体" pitchFamily="2" charset="-122"/>
              <a:ea typeface="方正大黑简体" pitchFamily="2" charset="-122"/>
            </a:endParaRPr>
          </a:p>
          <a:p>
            <a:pPr algn="just" eaLnBrk="1" hangingPunct="1">
              <a:lnSpc>
                <a:spcPct val="150000"/>
              </a:lnSpc>
              <a:spcBef>
                <a:spcPts val="1200"/>
              </a:spcBef>
              <a:buFontTx/>
              <a:buNone/>
            </a:pPr>
            <a:r>
              <a:rPr lang="en-US" altLang="zh-CN" sz="2800" dirty="0" smtClean="0">
                <a:solidFill>
                  <a:srgbClr val="0000FF"/>
                </a:solidFill>
                <a:latin typeface="方正大黑简体" pitchFamily="2" charset="-122"/>
                <a:ea typeface="方正大黑简体" pitchFamily="2" charset="-122"/>
              </a:rPr>
              <a:t>5.3.3 </a:t>
            </a:r>
            <a:r>
              <a:rPr lang="zh-CN" altLang="en-US" sz="2800" dirty="0" smtClean="0">
                <a:solidFill>
                  <a:srgbClr val="0000FF"/>
                </a:solidFill>
                <a:latin typeface="方正大黑简体" pitchFamily="2" charset="-122"/>
                <a:ea typeface="方正大黑简体" pitchFamily="2" charset="-122"/>
              </a:rPr>
              <a:t>均衡算法</a:t>
            </a:r>
          </a:p>
          <a:p>
            <a:pPr algn="just" eaLnBrk="1" hangingPunct="1">
              <a:lnSpc>
                <a:spcPct val="150000"/>
              </a:lnSpc>
              <a:spcBef>
                <a:spcPts val="1200"/>
              </a:spcBef>
              <a:buFontTx/>
              <a:buNone/>
            </a:pPr>
            <a:r>
              <a:rPr lang="en-US" altLang="zh-CN" sz="2800" dirty="0" smtClean="0">
                <a:solidFill>
                  <a:srgbClr val="FF0000"/>
                </a:solidFill>
                <a:latin typeface="方正大黑简体" pitchFamily="2" charset="-122"/>
                <a:ea typeface="方正大黑简体" pitchFamily="2" charset="-122"/>
              </a:rPr>
              <a:t>5.3.4 </a:t>
            </a:r>
            <a:r>
              <a:rPr lang="zh-CN" altLang="en-US" sz="2800" dirty="0" smtClean="0">
                <a:solidFill>
                  <a:srgbClr val="FF0000"/>
                </a:solidFill>
                <a:latin typeface="方正大黑简体" pitchFamily="2" charset="-122"/>
                <a:ea typeface="方正大黑简体" pitchFamily="2" charset="-122"/>
              </a:rPr>
              <a:t>自适应均衡器的应用</a:t>
            </a:r>
          </a:p>
        </p:txBody>
      </p:sp>
    </p:spTree>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2"/>
          <p:cNvSpPr>
            <a:spLocks noGrp="1" noChangeArrowheads="1"/>
          </p:cNvSpPr>
          <p:nvPr>
            <p:ph type="title"/>
          </p:nvPr>
        </p:nvSpPr>
        <p:spPr/>
        <p:txBody>
          <a:bodyPr/>
          <a:lstStyle/>
          <a:p>
            <a:pPr eaLnBrk="1" hangingPunct="1"/>
            <a:r>
              <a:rPr lang="en-US" altLang="zh-CN" smtClean="0"/>
              <a:t> </a:t>
            </a:r>
          </a:p>
        </p:txBody>
      </p:sp>
      <p:sp>
        <p:nvSpPr>
          <p:cNvPr id="45060" name="Rectangle 3"/>
          <p:cNvSpPr>
            <a:spLocks noGrp="1" noChangeArrowheads="1"/>
          </p:cNvSpPr>
          <p:nvPr>
            <p:ph type="body" idx="1"/>
          </p:nvPr>
        </p:nvSpPr>
        <p:spPr>
          <a:xfrm>
            <a:off x="642938" y="1285875"/>
            <a:ext cx="7772400" cy="4786331"/>
          </a:xfrm>
        </p:spPr>
        <p:txBody>
          <a:bodyPr>
            <a:normAutofit/>
          </a:bodyPr>
          <a:lstStyle/>
          <a:p>
            <a:pPr eaLnBrk="1" hangingPunct="1">
              <a:lnSpc>
                <a:spcPct val="150000"/>
              </a:lnSpc>
              <a:buClr>
                <a:schemeClr val="accent1">
                  <a:lumMod val="75000"/>
                </a:schemeClr>
              </a:buClr>
              <a:buFont typeface="Wingdings" pitchFamily="2" charset="2"/>
              <a:buNone/>
              <a:defRPr/>
            </a:pPr>
            <a:r>
              <a:rPr lang="en-US" altLang="zh-CN" sz="2800" dirty="0" smtClean="0">
                <a:solidFill>
                  <a:srgbClr val="000099"/>
                </a:solidFill>
                <a:latin typeface="方正大黑简体" pitchFamily="2" charset="-122"/>
                <a:ea typeface="方正大黑简体" pitchFamily="2" charset="-122"/>
              </a:rPr>
              <a:t>1</a:t>
            </a:r>
            <a:r>
              <a:rPr lang="zh-CN" altLang="en-US" sz="2800" dirty="0" smtClean="0">
                <a:solidFill>
                  <a:srgbClr val="000099"/>
                </a:solidFill>
                <a:latin typeface="方正大黑简体" pitchFamily="2" charset="-122"/>
                <a:ea typeface="方正大黑简体" pitchFamily="2" charset="-122"/>
              </a:rPr>
              <a:t>、需要使用自适应均衡技术的场景</a:t>
            </a:r>
            <a:endParaRPr lang="en-US" altLang="zh-CN" sz="2800" dirty="0" smtClean="0">
              <a:solidFill>
                <a:srgbClr val="000099"/>
              </a:solidFill>
              <a:latin typeface="方正大黑简体" pitchFamily="2" charset="-122"/>
              <a:ea typeface="方正大黑简体" pitchFamily="2" charset="-122"/>
            </a:endParaRPr>
          </a:p>
          <a:p>
            <a:pPr lvl="1" eaLnBrk="1" hangingPunct="1">
              <a:lnSpc>
                <a:spcPct val="150000"/>
              </a:lnSpc>
              <a:buClr>
                <a:srgbClr val="3333FF"/>
              </a:buClr>
              <a:buFont typeface="Wingdings" pitchFamily="2" charset="2"/>
              <a:buChar char="p"/>
              <a:defRPr/>
            </a:pPr>
            <a:r>
              <a:rPr lang="en-US" altLang="zh-CN" sz="2400" dirty="0" smtClean="0">
                <a:solidFill>
                  <a:srgbClr val="3333FF"/>
                </a:solidFill>
                <a:latin typeface="方正大黑简体" pitchFamily="2" charset="-122"/>
                <a:ea typeface="方正大黑简体" pitchFamily="2" charset="-122"/>
              </a:rPr>
              <a:t> </a:t>
            </a:r>
            <a:r>
              <a:rPr lang="zh-CN" altLang="en-US" sz="2400" dirty="0" smtClean="0">
                <a:solidFill>
                  <a:srgbClr val="3333FF"/>
                </a:solidFill>
                <a:latin typeface="方正大黑简体" pitchFamily="2" charset="-122"/>
                <a:ea typeface="方正大黑简体" pitchFamily="2" charset="-122"/>
              </a:rPr>
              <a:t>当传输信号经历</a:t>
            </a:r>
            <a:r>
              <a:rPr lang="zh-CN" altLang="en-US" sz="2400" b="1" u="sng" dirty="0" smtClean="0">
                <a:solidFill>
                  <a:srgbClr val="3333FF"/>
                </a:solidFill>
                <a:latin typeface="方正大黑简体" pitchFamily="2" charset="-122"/>
                <a:ea typeface="方正大黑简体" pitchFamily="2" charset="-122"/>
              </a:rPr>
              <a:t>频率选择性衰落</a:t>
            </a:r>
            <a:r>
              <a:rPr lang="zh-CN" altLang="en-US" sz="2400" dirty="0" smtClean="0">
                <a:solidFill>
                  <a:srgbClr val="3333FF"/>
                </a:solidFill>
                <a:latin typeface="方正大黑简体" pitchFamily="2" charset="-122"/>
                <a:ea typeface="方正大黑简体" pitchFamily="2" charset="-122"/>
              </a:rPr>
              <a:t>且</a:t>
            </a:r>
            <a:r>
              <a:rPr lang="zh-CN" altLang="en-US" sz="2400" b="1" u="sng" dirty="0" smtClean="0">
                <a:solidFill>
                  <a:srgbClr val="3333FF"/>
                </a:solidFill>
                <a:latin typeface="方正大黑简体" pitchFamily="2" charset="-122"/>
                <a:ea typeface="方正大黑简体" pitchFamily="2" charset="-122"/>
              </a:rPr>
              <a:t>时变</a:t>
            </a:r>
            <a:r>
              <a:rPr lang="zh-CN" altLang="en-US" sz="2400" dirty="0" smtClean="0">
                <a:solidFill>
                  <a:srgbClr val="3333FF"/>
                </a:solidFill>
                <a:latin typeface="方正大黑简体" pitchFamily="2" charset="-122"/>
                <a:ea typeface="方正大黑简体" pitchFamily="2" charset="-122"/>
              </a:rPr>
              <a:t>，收端需要采用自适应均衡等抗衰落技术。</a:t>
            </a:r>
            <a:endParaRPr lang="en-US" altLang="zh-CN" sz="2400" dirty="0" smtClean="0">
              <a:solidFill>
                <a:srgbClr val="3333FF"/>
              </a:solidFill>
              <a:latin typeface="方正大黑简体" pitchFamily="2" charset="-122"/>
              <a:ea typeface="方正大黑简体" pitchFamily="2" charset="-122"/>
            </a:endParaRPr>
          </a:p>
          <a:p>
            <a:pPr lvl="1">
              <a:lnSpc>
                <a:spcPct val="150000"/>
              </a:lnSpc>
              <a:buClr>
                <a:srgbClr val="3333FF"/>
              </a:buClr>
              <a:buFont typeface="Wingdings" pitchFamily="2" charset="2"/>
              <a:buChar char="p"/>
              <a:defRPr/>
            </a:pPr>
            <a:r>
              <a:rPr lang="zh-CN" altLang="en-US" sz="2400" dirty="0" smtClean="0">
                <a:solidFill>
                  <a:srgbClr val="3333FF"/>
                </a:solidFill>
                <a:latin typeface="方正大黑简体" pitchFamily="2" charset="-122"/>
                <a:ea typeface="方正大黑简体" pitchFamily="2" charset="-122"/>
              </a:rPr>
              <a:t> </a:t>
            </a:r>
            <a:r>
              <a:rPr lang="zh-CN" altLang="en-US" sz="2400" dirty="0" smtClean="0">
                <a:solidFill>
                  <a:srgbClr val="FF0000"/>
                </a:solidFill>
                <a:latin typeface="方正大黑简体" pitchFamily="2" charset="-122"/>
                <a:ea typeface="方正大黑简体" pitchFamily="2" charset="-122"/>
              </a:rPr>
              <a:t>实际问题：</a:t>
            </a:r>
            <a:endParaRPr lang="en-US" altLang="zh-CN" sz="2400" dirty="0" smtClean="0">
              <a:solidFill>
                <a:srgbClr val="FF0000"/>
              </a:solidFill>
              <a:latin typeface="方正大黑简体" pitchFamily="2" charset="-122"/>
              <a:ea typeface="方正大黑简体" pitchFamily="2" charset="-122"/>
            </a:endParaRPr>
          </a:p>
          <a:p>
            <a:pPr lvl="2">
              <a:lnSpc>
                <a:spcPct val="150000"/>
              </a:lnSpc>
              <a:buClr>
                <a:srgbClr val="FF0000"/>
              </a:buClr>
              <a:buFont typeface="Wingdings" pitchFamily="2" charset="2"/>
              <a:buChar char="ü"/>
              <a:defRPr/>
            </a:pPr>
            <a:r>
              <a:rPr lang="zh-CN" altLang="en-US" dirty="0" smtClean="0">
                <a:solidFill>
                  <a:srgbClr val="3333FF"/>
                </a:solidFill>
                <a:latin typeface="方正大黑简体" pitchFamily="2" charset="-122"/>
                <a:ea typeface="方正大黑简体" pitchFamily="2" charset="-122"/>
              </a:rPr>
              <a:t>短波信道多径时延典型值为</a:t>
            </a:r>
            <a:r>
              <a:rPr lang="en-US" altLang="en-US" dirty="0" smtClean="0">
                <a:solidFill>
                  <a:srgbClr val="3333FF"/>
                </a:solidFill>
                <a:latin typeface="方正大黑简体" pitchFamily="2" charset="-122"/>
                <a:ea typeface="方正大黑简体" pitchFamily="2" charset="-122"/>
              </a:rPr>
              <a:t>2~5ms</a:t>
            </a:r>
            <a:r>
              <a:rPr lang="zh-CN" altLang="en-US" dirty="0" smtClean="0">
                <a:solidFill>
                  <a:srgbClr val="3333FF"/>
                </a:solidFill>
                <a:latin typeface="方正大黑简体" pitchFamily="2" charset="-122"/>
                <a:ea typeface="方正大黑简体" pitchFamily="2" charset="-122"/>
              </a:rPr>
              <a:t>，单载波传输，码元速率为</a:t>
            </a:r>
            <a:r>
              <a:rPr lang="en-US" altLang="zh-CN" dirty="0" smtClean="0">
                <a:solidFill>
                  <a:srgbClr val="3333FF"/>
                </a:solidFill>
                <a:latin typeface="方正大黑简体" pitchFamily="2" charset="-122"/>
                <a:ea typeface="方正大黑简体" pitchFamily="2" charset="-122"/>
              </a:rPr>
              <a:t>2400</a:t>
            </a:r>
            <a:r>
              <a:rPr lang="zh-CN" altLang="en-US" dirty="0" smtClean="0">
                <a:solidFill>
                  <a:srgbClr val="3333FF"/>
                </a:solidFill>
                <a:latin typeface="方正大黑简体" pitchFamily="2" charset="-122"/>
                <a:ea typeface="方正大黑简体" pitchFamily="2" charset="-122"/>
              </a:rPr>
              <a:t>波特时，是否需要采用均衡技术？</a:t>
            </a:r>
          </a:p>
        </p:txBody>
      </p:sp>
      <p:sp>
        <p:nvSpPr>
          <p:cNvPr id="44037" name="Rectangle 4"/>
          <p:cNvSpPr>
            <a:spLocks noChangeArrowheads="1"/>
          </p:cNvSpPr>
          <p:nvPr/>
        </p:nvSpPr>
        <p:spPr bwMode="auto">
          <a:xfrm>
            <a:off x="1000100" y="387333"/>
            <a:ext cx="7315200" cy="684213"/>
          </a:xfrm>
          <a:prstGeom prst="rect">
            <a:avLst/>
          </a:prstGeom>
          <a:noFill/>
          <a:ln w="9525">
            <a:noFill/>
            <a:miter lim="800000"/>
            <a:headEnd/>
            <a:tailEnd/>
          </a:ln>
        </p:spPr>
        <p:txBody>
          <a:bodyPr anchor="ctr"/>
          <a:lstStyle/>
          <a:p>
            <a:pPr algn="ctr" defTabSz="696913">
              <a:spcBef>
                <a:spcPct val="20000"/>
              </a:spcBef>
              <a:buClr>
                <a:schemeClr val="accent1"/>
              </a:buClr>
              <a:defRPr/>
            </a:pPr>
            <a:r>
              <a:rPr lang="zh-CN" altLang="en-US" sz="3600" dirty="0" smtClean="0">
                <a:solidFill>
                  <a:schemeClr val="bg1"/>
                </a:solidFill>
                <a:latin typeface="方正兰亭粗黑简体" pitchFamily="2" charset="-122"/>
                <a:ea typeface="方正兰亭粗黑简体" pitchFamily="2" charset="-122"/>
              </a:rPr>
              <a:t>五、</a:t>
            </a:r>
            <a:r>
              <a:rPr lang="en-US" altLang="zh-CN" sz="3600" dirty="0" smtClean="0">
                <a:solidFill>
                  <a:schemeClr val="bg1"/>
                </a:solidFill>
                <a:latin typeface="方正兰亭粗黑简体" pitchFamily="2" charset="-122"/>
                <a:ea typeface="方正兰亭粗黑简体" pitchFamily="2" charset="-122"/>
              </a:rPr>
              <a:t> </a:t>
            </a:r>
            <a:r>
              <a:rPr lang="zh-CN" altLang="en-US" sz="3600" dirty="0">
                <a:solidFill>
                  <a:schemeClr val="bg1"/>
                </a:solidFill>
                <a:latin typeface="方正兰亭粗黑简体" pitchFamily="2" charset="-122"/>
                <a:ea typeface="方正兰亭粗黑简体" pitchFamily="2" charset="-122"/>
              </a:rPr>
              <a:t>自适应均衡的应用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5060">
                                            <p:txEl>
                                              <p:pRg st="2" end="2"/>
                                            </p:txEl>
                                          </p:spTgt>
                                        </p:tgtEl>
                                        <p:attrNameLst>
                                          <p:attrName>style.visibility</p:attrName>
                                        </p:attrNameLst>
                                      </p:cBhvr>
                                      <p:to>
                                        <p:strVal val="visible"/>
                                      </p:to>
                                    </p:set>
                                    <p:animEffect transition="in" filter="blinds(horizontal)">
                                      <p:cBhvr>
                                        <p:cTn id="7" dur="500"/>
                                        <p:tgtEl>
                                          <p:spTgt spid="45060">
                                            <p:txEl>
                                              <p:pRg st="2" end="2"/>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5060">
                                            <p:txEl>
                                              <p:pRg st="3" end="3"/>
                                            </p:txEl>
                                          </p:spTgt>
                                        </p:tgtEl>
                                        <p:attrNameLst>
                                          <p:attrName>style.visibility</p:attrName>
                                        </p:attrNameLst>
                                      </p:cBhvr>
                                      <p:to>
                                        <p:strVal val="visible"/>
                                      </p:to>
                                    </p:set>
                                    <p:animEffect transition="in" filter="blinds(horizontal)">
                                      <p:cBhvr>
                                        <p:cTn id="10" dur="500"/>
                                        <p:tgtEl>
                                          <p:spTgt spid="4506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2"/>
          <p:cNvSpPr>
            <a:spLocks noGrp="1" noChangeArrowheads="1"/>
          </p:cNvSpPr>
          <p:nvPr>
            <p:ph type="title"/>
          </p:nvPr>
        </p:nvSpPr>
        <p:spPr/>
        <p:txBody>
          <a:bodyPr/>
          <a:lstStyle/>
          <a:p>
            <a:pPr eaLnBrk="1" hangingPunct="1"/>
            <a:r>
              <a:rPr lang="en-US" altLang="zh-CN" smtClean="0"/>
              <a:t> </a:t>
            </a:r>
          </a:p>
        </p:txBody>
      </p:sp>
      <p:sp>
        <p:nvSpPr>
          <p:cNvPr id="45060" name="Rectangle 3"/>
          <p:cNvSpPr>
            <a:spLocks noGrp="1" noChangeArrowheads="1"/>
          </p:cNvSpPr>
          <p:nvPr>
            <p:ph type="body" idx="1"/>
          </p:nvPr>
        </p:nvSpPr>
        <p:spPr>
          <a:xfrm>
            <a:off x="357158" y="1285875"/>
            <a:ext cx="8215370" cy="4786331"/>
          </a:xfrm>
        </p:spPr>
        <p:txBody>
          <a:bodyPr>
            <a:normAutofit/>
          </a:bodyPr>
          <a:lstStyle/>
          <a:p>
            <a:pPr>
              <a:lnSpc>
                <a:spcPct val="150000"/>
              </a:lnSpc>
              <a:buClr>
                <a:schemeClr val="accent1">
                  <a:lumMod val="75000"/>
                </a:schemeClr>
              </a:buClr>
              <a:buNone/>
              <a:defRPr/>
            </a:pPr>
            <a:r>
              <a:rPr lang="en-US" altLang="zh-CN" sz="2800" dirty="0" smtClean="0">
                <a:solidFill>
                  <a:srgbClr val="000099"/>
                </a:solidFill>
                <a:latin typeface="方正大黑简体" pitchFamily="2" charset="-122"/>
                <a:ea typeface="方正大黑简体" pitchFamily="2" charset="-122"/>
              </a:rPr>
              <a:t>1</a:t>
            </a:r>
            <a:r>
              <a:rPr lang="zh-CN" altLang="en-US" sz="2800" dirty="0" smtClean="0">
                <a:solidFill>
                  <a:srgbClr val="000099"/>
                </a:solidFill>
                <a:latin typeface="方正大黑简体" pitchFamily="2" charset="-122"/>
                <a:ea typeface="方正大黑简体" pitchFamily="2" charset="-122"/>
              </a:rPr>
              <a:t>、需要使用自适应均衡技术的场景</a:t>
            </a:r>
            <a:endParaRPr lang="en-US" altLang="zh-CN" sz="2800" dirty="0" smtClean="0">
              <a:solidFill>
                <a:srgbClr val="000099"/>
              </a:solidFill>
              <a:latin typeface="方正大黑简体" pitchFamily="2" charset="-122"/>
              <a:ea typeface="方正大黑简体" pitchFamily="2" charset="-122"/>
            </a:endParaRPr>
          </a:p>
          <a:p>
            <a:pPr lvl="1" eaLnBrk="1" hangingPunct="1">
              <a:lnSpc>
                <a:spcPct val="150000"/>
              </a:lnSpc>
              <a:buClr>
                <a:srgbClr val="3333FF"/>
              </a:buClr>
              <a:buFont typeface="Wingdings" pitchFamily="2" charset="2"/>
              <a:buChar char="p"/>
              <a:defRPr/>
            </a:pPr>
            <a:r>
              <a:rPr lang="zh-CN" altLang="en-US" sz="2400" dirty="0" smtClean="0">
                <a:solidFill>
                  <a:srgbClr val="FF0000"/>
                </a:solidFill>
                <a:latin typeface="方正大黑简体" pitchFamily="2" charset="-122"/>
                <a:ea typeface="方正大黑简体" pitchFamily="2" charset="-122"/>
              </a:rPr>
              <a:t> 解决思路：</a:t>
            </a:r>
            <a:endParaRPr lang="en-US" altLang="zh-CN" sz="2400" dirty="0" smtClean="0">
              <a:solidFill>
                <a:srgbClr val="FF0000"/>
              </a:solidFill>
              <a:latin typeface="方正大黑简体" pitchFamily="2" charset="-122"/>
              <a:ea typeface="方正大黑简体" pitchFamily="2" charset="-122"/>
            </a:endParaRPr>
          </a:p>
          <a:p>
            <a:pPr lvl="2">
              <a:lnSpc>
                <a:spcPct val="150000"/>
              </a:lnSpc>
              <a:buClr>
                <a:srgbClr val="FF0000"/>
              </a:buClr>
              <a:buFont typeface="Wingdings" pitchFamily="2" charset="2"/>
              <a:buChar char="ü"/>
              <a:defRPr/>
            </a:pPr>
            <a:r>
              <a:rPr lang="zh-CN" altLang="en-US" dirty="0" smtClean="0">
                <a:solidFill>
                  <a:srgbClr val="3333FF"/>
                </a:solidFill>
                <a:latin typeface="方正大黑简体" pitchFamily="2" charset="-122"/>
                <a:ea typeface="方正大黑简体" pitchFamily="2" charset="-122"/>
              </a:rPr>
              <a:t> 码元速率为</a:t>
            </a:r>
            <a:r>
              <a:rPr lang="en-US" altLang="zh-CN" dirty="0" smtClean="0">
                <a:solidFill>
                  <a:srgbClr val="3333FF"/>
                </a:solidFill>
                <a:latin typeface="方正大黑简体" pitchFamily="2" charset="-122"/>
                <a:ea typeface="方正大黑简体" pitchFamily="2" charset="-122"/>
              </a:rPr>
              <a:t>2400</a:t>
            </a:r>
            <a:r>
              <a:rPr lang="zh-CN" altLang="en-US" dirty="0" smtClean="0">
                <a:solidFill>
                  <a:srgbClr val="3333FF"/>
                </a:solidFill>
                <a:latin typeface="方正大黑简体" pitchFamily="2" charset="-122"/>
                <a:ea typeface="方正大黑简体" pitchFamily="2" charset="-122"/>
              </a:rPr>
              <a:t>波特 </a:t>
            </a:r>
            <a:r>
              <a:rPr lang="en-US" altLang="zh-CN" dirty="0" smtClean="0">
                <a:solidFill>
                  <a:srgbClr val="3333FF"/>
                </a:solidFill>
                <a:latin typeface="方正大黑简体" pitchFamily="2" charset="-122"/>
                <a:ea typeface="方正大黑简体" pitchFamily="2" charset="-122"/>
              </a:rPr>
              <a:t>-&gt; </a:t>
            </a:r>
            <a:r>
              <a:rPr lang="zh-CN" altLang="en-US" dirty="0" smtClean="0">
                <a:solidFill>
                  <a:srgbClr val="3333FF"/>
                </a:solidFill>
                <a:latin typeface="方正大黑简体" pitchFamily="2" charset="-122"/>
                <a:ea typeface="方正大黑简体" pitchFamily="2" charset="-122"/>
              </a:rPr>
              <a:t>码元宽度为</a:t>
            </a:r>
            <a:endParaRPr lang="en-US" altLang="zh-CN" dirty="0" smtClean="0">
              <a:solidFill>
                <a:srgbClr val="3333FF"/>
              </a:solidFill>
              <a:latin typeface="方正大黑简体" pitchFamily="2" charset="-122"/>
              <a:ea typeface="方正大黑简体" pitchFamily="2" charset="-122"/>
            </a:endParaRPr>
          </a:p>
          <a:p>
            <a:pPr lvl="2">
              <a:lnSpc>
                <a:spcPct val="150000"/>
              </a:lnSpc>
              <a:buClr>
                <a:srgbClr val="FF0000"/>
              </a:buClr>
              <a:buFont typeface="Wingdings" pitchFamily="2" charset="2"/>
              <a:buChar char="ü"/>
              <a:defRPr/>
            </a:pPr>
            <a:endParaRPr lang="en-US" altLang="zh-CN" dirty="0" smtClean="0">
              <a:solidFill>
                <a:srgbClr val="3333FF"/>
              </a:solidFill>
              <a:latin typeface="方正大黑简体" pitchFamily="2" charset="-122"/>
              <a:ea typeface="方正大黑简体" pitchFamily="2" charset="-122"/>
            </a:endParaRPr>
          </a:p>
          <a:p>
            <a:pPr lvl="2">
              <a:lnSpc>
                <a:spcPct val="150000"/>
              </a:lnSpc>
              <a:buClr>
                <a:srgbClr val="FF0000"/>
              </a:buClr>
              <a:buFont typeface="Wingdings" pitchFamily="2" charset="2"/>
              <a:buChar char="ü"/>
              <a:defRPr/>
            </a:pPr>
            <a:r>
              <a:rPr lang="zh-CN" altLang="en-US" dirty="0" smtClean="0">
                <a:solidFill>
                  <a:srgbClr val="3333FF"/>
                </a:solidFill>
                <a:latin typeface="方正大黑简体" pitchFamily="2" charset="-122"/>
                <a:ea typeface="方正大黑简体" pitchFamily="2" charset="-122"/>
              </a:rPr>
              <a:t> 短波信道多径时延典型值为</a:t>
            </a:r>
            <a:r>
              <a:rPr lang="en-US" altLang="en-US" dirty="0" smtClean="0">
                <a:solidFill>
                  <a:srgbClr val="3333FF"/>
                </a:solidFill>
                <a:latin typeface="方正大黑简体" pitchFamily="2" charset="-122"/>
                <a:ea typeface="方正大黑简体" pitchFamily="2" charset="-122"/>
              </a:rPr>
              <a:t>2~5ms </a:t>
            </a:r>
            <a:r>
              <a:rPr lang="en-US" altLang="zh-CN" dirty="0" smtClean="0">
                <a:solidFill>
                  <a:srgbClr val="3333FF"/>
                </a:solidFill>
                <a:latin typeface="方正大黑简体" pitchFamily="2" charset="-122"/>
                <a:ea typeface="方正大黑简体" pitchFamily="2" charset="-122"/>
              </a:rPr>
              <a:t>-&gt;  </a:t>
            </a:r>
            <a:r>
              <a:rPr lang="zh-CN" altLang="en-US" dirty="0" smtClean="0">
                <a:solidFill>
                  <a:srgbClr val="3333FF"/>
                </a:solidFill>
                <a:latin typeface="方正大黑简体" pitchFamily="2" charset="-122"/>
                <a:ea typeface="方正大黑简体" pitchFamily="2" charset="-122"/>
              </a:rPr>
              <a:t>多径干扰非常严重 </a:t>
            </a:r>
            <a:r>
              <a:rPr lang="en-US" altLang="zh-CN" dirty="0" smtClean="0">
                <a:solidFill>
                  <a:srgbClr val="3333FF"/>
                </a:solidFill>
                <a:latin typeface="方正大黑简体" pitchFamily="2" charset="-122"/>
                <a:ea typeface="方正大黑简体" pitchFamily="2" charset="-122"/>
              </a:rPr>
              <a:t>-&gt; </a:t>
            </a:r>
            <a:r>
              <a:rPr lang="zh-CN" altLang="en-US" dirty="0" smtClean="0">
                <a:solidFill>
                  <a:srgbClr val="3333FF"/>
                </a:solidFill>
                <a:latin typeface="方正大黑简体" pitchFamily="2" charset="-122"/>
                <a:ea typeface="方正大黑简体" pitchFamily="2" charset="-122"/>
              </a:rPr>
              <a:t>需要采用均衡技术！</a:t>
            </a:r>
          </a:p>
        </p:txBody>
      </p:sp>
      <p:sp>
        <p:nvSpPr>
          <p:cNvPr id="44037" name="Rectangle 4"/>
          <p:cNvSpPr>
            <a:spLocks noChangeArrowheads="1"/>
          </p:cNvSpPr>
          <p:nvPr/>
        </p:nvSpPr>
        <p:spPr bwMode="auto">
          <a:xfrm>
            <a:off x="1000100" y="387333"/>
            <a:ext cx="7315200" cy="684213"/>
          </a:xfrm>
          <a:prstGeom prst="rect">
            <a:avLst/>
          </a:prstGeom>
          <a:noFill/>
          <a:ln w="9525">
            <a:noFill/>
            <a:miter lim="800000"/>
            <a:headEnd/>
            <a:tailEnd/>
          </a:ln>
        </p:spPr>
        <p:txBody>
          <a:bodyPr anchor="ctr"/>
          <a:lstStyle/>
          <a:p>
            <a:pPr algn="ctr" defTabSz="696913">
              <a:spcBef>
                <a:spcPct val="20000"/>
              </a:spcBef>
              <a:buClr>
                <a:schemeClr val="accent1"/>
              </a:buClr>
              <a:defRPr/>
            </a:pPr>
            <a:r>
              <a:rPr lang="zh-CN" altLang="en-US" sz="3600" dirty="0" smtClean="0">
                <a:solidFill>
                  <a:schemeClr val="bg1"/>
                </a:solidFill>
                <a:latin typeface="方正兰亭粗黑简体" pitchFamily="2" charset="-122"/>
                <a:ea typeface="方正兰亭粗黑简体" pitchFamily="2" charset="-122"/>
              </a:rPr>
              <a:t>五、</a:t>
            </a:r>
            <a:r>
              <a:rPr lang="en-US" altLang="zh-CN" sz="3600" dirty="0" smtClean="0">
                <a:solidFill>
                  <a:schemeClr val="bg1"/>
                </a:solidFill>
                <a:latin typeface="方正兰亭粗黑简体" pitchFamily="2" charset="-122"/>
                <a:ea typeface="方正兰亭粗黑简体" pitchFamily="2" charset="-122"/>
              </a:rPr>
              <a:t> </a:t>
            </a:r>
            <a:r>
              <a:rPr lang="zh-CN" altLang="en-US" sz="3600" dirty="0">
                <a:solidFill>
                  <a:schemeClr val="bg1"/>
                </a:solidFill>
                <a:latin typeface="方正兰亭粗黑简体" pitchFamily="2" charset="-122"/>
                <a:ea typeface="方正兰亭粗黑简体" pitchFamily="2" charset="-122"/>
              </a:rPr>
              <a:t>自适应均衡的应用</a:t>
            </a:r>
          </a:p>
        </p:txBody>
      </p:sp>
      <p:graphicFrame>
        <p:nvGraphicFramePr>
          <p:cNvPr id="37893" name="Object 4"/>
          <p:cNvGraphicFramePr>
            <a:graphicFrameLocks noChangeAspect="1"/>
          </p:cNvGraphicFramePr>
          <p:nvPr/>
        </p:nvGraphicFramePr>
        <p:xfrm>
          <a:off x="3071802" y="3357562"/>
          <a:ext cx="2640013" cy="377825"/>
        </p:xfrm>
        <a:graphic>
          <a:graphicData uri="http://schemas.openxmlformats.org/presentationml/2006/ole">
            <mc:AlternateContent xmlns:mc="http://schemas.openxmlformats.org/markup-compatibility/2006">
              <mc:Choice xmlns:v="urn:schemas-microsoft-com:vml" Requires="v">
                <p:oleObj spid="_x0000_s1055793" name="Equation" r:id="rId4" imgW="1256755" imgH="177723" progId="Equation.DSMT4">
                  <p:embed/>
                </p:oleObj>
              </mc:Choice>
              <mc:Fallback>
                <p:oleObj name="Equation" r:id="rId4" imgW="1256755" imgH="177723" progId="Equation.DSMT4">
                  <p:embed/>
                  <p:pic>
                    <p:nvPicPr>
                      <p:cNvPr id="0"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71802" y="3357562"/>
                        <a:ext cx="2640013" cy="377825"/>
                      </a:xfrm>
                      <a:prstGeom prst="rect">
                        <a:avLst/>
                      </a:prstGeom>
                      <a:solidFill>
                        <a:srgbClr val="99CCFF"/>
                      </a:solidFill>
                      <a:ln w="9525">
                        <a:solidFill>
                          <a:srgbClr val="66FF66"/>
                        </a:solidFill>
                        <a:miter lim="800000"/>
                        <a:headEnd/>
                        <a:tailEnd/>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5060">
                                            <p:txEl>
                                              <p:pRg st="4" end="4"/>
                                            </p:txEl>
                                          </p:spTgt>
                                        </p:tgtEl>
                                        <p:attrNameLst>
                                          <p:attrName>style.visibility</p:attrName>
                                        </p:attrNameLst>
                                      </p:cBhvr>
                                      <p:to>
                                        <p:strVal val="visible"/>
                                      </p:to>
                                    </p:set>
                                    <p:animEffect transition="in" filter="blinds(horizontal)">
                                      <p:cBhvr>
                                        <p:cTn id="7" dur="500"/>
                                        <p:tgtEl>
                                          <p:spTgt spid="4506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0" name="Rectangle 3"/>
          <p:cNvSpPr>
            <a:spLocks noGrp="1" noChangeArrowheads="1"/>
          </p:cNvSpPr>
          <p:nvPr>
            <p:ph type="body" idx="1"/>
          </p:nvPr>
        </p:nvSpPr>
        <p:spPr>
          <a:xfrm>
            <a:off x="642910" y="2000240"/>
            <a:ext cx="7772400" cy="3929090"/>
          </a:xfrm>
        </p:spPr>
        <p:txBody>
          <a:bodyPr>
            <a:normAutofit lnSpcReduction="10000"/>
          </a:bodyPr>
          <a:lstStyle/>
          <a:p>
            <a:pPr eaLnBrk="1" hangingPunct="1">
              <a:lnSpc>
                <a:spcPct val="150000"/>
              </a:lnSpc>
              <a:buClr>
                <a:srgbClr val="3333FF"/>
              </a:buClr>
              <a:buFont typeface="Wingdings" pitchFamily="2" charset="2"/>
              <a:buChar char="p"/>
              <a:defRPr/>
            </a:pPr>
            <a:r>
              <a:rPr lang="en-US" altLang="zh-CN" sz="2400" dirty="0" smtClean="0">
                <a:solidFill>
                  <a:srgbClr val="3333FF"/>
                </a:solidFill>
                <a:latin typeface="方正大黑简体" pitchFamily="2" charset="-122"/>
                <a:ea typeface="方正大黑简体" pitchFamily="2" charset="-122"/>
              </a:rPr>
              <a:t> </a:t>
            </a:r>
            <a:r>
              <a:rPr lang="zh-CN" altLang="en-US" sz="2400" dirty="0" smtClean="0">
                <a:solidFill>
                  <a:srgbClr val="FF0000"/>
                </a:solidFill>
                <a:latin typeface="方正大黑简体" pitchFamily="2" charset="-122"/>
                <a:ea typeface="方正大黑简体" pitchFamily="2" charset="-122"/>
              </a:rPr>
              <a:t>实际问题：</a:t>
            </a:r>
            <a:r>
              <a:rPr lang="en-US" altLang="zh-CN" sz="2400" dirty="0" smtClean="0">
                <a:solidFill>
                  <a:srgbClr val="3333FF"/>
                </a:solidFill>
                <a:latin typeface="方正大黑简体" pitchFamily="2" charset="-122"/>
                <a:ea typeface="方正大黑简体" pitchFamily="2" charset="-122"/>
              </a:rPr>
              <a:t>900MHz</a:t>
            </a:r>
            <a:r>
              <a:rPr lang="zh-CN" altLang="en-US" sz="2400" dirty="0" smtClean="0">
                <a:solidFill>
                  <a:srgbClr val="3333FF"/>
                </a:solidFill>
                <a:latin typeface="方正大黑简体" pitchFamily="2" charset="-122"/>
                <a:ea typeface="方正大黑简体" pitchFamily="2" charset="-122"/>
              </a:rPr>
              <a:t>移动通信信道，移动台的移动速率为</a:t>
            </a:r>
            <a:r>
              <a:rPr lang="en-US" altLang="zh-CN" sz="2400" dirty="0" smtClean="0">
                <a:solidFill>
                  <a:srgbClr val="3333FF"/>
                </a:solidFill>
                <a:latin typeface="方正大黑简体" pitchFamily="2" charset="-122"/>
                <a:ea typeface="方正大黑简体" pitchFamily="2" charset="-122"/>
              </a:rPr>
              <a:t>80km/h</a:t>
            </a:r>
            <a:r>
              <a:rPr lang="zh-CN" altLang="en-US" sz="2400" dirty="0" smtClean="0">
                <a:solidFill>
                  <a:srgbClr val="3333FF"/>
                </a:solidFill>
                <a:latin typeface="方正大黑简体" pitchFamily="2" charset="-122"/>
                <a:ea typeface="方正大黑简体" pitchFamily="2" charset="-122"/>
              </a:rPr>
              <a:t>，假定符号速率为</a:t>
            </a:r>
            <a:r>
              <a:rPr lang="en-US" altLang="zh-CN" sz="2400" dirty="0" smtClean="0">
                <a:solidFill>
                  <a:srgbClr val="3333FF"/>
                </a:solidFill>
                <a:latin typeface="方正大黑简体" pitchFamily="2" charset="-122"/>
                <a:ea typeface="方正大黑简体" pitchFamily="2" charset="-122"/>
              </a:rPr>
              <a:t>24.3</a:t>
            </a:r>
            <a:r>
              <a:rPr lang="zh-CN" altLang="en-US" sz="2400" dirty="0" smtClean="0">
                <a:solidFill>
                  <a:srgbClr val="3333FF"/>
                </a:solidFill>
                <a:latin typeface="方正大黑简体" pitchFamily="2" charset="-122"/>
                <a:ea typeface="方正大黑简体" pitchFamily="2" charset="-122"/>
              </a:rPr>
              <a:t>千个</a:t>
            </a:r>
            <a:r>
              <a:rPr lang="en-US" altLang="zh-CN" sz="2400" dirty="0" smtClean="0">
                <a:solidFill>
                  <a:srgbClr val="3333FF"/>
                </a:solidFill>
                <a:latin typeface="方正大黑简体" pitchFamily="2" charset="-122"/>
                <a:ea typeface="方正大黑简体" pitchFamily="2" charset="-122"/>
              </a:rPr>
              <a:t>/</a:t>
            </a:r>
            <a:r>
              <a:rPr lang="zh-CN" altLang="en-US" sz="2400" dirty="0" smtClean="0">
                <a:solidFill>
                  <a:srgbClr val="3333FF"/>
                </a:solidFill>
                <a:latin typeface="方正大黑简体" pitchFamily="2" charset="-122"/>
                <a:ea typeface="方正大黑简体" pitchFamily="2" charset="-122"/>
              </a:rPr>
              <a:t>秒，不用更新均衡器的传输符号数目是多少？</a:t>
            </a:r>
            <a:endParaRPr lang="en-US" altLang="zh-CN" sz="2400" dirty="0" smtClean="0">
              <a:solidFill>
                <a:srgbClr val="3333FF"/>
              </a:solidFill>
              <a:latin typeface="方正大黑简体" pitchFamily="2" charset="-122"/>
              <a:ea typeface="方正大黑简体" pitchFamily="2" charset="-122"/>
            </a:endParaRPr>
          </a:p>
          <a:p>
            <a:pPr eaLnBrk="1" hangingPunct="1">
              <a:lnSpc>
                <a:spcPct val="150000"/>
              </a:lnSpc>
              <a:buClr>
                <a:srgbClr val="3333FF"/>
              </a:buClr>
              <a:buFont typeface="Wingdings" pitchFamily="2" charset="2"/>
              <a:buChar char="p"/>
              <a:defRPr/>
            </a:pPr>
            <a:r>
              <a:rPr lang="en-US" altLang="zh-CN" sz="2400" dirty="0" smtClean="0">
                <a:solidFill>
                  <a:srgbClr val="3333FF"/>
                </a:solidFill>
                <a:latin typeface="方正大黑简体" pitchFamily="2" charset="-122"/>
                <a:ea typeface="方正大黑简体" pitchFamily="2" charset="-122"/>
              </a:rPr>
              <a:t> </a:t>
            </a:r>
            <a:r>
              <a:rPr lang="zh-CN" altLang="en-US" sz="2400" dirty="0" smtClean="0">
                <a:solidFill>
                  <a:srgbClr val="FF0000"/>
                </a:solidFill>
                <a:latin typeface="方正大黑简体" pitchFamily="2" charset="-122"/>
                <a:ea typeface="方正大黑简体" pitchFamily="2" charset="-122"/>
              </a:rPr>
              <a:t>解决思路：</a:t>
            </a:r>
            <a:endParaRPr lang="en-US" altLang="zh-CN" sz="2400" dirty="0" smtClean="0">
              <a:solidFill>
                <a:srgbClr val="FF0000"/>
              </a:solidFill>
              <a:latin typeface="方正大黑简体" pitchFamily="2" charset="-122"/>
              <a:ea typeface="方正大黑简体" pitchFamily="2" charset="-122"/>
            </a:endParaRPr>
          </a:p>
          <a:p>
            <a:pPr lvl="1">
              <a:lnSpc>
                <a:spcPct val="150000"/>
              </a:lnSpc>
              <a:buClr>
                <a:srgbClr val="FF0000"/>
              </a:buClr>
              <a:buFont typeface="Wingdings" pitchFamily="2" charset="2"/>
              <a:buChar char="ü"/>
              <a:defRPr/>
            </a:pPr>
            <a:r>
              <a:rPr lang="zh-CN" altLang="en-US" sz="2400" dirty="0" smtClean="0">
                <a:solidFill>
                  <a:srgbClr val="3333FF"/>
                </a:solidFill>
                <a:latin typeface="方正大黑简体" pitchFamily="2" charset="-122"/>
                <a:ea typeface="方正大黑简体" pitchFamily="2" charset="-122"/>
              </a:rPr>
              <a:t>移动速度</a:t>
            </a:r>
            <a:r>
              <a:rPr lang="en-US" altLang="zh-CN" sz="2400" dirty="0" smtClean="0">
                <a:solidFill>
                  <a:srgbClr val="3333FF"/>
                </a:solidFill>
                <a:latin typeface="方正大黑简体" pitchFamily="2" charset="-122"/>
                <a:ea typeface="方正大黑简体" pitchFamily="2" charset="-122"/>
              </a:rPr>
              <a:t>+</a:t>
            </a:r>
            <a:r>
              <a:rPr lang="zh-CN" altLang="en-US" sz="2400" dirty="0" smtClean="0">
                <a:solidFill>
                  <a:srgbClr val="3333FF"/>
                </a:solidFill>
                <a:latin typeface="方正大黑简体" pitchFamily="2" charset="-122"/>
                <a:ea typeface="方正大黑简体" pitchFamily="2" charset="-122"/>
              </a:rPr>
              <a:t>工作频率 </a:t>
            </a:r>
            <a:r>
              <a:rPr lang="en-US" altLang="zh-CN" sz="2400" dirty="0" smtClean="0">
                <a:solidFill>
                  <a:srgbClr val="3333FF"/>
                </a:solidFill>
                <a:latin typeface="方正大黑简体" pitchFamily="2" charset="-122"/>
                <a:ea typeface="方正大黑简体" pitchFamily="2" charset="-122"/>
              </a:rPr>
              <a:t>-&gt; </a:t>
            </a:r>
            <a:r>
              <a:rPr lang="zh-CN" altLang="en-US" sz="2400" dirty="0" smtClean="0">
                <a:solidFill>
                  <a:srgbClr val="3333FF"/>
                </a:solidFill>
                <a:latin typeface="方正大黑简体" pitchFamily="2" charset="-122"/>
                <a:ea typeface="方正大黑简体" pitchFamily="2" charset="-122"/>
              </a:rPr>
              <a:t>最大多普勒频移 </a:t>
            </a:r>
            <a:r>
              <a:rPr lang="en-US" altLang="zh-CN" sz="2400" dirty="0" smtClean="0">
                <a:solidFill>
                  <a:srgbClr val="3333FF"/>
                </a:solidFill>
                <a:latin typeface="方正大黑简体" pitchFamily="2" charset="-122"/>
                <a:ea typeface="方正大黑简体" pitchFamily="2" charset="-122"/>
              </a:rPr>
              <a:t>-&gt; </a:t>
            </a:r>
            <a:r>
              <a:rPr lang="zh-CN" altLang="en-US" sz="2400" dirty="0" smtClean="0">
                <a:solidFill>
                  <a:srgbClr val="3333FF"/>
                </a:solidFill>
                <a:latin typeface="方正大黑简体" pitchFamily="2" charset="-122"/>
                <a:ea typeface="方正大黑简体" pitchFamily="2" charset="-122"/>
              </a:rPr>
              <a:t>相关时间</a:t>
            </a:r>
            <a:endParaRPr lang="en-US" altLang="zh-CN" sz="2400" dirty="0" smtClean="0">
              <a:solidFill>
                <a:srgbClr val="3333FF"/>
              </a:solidFill>
              <a:latin typeface="方正大黑简体" pitchFamily="2" charset="-122"/>
              <a:ea typeface="方正大黑简体" pitchFamily="2" charset="-122"/>
            </a:endParaRPr>
          </a:p>
          <a:p>
            <a:pPr lvl="1">
              <a:lnSpc>
                <a:spcPct val="150000"/>
              </a:lnSpc>
              <a:buClr>
                <a:srgbClr val="FF0000"/>
              </a:buClr>
              <a:buFont typeface="Wingdings" pitchFamily="2" charset="2"/>
              <a:buChar char="ü"/>
              <a:defRPr/>
            </a:pPr>
            <a:r>
              <a:rPr lang="zh-CN" altLang="en-US" sz="2400" dirty="0" smtClean="0">
                <a:solidFill>
                  <a:srgbClr val="3333FF"/>
                </a:solidFill>
                <a:latin typeface="方正大黑简体" pitchFamily="2" charset="-122"/>
                <a:ea typeface="方正大黑简体" pitchFamily="2" charset="-122"/>
              </a:rPr>
              <a:t>相关时间 </a:t>
            </a:r>
            <a:r>
              <a:rPr lang="en-US" altLang="zh-CN" sz="2400" dirty="0" smtClean="0">
                <a:solidFill>
                  <a:srgbClr val="3333FF"/>
                </a:solidFill>
                <a:latin typeface="方正大黑简体" pitchFamily="2" charset="-122"/>
                <a:ea typeface="方正大黑简体" pitchFamily="2" charset="-122"/>
              </a:rPr>
              <a:t>-&gt; </a:t>
            </a:r>
            <a:r>
              <a:rPr lang="zh-CN" altLang="en-US" sz="2400" dirty="0" smtClean="0">
                <a:solidFill>
                  <a:srgbClr val="3333FF"/>
                </a:solidFill>
                <a:latin typeface="方正大黑简体" pitchFamily="2" charset="-122"/>
                <a:ea typeface="方正大黑简体" pitchFamily="2" charset="-122"/>
              </a:rPr>
              <a:t>不用更新均衡器的传输符号数目</a:t>
            </a:r>
          </a:p>
        </p:txBody>
      </p:sp>
      <p:sp>
        <p:nvSpPr>
          <p:cNvPr id="54276" name="Rectangle 4"/>
          <p:cNvSpPr>
            <a:spLocks noChangeArrowheads="1"/>
          </p:cNvSpPr>
          <p:nvPr/>
        </p:nvSpPr>
        <p:spPr bwMode="auto">
          <a:xfrm>
            <a:off x="685800" y="333375"/>
            <a:ext cx="7315200" cy="684213"/>
          </a:xfrm>
          <a:prstGeom prst="rect">
            <a:avLst/>
          </a:prstGeom>
          <a:noFill/>
          <a:ln w="9525">
            <a:noFill/>
            <a:miter lim="800000"/>
            <a:headEnd/>
            <a:tailEnd/>
          </a:ln>
        </p:spPr>
        <p:txBody>
          <a:bodyPr anchor="ctr"/>
          <a:lstStyle/>
          <a:p>
            <a:pPr defTabSz="696913">
              <a:spcBef>
                <a:spcPct val="20000"/>
              </a:spcBef>
              <a:buClr>
                <a:schemeClr val="accent1"/>
              </a:buClr>
            </a:pPr>
            <a:r>
              <a:rPr lang="en-US" altLang="zh-CN"/>
              <a:t> </a:t>
            </a:r>
            <a:endParaRPr lang="zh-CN" altLang="en-US">
              <a:solidFill>
                <a:srgbClr val="FEF800"/>
              </a:solidFill>
              <a:latin typeface="方正大黑简体" pitchFamily="2" charset="-122"/>
              <a:ea typeface="方正大黑简体" pitchFamily="2" charset="-122"/>
            </a:endParaRPr>
          </a:p>
        </p:txBody>
      </p:sp>
      <p:sp>
        <p:nvSpPr>
          <p:cNvPr id="6" name="标题 5"/>
          <p:cNvSpPr>
            <a:spLocks noGrp="1"/>
          </p:cNvSpPr>
          <p:nvPr>
            <p:ph type="title"/>
          </p:nvPr>
        </p:nvSpPr>
        <p:spPr>
          <a:xfrm>
            <a:off x="642910" y="1071546"/>
            <a:ext cx="8229600" cy="1143000"/>
          </a:xfrm>
          <a:noFill/>
          <a:ln w="9525">
            <a:noFill/>
            <a:miter lim="800000"/>
            <a:headEnd/>
            <a:tailEnd/>
          </a:ln>
        </p:spPr>
        <p:txBody>
          <a:bodyPr anchor="ctr">
            <a:normAutofit/>
          </a:bodyPr>
          <a:lstStyle/>
          <a:p>
            <a:pPr algn="l">
              <a:lnSpc>
                <a:spcPct val="150000"/>
              </a:lnSpc>
              <a:buClr>
                <a:schemeClr val="accent1">
                  <a:lumMod val="75000"/>
                </a:schemeClr>
              </a:buClr>
              <a:defRPr/>
            </a:pPr>
            <a:r>
              <a:rPr lang="en-US" altLang="zh-CN" sz="2800" dirty="0" smtClean="0">
                <a:solidFill>
                  <a:srgbClr val="000099"/>
                </a:solidFill>
                <a:latin typeface="方正大黑简体" pitchFamily="2" charset="-122"/>
                <a:ea typeface="方正大黑简体" pitchFamily="2" charset="-122"/>
                <a:cs typeface="+mn-cs"/>
              </a:rPr>
              <a:t>2</a:t>
            </a:r>
            <a:r>
              <a:rPr lang="zh-CN" altLang="en-US" sz="2800" dirty="0" smtClean="0">
                <a:solidFill>
                  <a:srgbClr val="000099"/>
                </a:solidFill>
                <a:latin typeface="方正大黑简体" pitchFamily="2" charset="-122"/>
                <a:ea typeface="方正大黑简体" pitchFamily="2" charset="-122"/>
                <a:cs typeface="+mn-cs"/>
              </a:rPr>
              <a:t>、数据传输格式中的帧长的设置</a:t>
            </a:r>
            <a:endParaRPr lang="zh-CN" altLang="en-US" sz="2800" dirty="0">
              <a:solidFill>
                <a:srgbClr val="000099"/>
              </a:solidFill>
              <a:latin typeface="方正大黑简体" pitchFamily="2" charset="-122"/>
              <a:ea typeface="方正大黑简体" pitchFamily="2" charset="-122"/>
              <a:cs typeface="+mn-cs"/>
            </a:endParaRPr>
          </a:p>
        </p:txBody>
      </p:sp>
      <p:sp>
        <p:nvSpPr>
          <p:cNvPr id="7" name="Rectangle 4"/>
          <p:cNvSpPr>
            <a:spLocks noChangeArrowheads="1"/>
          </p:cNvSpPr>
          <p:nvPr/>
        </p:nvSpPr>
        <p:spPr bwMode="auto">
          <a:xfrm>
            <a:off x="1000100" y="387333"/>
            <a:ext cx="7315200" cy="684213"/>
          </a:xfrm>
          <a:prstGeom prst="rect">
            <a:avLst/>
          </a:prstGeom>
          <a:noFill/>
          <a:ln w="9525">
            <a:noFill/>
            <a:miter lim="800000"/>
            <a:headEnd/>
            <a:tailEnd/>
          </a:ln>
        </p:spPr>
        <p:txBody>
          <a:bodyPr anchor="ctr"/>
          <a:lstStyle/>
          <a:p>
            <a:pPr algn="ctr" defTabSz="696913">
              <a:spcBef>
                <a:spcPct val="20000"/>
              </a:spcBef>
              <a:buClr>
                <a:schemeClr val="accent1"/>
              </a:buClr>
              <a:defRPr/>
            </a:pPr>
            <a:r>
              <a:rPr lang="zh-CN" altLang="en-US" sz="3600" dirty="0" smtClean="0">
                <a:solidFill>
                  <a:schemeClr val="bg1"/>
                </a:solidFill>
                <a:latin typeface="方正兰亭粗黑简体" pitchFamily="2" charset="-122"/>
                <a:ea typeface="方正兰亭粗黑简体" pitchFamily="2" charset="-122"/>
              </a:rPr>
              <a:t>五、</a:t>
            </a:r>
            <a:r>
              <a:rPr lang="en-US" altLang="zh-CN" sz="3600" dirty="0" smtClean="0">
                <a:solidFill>
                  <a:schemeClr val="bg1"/>
                </a:solidFill>
                <a:latin typeface="方正兰亭粗黑简体" pitchFamily="2" charset="-122"/>
                <a:ea typeface="方正兰亭粗黑简体" pitchFamily="2" charset="-122"/>
              </a:rPr>
              <a:t> </a:t>
            </a:r>
            <a:r>
              <a:rPr lang="zh-CN" altLang="en-US" sz="3600" dirty="0">
                <a:solidFill>
                  <a:schemeClr val="bg1"/>
                </a:solidFill>
                <a:latin typeface="方正兰亭粗黑简体" pitchFamily="2" charset="-122"/>
                <a:ea typeface="方正兰亭粗黑简体" pitchFamily="2" charset="-122"/>
              </a:rPr>
              <a:t>自适应均衡的应用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5060">
                                            <p:txEl>
                                              <p:pRg st="1" end="1"/>
                                            </p:txEl>
                                          </p:spTgt>
                                        </p:tgtEl>
                                        <p:attrNameLst>
                                          <p:attrName>style.visibility</p:attrName>
                                        </p:attrNameLst>
                                      </p:cBhvr>
                                      <p:to>
                                        <p:strVal val="visible"/>
                                      </p:to>
                                    </p:set>
                                    <p:animEffect transition="in" filter="blinds(horizontal)">
                                      <p:cBhvr>
                                        <p:cTn id="7" dur="500"/>
                                        <p:tgtEl>
                                          <p:spTgt spid="45060">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5060">
                                            <p:txEl>
                                              <p:pRg st="2" end="2"/>
                                            </p:txEl>
                                          </p:spTgt>
                                        </p:tgtEl>
                                        <p:attrNameLst>
                                          <p:attrName>style.visibility</p:attrName>
                                        </p:attrNameLst>
                                      </p:cBhvr>
                                      <p:to>
                                        <p:strVal val="visible"/>
                                      </p:to>
                                    </p:set>
                                    <p:animEffect transition="in" filter="blinds(horizontal)">
                                      <p:cBhvr>
                                        <p:cTn id="10" dur="500"/>
                                        <p:tgtEl>
                                          <p:spTgt spid="45060">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45060">
                                            <p:txEl>
                                              <p:pRg st="3" end="3"/>
                                            </p:txEl>
                                          </p:spTgt>
                                        </p:tgtEl>
                                        <p:attrNameLst>
                                          <p:attrName>style.visibility</p:attrName>
                                        </p:attrNameLst>
                                      </p:cBhvr>
                                      <p:to>
                                        <p:strVal val="visible"/>
                                      </p:to>
                                    </p:set>
                                    <p:animEffect transition="in" filter="blinds(horizontal)">
                                      <p:cBhvr>
                                        <p:cTn id="15" dur="500"/>
                                        <p:tgtEl>
                                          <p:spTgt spid="4506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0" name="Rectangle 3"/>
          <p:cNvSpPr>
            <a:spLocks noGrp="1" noChangeArrowheads="1"/>
          </p:cNvSpPr>
          <p:nvPr>
            <p:ph type="body" idx="1"/>
          </p:nvPr>
        </p:nvSpPr>
        <p:spPr>
          <a:xfrm>
            <a:off x="428596" y="2033614"/>
            <a:ext cx="8501062" cy="3467088"/>
          </a:xfrm>
        </p:spPr>
        <p:txBody>
          <a:bodyPr>
            <a:normAutofit/>
          </a:bodyPr>
          <a:lstStyle/>
          <a:p>
            <a:pPr eaLnBrk="1" hangingPunct="1">
              <a:lnSpc>
                <a:spcPct val="150000"/>
              </a:lnSpc>
              <a:buClr>
                <a:srgbClr val="3333FF"/>
              </a:buClr>
              <a:buFont typeface="Wingdings" pitchFamily="2" charset="2"/>
              <a:buChar char="p"/>
              <a:defRPr/>
            </a:pPr>
            <a:r>
              <a:rPr lang="zh-CN" altLang="en-US" sz="2800" dirty="0" smtClean="0">
                <a:latin typeface="方正大黑简体" pitchFamily="2" charset="-122"/>
                <a:ea typeface="方正大黑简体" pitchFamily="2" charset="-122"/>
              </a:rPr>
              <a:t> </a:t>
            </a:r>
            <a:r>
              <a:rPr lang="zh-CN" altLang="en-US" sz="2800" dirty="0" smtClean="0">
                <a:solidFill>
                  <a:srgbClr val="3333FF"/>
                </a:solidFill>
                <a:latin typeface="方正大黑简体" pitchFamily="2" charset="-122"/>
                <a:ea typeface="方正大黑简体" pitchFamily="2" charset="-122"/>
              </a:rPr>
              <a:t>多普勒扩展</a:t>
            </a:r>
            <a:endParaRPr lang="en-US" altLang="zh-CN" sz="2800" dirty="0" smtClean="0">
              <a:solidFill>
                <a:srgbClr val="3333FF"/>
              </a:solidFill>
              <a:latin typeface="方正大黑简体" pitchFamily="2" charset="-122"/>
              <a:ea typeface="方正大黑简体" pitchFamily="2" charset="-122"/>
            </a:endParaRPr>
          </a:p>
          <a:p>
            <a:pPr lvl="1">
              <a:lnSpc>
                <a:spcPct val="150000"/>
              </a:lnSpc>
              <a:buClr>
                <a:schemeClr val="accent1">
                  <a:lumMod val="75000"/>
                </a:schemeClr>
              </a:buClr>
              <a:buNone/>
              <a:defRPr/>
            </a:pPr>
            <a:r>
              <a:rPr lang="en-US" altLang="zh-CN" sz="2800" dirty="0" smtClean="0">
                <a:solidFill>
                  <a:srgbClr val="3333FF"/>
                </a:solidFill>
                <a:latin typeface="方正大黑简体" pitchFamily="2" charset="-122"/>
                <a:ea typeface="方正大黑简体" pitchFamily="2" charset="-122"/>
              </a:rPr>
              <a:t>    </a:t>
            </a:r>
            <a:r>
              <a:rPr lang="en-US" altLang="zh-CN" sz="2800" dirty="0" smtClean="0">
                <a:latin typeface="方正大黑简体" pitchFamily="2" charset="-122"/>
                <a:ea typeface="方正大黑简体" pitchFamily="2" charset="-122"/>
              </a:rPr>
              <a:t>f</a:t>
            </a:r>
            <a:r>
              <a:rPr lang="en-US" altLang="zh-CN" sz="2000" dirty="0" smtClean="0">
                <a:latin typeface="方正大黑简体" pitchFamily="2" charset="-122"/>
                <a:ea typeface="方正大黑简体" pitchFamily="2" charset="-122"/>
              </a:rPr>
              <a:t>m</a:t>
            </a:r>
            <a:r>
              <a:rPr lang="en-US" altLang="zh-CN" sz="2800" dirty="0" smtClean="0">
                <a:latin typeface="方正大黑简体" pitchFamily="2" charset="-122"/>
                <a:ea typeface="方正大黑简体" pitchFamily="2" charset="-122"/>
              </a:rPr>
              <a:t>=</a:t>
            </a:r>
            <a:r>
              <a:rPr lang="en-US" altLang="zh-CN" sz="2800" dirty="0" err="1" smtClean="0">
                <a:latin typeface="方正大黑简体" pitchFamily="2" charset="-122"/>
                <a:ea typeface="方正大黑简体" pitchFamily="2" charset="-122"/>
              </a:rPr>
              <a:t>v×f</a:t>
            </a:r>
            <a:r>
              <a:rPr lang="en-US" altLang="zh-CN" sz="2800" dirty="0" smtClean="0">
                <a:latin typeface="方正大黑简体" pitchFamily="2" charset="-122"/>
                <a:ea typeface="方正大黑简体" pitchFamily="2" charset="-122"/>
              </a:rPr>
              <a:t>/c=(</a:t>
            </a:r>
            <a:r>
              <a:rPr lang="en-US" altLang="zh-CN" dirty="0" smtClean="0">
                <a:latin typeface="方正大黑简体" pitchFamily="2" charset="-122"/>
                <a:ea typeface="方正大黑简体" pitchFamily="2" charset="-122"/>
              </a:rPr>
              <a:t>80000/3600) ×900×10</a:t>
            </a:r>
            <a:r>
              <a:rPr lang="en-US" altLang="zh-CN" baseline="30000" dirty="0" smtClean="0">
                <a:latin typeface="方正大黑简体" pitchFamily="2" charset="-122"/>
                <a:ea typeface="方正大黑简体" pitchFamily="2" charset="-122"/>
              </a:rPr>
              <a:t>6</a:t>
            </a:r>
            <a:r>
              <a:rPr lang="en-US" altLang="zh-CN" dirty="0" smtClean="0">
                <a:latin typeface="方正大黑简体" pitchFamily="2" charset="-122"/>
                <a:ea typeface="方正大黑简体" pitchFamily="2" charset="-122"/>
              </a:rPr>
              <a:t>/3×10</a:t>
            </a:r>
            <a:r>
              <a:rPr lang="en-US" altLang="zh-CN" baseline="30000" dirty="0" smtClean="0">
                <a:latin typeface="方正大黑简体" pitchFamily="2" charset="-122"/>
                <a:ea typeface="方正大黑简体" pitchFamily="2" charset="-122"/>
              </a:rPr>
              <a:t>8</a:t>
            </a:r>
            <a:endParaRPr lang="en-US" altLang="zh-CN" sz="2800" baseline="30000" dirty="0" smtClean="0">
              <a:latin typeface="方正大黑简体" pitchFamily="2" charset="-122"/>
              <a:ea typeface="方正大黑简体" pitchFamily="2" charset="-122"/>
            </a:endParaRPr>
          </a:p>
          <a:p>
            <a:pPr lvl="1" eaLnBrk="1" hangingPunct="1">
              <a:lnSpc>
                <a:spcPct val="150000"/>
              </a:lnSpc>
              <a:buClr>
                <a:schemeClr val="accent1">
                  <a:lumMod val="75000"/>
                </a:schemeClr>
              </a:buClr>
              <a:buFont typeface="Wingdings" pitchFamily="2" charset="2"/>
              <a:buNone/>
              <a:defRPr/>
            </a:pPr>
            <a:r>
              <a:rPr lang="en-US" altLang="zh-CN" sz="2800" dirty="0" smtClean="0">
                <a:latin typeface="方正大黑简体" pitchFamily="2" charset="-122"/>
                <a:ea typeface="方正大黑简体" pitchFamily="2" charset="-122"/>
              </a:rPr>
              <a:t>        = 66.67Hz</a:t>
            </a:r>
          </a:p>
          <a:p>
            <a:pPr eaLnBrk="1" hangingPunct="1">
              <a:lnSpc>
                <a:spcPct val="150000"/>
              </a:lnSpc>
              <a:buClr>
                <a:srgbClr val="3333FF"/>
              </a:buClr>
              <a:buFont typeface="Wingdings" pitchFamily="2" charset="2"/>
              <a:buChar char="p"/>
              <a:defRPr/>
            </a:pPr>
            <a:r>
              <a:rPr lang="en-US" altLang="zh-CN" sz="2800" dirty="0" smtClean="0">
                <a:solidFill>
                  <a:srgbClr val="3333FF"/>
                </a:solidFill>
                <a:latin typeface="方正大黑简体" pitchFamily="2" charset="-122"/>
                <a:ea typeface="方正大黑简体" pitchFamily="2" charset="-122"/>
              </a:rPr>
              <a:t> </a:t>
            </a:r>
            <a:r>
              <a:rPr lang="zh-CN" altLang="en-US" sz="2800" dirty="0" smtClean="0">
                <a:solidFill>
                  <a:srgbClr val="3333FF"/>
                </a:solidFill>
                <a:latin typeface="方正大黑简体" pitchFamily="2" charset="-122"/>
                <a:ea typeface="方正大黑简体" pitchFamily="2" charset="-122"/>
              </a:rPr>
              <a:t>相关时间 </a:t>
            </a:r>
            <a:endParaRPr lang="en-US" altLang="zh-CN" sz="2800" dirty="0" smtClean="0">
              <a:solidFill>
                <a:srgbClr val="3333FF"/>
              </a:solidFill>
              <a:latin typeface="方正大黑简体" pitchFamily="2" charset="-122"/>
              <a:ea typeface="方正大黑简体" pitchFamily="2" charset="-122"/>
            </a:endParaRPr>
          </a:p>
          <a:p>
            <a:pPr lvl="1" eaLnBrk="1" hangingPunct="1">
              <a:lnSpc>
                <a:spcPct val="150000"/>
              </a:lnSpc>
              <a:buClr>
                <a:schemeClr val="accent1">
                  <a:lumMod val="75000"/>
                </a:schemeClr>
              </a:buClr>
              <a:buFont typeface="Wingdings" pitchFamily="2" charset="2"/>
              <a:buChar char="ü"/>
              <a:defRPr/>
            </a:pPr>
            <a:endParaRPr lang="zh-CN" altLang="en-US" sz="2800" dirty="0" smtClean="0">
              <a:latin typeface="方正大黑简体" pitchFamily="2" charset="-122"/>
              <a:ea typeface="方正大黑简体" pitchFamily="2" charset="-122"/>
            </a:endParaRPr>
          </a:p>
        </p:txBody>
      </p:sp>
      <p:sp>
        <p:nvSpPr>
          <p:cNvPr id="8" name="Rectangle 4"/>
          <p:cNvSpPr>
            <a:spLocks noChangeArrowheads="1"/>
          </p:cNvSpPr>
          <p:nvPr/>
        </p:nvSpPr>
        <p:spPr bwMode="auto">
          <a:xfrm>
            <a:off x="1000100" y="387333"/>
            <a:ext cx="7315200" cy="684213"/>
          </a:xfrm>
          <a:prstGeom prst="rect">
            <a:avLst/>
          </a:prstGeom>
          <a:noFill/>
          <a:ln w="9525">
            <a:noFill/>
            <a:miter lim="800000"/>
            <a:headEnd/>
            <a:tailEnd/>
          </a:ln>
        </p:spPr>
        <p:txBody>
          <a:bodyPr anchor="ctr"/>
          <a:lstStyle/>
          <a:p>
            <a:pPr algn="ctr" defTabSz="696913">
              <a:spcBef>
                <a:spcPct val="20000"/>
              </a:spcBef>
              <a:buClr>
                <a:schemeClr val="accent1"/>
              </a:buClr>
              <a:defRPr/>
            </a:pPr>
            <a:r>
              <a:rPr lang="zh-CN" altLang="en-US" sz="3600" dirty="0" smtClean="0">
                <a:solidFill>
                  <a:schemeClr val="bg1"/>
                </a:solidFill>
                <a:latin typeface="方正兰亭粗黑简体" pitchFamily="2" charset="-122"/>
                <a:ea typeface="方正兰亭粗黑简体" pitchFamily="2" charset="-122"/>
              </a:rPr>
              <a:t>五、</a:t>
            </a:r>
            <a:r>
              <a:rPr lang="en-US" altLang="zh-CN" sz="3600" dirty="0" smtClean="0">
                <a:solidFill>
                  <a:schemeClr val="bg1"/>
                </a:solidFill>
                <a:latin typeface="方正兰亭粗黑简体" pitchFamily="2" charset="-122"/>
                <a:ea typeface="方正兰亭粗黑简体" pitchFamily="2" charset="-122"/>
              </a:rPr>
              <a:t> </a:t>
            </a:r>
            <a:r>
              <a:rPr lang="zh-CN" altLang="en-US" sz="3600" dirty="0">
                <a:solidFill>
                  <a:schemeClr val="bg1"/>
                </a:solidFill>
                <a:latin typeface="方正兰亭粗黑简体" pitchFamily="2" charset="-122"/>
                <a:ea typeface="方正兰亭粗黑简体" pitchFamily="2" charset="-122"/>
              </a:rPr>
              <a:t>自适应均衡的应用</a:t>
            </a:r>
          </a:p>
        </p:txBody>
      </p:sp>
      <p:sp>
        <p:nvSpPr>
          <p:cNvPr id="9" name="标题 5"/>
          <p:cNvSpPr>
            <a:spLocks noGrp="1"/>
          </p:cNvSpPr>
          <p:nvPr>
            <p:ph type="title"/>
          </p:nvPr>
        </p:nvSpPr>
        <p:spPr>
          <a:xfrm>
            <a:off x="642910" y="1071546"/>
            <a:ext cx="8229600" cy="1143000"/>
          </a:xfrm>
          <a:noFill/>
          <a:ln w="9525">
            <a:noFill/>
            <a:miter lim="800000"/>
            <a:headEnd/>
            <a:tailEnd/>
          </a:ln>
        </p:spPr>
        <p:txBody>
          <a:bodyPr anchor="ctr">
            <a:normAutofit/>
          </a:bodyPr>
          <a:lstStyle/>
          <a:p>
            <a:pPr algn="l">
              <a:lnSpc>
                <a:spcPct val="150000"/>
              </a:lnSpc>
              <a:buClr>
                <a:schemeClr val="accent1">
                  <a:lumMod val="75000"/>
                </a:schemeClr>
              </a:buClr>
              <a:defRPr/>
            </a:pPr>
            <a:r>
              <a:rPr lang="en-US" altLang="zh-CN" sz="2800" dirty="0" smtClean="0">
                <a:solidFill>
                  <a:srgbClr val="000099"/>
                </a:solidFill>
                <a:latin typeface="方正大黑简体" pitchFamily="2" charset="-122"/>
                <a:ea typeface="方正大黑简体" pitchFamily="2" charset="-122"/>
                <a:cs typeface="+mn-cs"/>
              </a:rPr>
              <a:t>2</a:t>
            </a:r>
            <a:r>
              <a:rPr lang="zh-CN" altLang="en-US" sz="2800" dirty="0" smtClean="0">
                <a:solidFill>
                  <a:srgbClr val="000099"/>
                </a:solidFill>
                <a:latin typeface="方正大黑简体" pitchFamily="2" charset="-122"/>
                <a:ea typeface="方正大黑简体" pitchFamily="2" charset="-122"/>
                <a:cs typeface="+mn-cs"/>
              </a:rPr>
              <a:t>、</a:t>
            </a:r>
            <a:r>
              <a:rPr lang="zh-CN" altLang="en-US" sz="2800" dirty="0" smtClean="0">
                <a:solidFill>
                  <a:srgbClr val="000099"/>
                </a:solidFill>
                <a:latin typeface="方正大黑简体" pitchFamily="2" charset="-122"/>
                <a:ea typeface="方正大黑简体" pitchFamily="2" charset="-122"/>
              </a:rPr>
              <a:t>数据传输格式中的帧长的设置</a:t>
            </a:r>
            <a:endParaRPr lang="zh-CN" altLang="en-US" sz="2800" dirty="0">
              <a:solidFill>
                <a:srgbClr val="000099"/>
              </a:solidFill>
              <a:latin typeface="方正大黑简体" pitchFamily="2" charset="-122"/>
              <a:ea typeface="方正大黑简体" pitchFamily="2" charset="-122"/>
              <a:cs typeface="+mn-cs"/>
            </a:endParaRPr>
          </a:p>
        </p:txBody>
      </p:sp>
      <p:sp>
        <p:nvSpPr>
          <p:cNvPr id="1062916"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062915" name="Object 3"/>
          <p:cNvGraphicFramePr>
            <a:graphicFrameLocks noChangeAspect="1"/>
          </p:cNvGraphicFramePr>
          <p:nvPr>
            <p:extLst>
              <p:ext uri="{D42A27DB-BD31-4B8C-83A1-F6EECF244321}">
                <p14:modId xmlns:p14="http://schemas.microsoft.com/office/powerpoint/2010/main" val="1994141927"/>
              </p:ext>
            </p:extLst>
          </p:nvPr>
        </p:nvGraphicFramePr>
        <p:xfrm>
          <a:off x="2162175" y="5214938"/>
          <a:ext cx="5113338" cy="857250"/>
        </p:xfrm>
        <a:graphic>
          <a:graphicData uri="http://schemas.openxmlformats.org/presentationml/2006/ole">
            <mc:AlternateContent xmlns:mc="http://schemas.openxmlformats.org/markup-compatibility/2006">
              <mc:Choice xmlns:v="urn:schemas-microsoft-com:vml" Requires="v">
                <p:oleObj spid="_x0000_s1062963" name="Equation" r:id="rId3" imgW="2577960" imgH="431640" progId="Equation.DSMT4">
                  <p:embed/>
                </p:oleObj>
              </mc:Choice>
              <mc:Fallback>
                <p:oleObj name="Equation" r:id="rId3" imgW="2577960" imgH="431640" progId="Equation.DSMT4">
                  <p:embed/>
                  <p:pic>
                    <p:nvPicPr>
                      <p:cNvPr id="0" name="Picture 4"/>
                      <p:cNvPicPr>
                        <a:picLocks noChangeAspect="1" noChangeArrowheads="1"/>
                      </p:cNvPicPr>
                      <p:nvPr/>
                    </p:nvPicPr>
                    <p:blipFill>
                      <a:blip r:embed="rId4"/>
                      <a:srcRect/>
                      <a:stretch>
                        <a:fillRect/>
                      </a:stretch>
                    </p:blipFill>
                    <p:spPr bwMode="auto">
                      <a:xfrm>
                        <a:off x="2162175" y="5214938"/>
                        <a:ext cx="5113338" cy="857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5060">
                                            <p:txEl>
                                              <p:pRg st="3" end="3"/>
                                            </p:txEl>
                                          </p:spTgt>
                                        </p:tgtEl>
                                        <p:attrNameLst>
                                          <p:attrName>style.visibility</p:attrName>
                                        </p:attrNameLst>
                                      </p:cBhvr>
                                      <p:to>
                                        <p:strVal val="visible"/>
                                      </p:to>
                                    </p:set>
                                    <p:animEffect transition="in" filter="blinds(horizontal)">
                                      <p:cBhvr>
                                        <p:cTn id="7" dur="500"/>
                                        <p:tgtEl>
                                          <p:spTgt spid="45060">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062915"/>
                                        </p:tgtEl>
                                        <p:attrNameLst>
                                          <p:attrName>style.visibility</p:attrName>
                                        </p:attrNameLst>
                                      </p:cBhvr>
                                      <p:to>
                                        <p:strVal val="visible"/>
                                      </p:to>
                                    </p:set>
                                    <p:animEffect transition="in" filter="blinds(horizontal)">
                                      <p:cBhvr>
                                        <p:cTn id="12" dur="500"/>
                                        <p:tgtEl>
                                          <p:spTgt spid="10629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Rectangle 2"/>
          <p:cNvSpPr>
            <a:spLocks noGrp="1" noChangeArrowheads="1"/>
          </p:cNvSpPr>
          <p:nvPr>
            <p:ph type="title"/>
          </p:nvPr>
        </p:nvSpPr>
        <p:spPr/>
        <p:txBody>
          <a:bodyPr/>
          <a:lstStyle/>
          <a:p>
            <a:pPr eaLnBrk="1" hangingPunct="1"/>
            <a:r>
              <a:rPr lang="en-US" altLang="zh-CN" smtClean="0"/>
              <a:t> </a:t>
            </a:r>
          </a:p>
        </p:txBody>
      </p:sp>
      <p:sp>
        <p:nvSpPr>
          <p:cNvPr id="45060" name="Rectangle 3"/>
          <p:cNvSpPr>
            <a:spLocks noGrp="1" noChangeArrowheads="1"/>
          </p:cNvSpPr>
          <p:nvPr>
            <p:ph type="body" idx="1"/>
          </p:nvPr>
        </p:nvSpPr>
        <p:spPr>
          <a:xfrm>
            <a:off x="642910" y="2928925"/>
            <a:ext cx="7929618" cy="3357595"/>
          </a:xfrm>
        </p:spPr>
        <p:txBody>
          <a:bodyPr/>
          <a:lstStyle/>
          <a:p>
            <a:pPr eaLnBrk="1" hangingPunct="1">
              <a:lnSpc>
                <a:spcPct val="150000"/>
              </a:lnSpc>
              <a:buClr>
                <a:srgbClr val="3333FF"/>
              </a:buClr>
              <a:buFont typeface="Wingdings" pitchFamily="2" charset="2"/>
              <a:buChar char="p"/>
              <a:defRPr/>
            </a:pPr>
            <a:r>
              <a:rPr lang="zh-CN" altLang="en-US" sz="2800" dirty="0" smtClean="0">
                <a:solidFill>
                  <a:srgbClr val="3333FF"/>
                </a:solidFill>
                <a:latin typeface="方正大黑简体" pitchFamily="2" charset="-122"/>
                <a:ea typeface="方正大黑简体" pitchFamily="2" charset="-122"/>
              </a:rPr>
              <a:t>保证一个（训练</a:t>
            </a:r>
            <a:r>
              <a:rPr lang="en-US" altLang="zh-CN" sz="2800" dirty="0" smtClean="0">
                <a:solidFill>
                  <a:srgbClr val="3333FF"/>
                </a:solidFill>
                <a:latin typeface="方正大黑简体" pitchFamily="2" charset="-122"/>
                <a:ea typeface="方正大黑简体" pitchFamily="2" charset="-122"/>
              </a:rPr>
              <a:t>+</a:t>
            </a:r>
            <a:r>
              <a:rPr lang="zh-CN" altLang="en-US" sz="2800" dirty="0" smtClean="0">
                <a:solidFill>
                  <a:srgbClr val="3333FF"/>
                </a:solidFill>
                <a:latin typeface="方正大黑简体" pitchFamily="2" charset="-122"/>
                <a:ea typeface="方正大黑简体" pitchFamily="2" charset="-122"/>
              </a:rPr>
              <a:t>数据）帧长范围内信道特性基本不变，其时长应小于</a:t>
            </a:r>
            <a:r>
              <a:rPr lang="en-US" altLang="zh-CN" sz="2800" dirty="0" smtClean="0">
                <a:solidFill>
                  <a:srgbClr val="3333FF"/>
                </a:solidFill>
                <a:latin typeface="方正大黑简体" pitchFamily="2" charset="-122"/>
                <a:ea typeface="方正大黑简体" pitchFamily="2" charset="-122"/>
              </a:rPr>
              <a:t>2.687ms</a:t>
            </a:r>
            <a:r>
              <a:rPr lang="zh-CN" altLang="en-US" sz="2800" dirty="0" smtClean="0">
                <a:solidFill>
                  <a:srgbClr val="3333FF"/>
                </a:solidFill>
                <a:latin typeface="方正大黑简体" pitchFamily="2" charset="-122"/>
                <a:ea typeface="方正大黑简体" pitchFamily="2" charset="-122"/>
              </a:rPr>
              <a:t>。</a:t>
            </a:r>
            <a:endParaRPr lang="en-US" altLang="zh-CN" sz="2800" dirty="0" smtClean="0">
              <a:solidFill>
                <a:srgbClr val="3333FF"/>
              </a:solidFill>
              <a:latin typeface="方正大黑简体" pitchFamily="2" charset="-122"/>
              <a:ea typeface="方正大黑简体" pitchFamily="2" charset="-122"/>
            </a:endParaRPr>
          </a:p>
          <a:p>
            <a:pPr eaLnBrk="1" hangingPunct="1">
              <a:lnSpc>
                <a:spcPct val="150000"/>
              </a:lnSpc>
              <a:buClr>
                <a:srgbClr val="3333FF"/>
              </a:buClr>
              <a:buFont typeface="Wingdings" pitchFamily="2" charset="2"/>
              <a:buChar char="p"/>
              <a:defRPr/>
            </a:pPr>
            <a:r>
              <a:rPr lang="zh-CN" altLang="en-US" sz="2800" dirty="0" smtClean="0">
                <a:solidFill>
                  <a:srgbClr val="3333FF"/>
                </a:solidFill>
                <a:latin typeface="方正大黑简体" pitchFamily="2" charset="-122"/>
                <a:ea typeface="方正大黑简体" pitchFamily="2" charset="-122"/>
              </a:rPr>
              <a:t>若</a:t>
            </a:r>
            <a:r>
              <a:rPr lang="en-US" altLang="zh-CN" sz="2800" dirty="0" smtClean="0">
                <a:solidFill>
                  <a:srgbClr val="3333FF"/>
                </a:solidFill>
                <a:latin typeface="方正大黑简体" pitchFamily="2" charset="-122"/>
                <a:ea typeface="方正大黑简体" pitchFamily="2" charset="-122"/>
              </a:rPr>
              <a:t>R</a:t>
            </a:r>
            <a:r>
              <a:rPr lang="en-US" altLang="zh-CN" sz="2800" baseline="-25000" dirty="0" smtClean="0">
                <a:solidFill>
                  <a:srgbClr val="3333FF"/>
                </a:solidFill>
                <a:latin typeface="方正大黑简体" pitchFamily="2" charset="-122"/>
                <a:ea typeface="方正大黑简体" pitchFamily="2" charset="-122"/>
              </a:rPr>
              <a:t>s</a:t>
            </a:r>
            <a:r>
              <a:rPr lang="en-US" altLang="zh-CN" sz="2800" dirty="0" smtClean="0">
                <a:solidFill>
                  <a:srgbClr val="3333FF"/>
                </a:solidFill>
                <a:latin typeface="方正大黑简体" pitchFamily="2" charset="-122"/>
                <a:ea typeface="方正大黑简体" pitchFamily="2" charset="-122"/>
              </a:rPr>
              <a:t>=24.3kbps</a:t>
            </a:r>
            <a:r>
              <a:rPr lang="zh-CN" altLang="en-US" sz="2800" dirty="0" smtClean="0">
                <a:solidFill>
                  <a:srgbClr val="3333FF"/>
                </a:solidFill>
                <a:latin typeface="方正大黑简体" pitchFamily="2" charset="-122"/>
                <a:ea typeface="方正大黑简体" pitchFamily="2" charset="-122"/>
              </a:rPr>
              <a:t>，则可传送的符号个数为：</a:t>
            </a:r>
            <a:endParaRPr lang="en-US" altLang="zh-CN" sz="2800" dirty="0" smtClean="0">
              <a:solidFill>
                <a:srgbClr val="3333FF"/>
              </a:solidFill>
              <a:latin typeface="方正大黑简体" pitchFamily="2" charset="-122"/>
              <a:ea typeface="方正大黑简体" pitchFamily="2" charset="-122"/>
            </a:endParaRPr>
          </a:p>
          <a:p>
            <a:pPr lvl="1" eaLnBrk="1" hangingPunct="1">
              <a:lnSpc>
                <a:spcPct val="150000"/>
              </a:lnSpc>
              <a:buClr>
                <a:schemeClr val="accent1">
                  <a:lumMod val="75000"/>
                </a:schemeClr>
              </a:buClr>
              <a:buFont typeface="Wingdings" pitchFamily="2" charset="2"/>
              <a:buNone/>
              <a:defRPr/>
            </a:pPr>
            <a:r>
              <a:rPr lang="en-US" altLang="zh-CN" dirty="0" smtClean="0">
                <a:solidFill>
                  <a:srgbClr val="3333FF"/>
                </a:solidFill>
                <a:latin typeface="方正大黑简体" pitchFamily="2" charset="-122"/>
                <a:ea typeface="方正大黑简体" pitchFamily="2" charset="-122"/>
              </a:rPr>
              <a:t>              </a:t>
            </a:r>
            <a:r>
              <a:rPr lang="en-US" altLang="zh-CN" dirty="0" err="1" smtClean="0">
                <a:solidFill>
                  <a:srgbClr val="3333FF"/>
                </a:solidFill>
                <a:latin typeface="方正大黑简体" pitchFamily="2" charset="-122"/>
                <a:ea typeface="方正大黑简体" pitchFamily="2" charset="-122"/>
              </a:rPr>
              <a:t>N</a:t>
            </a:r>
            <a:r>
              <a:rPr lang="en-US" altLang="zh-CN" baseline="-25000" dirty="0" err="1" smtClean="0">
                <a:solidFill>
                  <a:srgbClr val="3333FF"/>
                </a:solidFill>
                <a:latin typeface="方正大黑简体" pitchFamily="2" charset="-122"/>
                <a:ea typeface="方正大黑简体" pitchFamily="2" charset="-122"/>
              </a:rPr>
              <a:t>b</a:t>
            </a:r>
            <a:r>
              <a:rPr lang="en-US" altLang="zh-CN" dirty="0" smtClean="0">
                <a:solidFill>
                  <a:srgbClr val="3333FF"/>
                </a:solidFill>
                <a:latin typeface="方正大黑简体" pitchFamily="2" charset="-122"/>
                <a:ea typeface="方正大黑简体" pitchFamily="2" charset="-122"/>
              </a:rPr>
              <a:t> = </a:t>
            </a:r>
            <a:r>
              <a:rPr lang="en-US" altLang="zh-CN" dirty="0" err="1" smtClean="0">
                <a:solidFill>
                  <a:srgbClr val="3333FF"/>
                </a:solidFill>
                <a:latin typeface="方正大黑简体" pitchFamily="2" charset="-122"/>
                <a:ea typeface="方正大黑简体" pitchFamily="2" charset="-122"/>
              </a:rPr>
              <a:t>R</a:t>
            </a:r>
            <a:r>
              <a:rPr lang="en-US" altLang="zh-CN" baseline="-25000" dirty="0" err="1" smtClean="0">
                <a:solidFill>
                  <a:srgbClr val="3333FF"/>
                </a:solidFill>
                <a:latin typeface="方正大黑简体" pitchFamily="2" charset="-122"/>
                <a:ea typeface="方正大黑简体" pitchFamily="2" charset="-122"/>
              </a:rPr>
              <a:t>s</a:t>
            </a:r>
            <a:r>
              <a:rPr lang="en-US" altLang="zh-CN" dirty="0" err="1" smtClean="0">
                <a:solidFill>
                  <a:srgbClr val="3333FF"/>
                </a:solidFill>
                <a:latin typeface="方正大黑简体" pitchFamily="2" charset="-122"/>
                <a:ea typeface="方正大黑简体" pitchFamily="2" charset="-122"/>
              </a:rPr>
              <a:t>×T</a:t>
            </a:r>
            <a:r>
              <a:rPr lang="en-US" altLang="zh-CN" baseline="-25000" dirty="0" err="1" smtClean="0">
                <a:solidFill>
                  <a:srgbClr val="3333FF"/>
                </a:solidFill>
                <a:latin typeface="方正大黑简体" pitchFamily="2" charset="-122"/>
                <a:ea typeface="方正大黑简体" pitchFamily="2" charset="-122"/>
              </a:rPr>
              <a:t>c</a:t>
            </a:r>
            <a:r>
              <a:rPr lang="en-US" altLang="zh-CN" baseline="-25000" dirty="0" smtClean="0">
                <a:solidFill>
                  <a:srgbClr val="3333FF"/>
                </a:solidFill>
                <a:latin typeface="方正大黑简体" pitchFamily="2" charset="-122"/>
                <a:ea typeface="方正大黑简体" pitchFamily="2" charset="-122"/>
              </a:rPr>
              <a:t> </a:t>
            </a:r>
            <a:r>
              <a:rPr lang="en-US" altLang="zh-CN" dirty="0" smtClean="0">
                <a:solidFill>
                  <a:srgbClr val="3333FF"/>
                </a:solidFill>
                <a:latin typeface="方正大黑简体" pitchFamily="2" charset="-122"/>
                <a:ea typeface="方正大黑简体" pitchFamily="2" charset="-122"/>
              </a:rPr>
              <a:t>= 65</a:t>
            </a:r>
            <a:r>
              <a:rPr lang="zh-CN" altLang="en-US" dirty="0" smtClean="0">
                <a:solidFill>
                  <a:srgbClr val="3333FF"/>
                </a:solidFill>
                <a:latin typeface="方正大黑简体" pitchFamily="2" charset="-122"/>
                <a:ea typeface="方正大黑简体" pitchFamily="2" charset="-122"/>
              </a:rPr>
              <a:t>个符号</a:t>
            </a:r>
          </a:p>
        </p:txBody>
      </p:sp>
      <p:sp>
        <p:nvSpPr>
          <p:cNvPr id="6" name="Rectangle 4"/>
          <p:cNvSpPr>
            <a:spLocks noChangeArrowheads="1"/>
          </p:cNvSpPr>
          <p:nvPr/>
        </p:nvSpPr>
        <p:spPr bwMode="auto">
          <a:xfrm>
            <a:off x="1000100" y="387333"/>
            <a:ext cx="7315200" cy="684213"/>
          </a:xfrm>
          <a:prstGeom prst="rect">
            <a:avLst/>
          </a:prstGeom>
          <a:noFill/>
          <a:ln w="9525">
            <a:noFill/>
            <a:miter lim="800000"/>
            <a:headEnd/>
            <a:tailEnd/>
          </a:ln>
        </p:spPr>
        <p:txBody>
          <a:bodyPr anchor="ctr"/>
          <a:lstStyle/>
          <a:p>
            <a:pPr algn="ctr" defTabSz="696913">
              <a:spcBef>
                <a:spcPct val="20000"/>
              </a:spcBef>
              <a:buClr>
                <a:schemeClr val="accent1"/>
              </a:buClr>
              <a:defRPr/>
            </a:pPr>
            <a:r>
              <a:rPr lang="zh-CN" altLang="en-US" sz="3600" dirty="0" smtClean="0">
                <a:solidFill>
                  <a:schemeClr val="bg1"/>
                </a:solidFill>
                <a:latin typeface="方正兰亭粗黑简体" pitchFamily="2" charset="-122"/>
                <a:ea typeface="方正兰亭粗黑简体" pitchFamily="2" charset="-122"/>
              </a:rPr>
              <a:t>五、</a:t>
            </a:r>
            <a:r>
              <a:rPr lang="en-US" altLang="zh-CN" sz="3600" dirty="0" smtClean="0">
                <a:solidFill>
                  <a:schemeClr val="bg1"/>
                </a:solidFill>
                <a:latin typeface="方正兰亭粗黑简体" pitchFamily="2" charset="-122"/>
                <a:ea typeface="方正兰亭粗黑简体" pitchFamily="2" charset="-122"/>
              </a:rPr>
              <a:t> </a:t>
            </a:r>
            <a:r>
              <a:rPr lang="zh-CN" altLang="en-US" sz="3600" dirty="0">
                <a:solidFill>
                  <a:schemeClr val="bg1"/>
                </a:solidFill>
                <a:latin typeface="方正兰亭粗黑简体" pitchFamily="2" charset="-122"/>
                <a:ea typeface="方正兰亭粗黑简体" pitchFamily="2" charset="-122"/>
              </a:rPr>
              <a:t>自适应均衡的应用</a:t>
            </a:r>
          </a:p>
        </p:txBody>
      </p:sp>
      <p:sp>
        <p:nvSpPr>
          <p:cNvPr id="7" name="标题 5"/>
          <p:cNvSpPr txBox="1">
            <a:spLocks/>
          </p:cNvSpPr>
          <p:nvPr/>
        </p:nvSpPr>
        <p:spPr>
          <a:xfrm>
            <a:off x="642910" y="1071546"/>
            <a:ext cx="8229600" cy="1143000"/>
          </a:xfrm>
          <a:prstGeom prst="rect">
            <a:avLst/>
          </a:prstGeom>
          <a:noFill/>
          <a:ln w="9525">
            <a:noFill/>
            <a:miter lim="800000"/>
            <a:headEnd/>
            <a:tailEnd/>
          </a:ln>
        </p:spPr>
        <p:txBody>
          <a:bodyPr vert="horz" lIns="91440" tIns="45720" rIns="91440" bIns="45720" rtlCol="0" anchor="ctr">
            <a:normAutofit/>
          </a:bodyPr>
          <a:lstStyle/>
          <a:p>
            <a:pPr lvl="0">
              <a:lnSpc>
                <a:spcPct val="150000"/>
              </a:lnSpc>
              <a:spcBef>
                <a:spcPct val="0"/>
              </a:spcBef>
              <a:buClr>
                <a:schemeClr val="accent1">
                  <a:lumMod val="75000"/>
                </a:schemeClr>
              </a:buClr>
              <a:defRPr/>
            </a:pPr>
            <a:r>
              <a:rPr kumimoji="0" lang="en-US" altLang="zh-CN" sz="2800" b="0" i="0" u="none" strike="noStrike" kern="1200" cap="none" spc="0" normalizeH="0" baseline="0" noProof="0" dirty="0" smtClean="0">
                <a:ln>
                  <a:noFill/>
                </a:ln>
                <a:solidFill>
                  <a:srgbClr val="000099"/>
                </a:solidFill>
                <a:effectLst/>
                <a:uLnTx/>
                <a:uFillTx/>
                <a:latin typeface="方正大黑简体" pitchFamily="2" charset="-122"/>
                <a:ea typeface="方正大黑简体" pitchFamily="2" charset="-122"/>
              </a:rPr>
              <a:t>2</a:t>
            </a:r>
            <a:r>
              <a:rPr kumimoji="0" lang="zh-CN" altLang="en-US" sz="2800" b="0" i="0" u="none" strike="noStrike" kern="1200" cap="none" spc="0" normalizeH="0" baseline="0" noProof="0" dirty="0" smtClean="0">
                <a:ln>
                  <a:noFill/>
                </a:ln>
                <a:solidFill>
                  <a:srgbClr val="000099"/>
                </a:solidFill>
                <a:effectLst/>
                <a:uLnTx/>
                <a:uFillTx/>
                <a:latin typeface="方正大黑简体" pitchFamily="2" charset="-122"/>
                <a:ea typeface="方正大黑简体" pitchFamily="2" charset="-122"/>
              </a:rPr>
              <a:t>、</a:t>
            </a:r>
            <a:r>
              <a:rPr lang="zh-CN" altLang="en-US" sz="2800" dirty="0" smtClean="0">
                <a:solidFill>
                  <a:srgbClr val="000099"/>
                </a:solidFill>
                <a:latin typeface="方正大黑简体" pitchFamily="2" charset="-122"/>
                <a:ea typeface="方正大黑简体" pitchFamily="2" charset="-122"/>
              </a:rPr>
              <a:t>数据传输格式中的帧长的设置</a:t>
            </a:r>
            <a:endParaRPr kumimoji="0" lang="zh-CN" altLang="en-US" sz="2800" b="0" i="0" u="none" strike="noStrike" kern="1200" cap="none" spc="0" normalizeH="0" baseline="0" noProof="0" dirty="0">
              <a:ln>
                <a:noFill/>
              </a:ln>
              <a:solidFill>
                <a:srgbClr val="000099"/>
              </a:solidFill>
              <a:effectLst/>
              <a:uLnTx/>
              <a:uFillTx/>
              <a:latin typeface="方正大黑简体" pitchFamily="2" charset="-122"/>
              <a:ea typeface="方正大黑简体" pitchFamily="2" charset="-122"/>
            </a:endParaRPr>
          </a:p>
        </p:txBody>
      </p:sp>
      <p:grpSp>
        <p:nvGrpSpPr>
          <p:cNvPr id="8" name="组合 10"/>
          <p:cNvGrpSpPr>
            <a:grpSpLocks/>
          </p:cNvGrpSpPr>
          <p:nvPr/>
        </p:nvGrpSpPr>
        <p:grpSpPr bwMode="auto">
          <a:xfrm>
            <a:off x="1500188" y="2109782"/>
            <a:ext cx="6110287" cy="533400"/>
            <a:chOff x="428575" y="1714488"/>
            <a:chExt cx="6110339" cy="533400"/>
          </a:xfrm>
        </p:grpSpPr>
        <p:sp>
          <p:nvSpPr>
            <p:cNvPr id="9" name="Rectangle 6"/>
            <p:cNvSpPr>
              <a:spLocks noChangeArrowheads="1"/>
            </p:cNvSpPr>
            <p:nvPr/>
          </p:nvSpPr>
          <p:spPr bwMode="auto">
            <a:xfrm>
              <a:off x="2271714" y="1714488"/>
              <a:ext cx="1752600" cy="533400"/>
            </a:xfrm>
            <a:prstGeom prst="rect">
              <a:avLst/>
            </a:prstGeom>
            <a:solidFill>
              <a:schemeClr val="bg1"/>
            </a:solidFill>
            <a:ln w="9525">
              <a:solidFill>
                <a:schemeClr val="tx1"/>
              </a:solidFill>
              <a:miter lim="800000"/>
              <a:headEnd/>
              <a:tailEnd/>
            </a:ln>
          </p:spPr>
          <p:txBody>
            <a:bodyPr wrap="none" anchor="ctr"/>
            <a:lstStyle/>
            <a:p>
              <a:pPr algn="ctr">
                <a:spcBef>
                  <a:spcPct val="20000"/>
                </a:spcBef>
                <a:buClr>
                  <a:schemeClr val="accent1"/>
                </a:buClr>
                <a:buFont typeface="Wingdings" pitchFamily="2" charset="2"/>
                <a:buNone/>
              </a:pPr>
              <a:r>
                <a:rPr lang="zh-CN" altLang="en-US" sz="2400">
                  <a:solidFill>
                    <a:srgbClr val="3333FF"/>
                  </a:solidFill>
                  <a:latin typeface="方正大黑简体" pitchFamily="2" charset="-122"/>
                  <a:ea typeface="方正大黑简体" pitchFamily="2" charset="-122"/>
                </a:rPr>
                <a:t>数据</a:t>
              </a:r>
            </a:p>
          </p:txBody>
        </p:sp>
        <p:sp>
          <p:nvSpPr>
            <p:cNvPr id="10" name="Rectangle 7"/>
            <p:cNvSpPr>
              <a:spLocks noChangeArrowheads="1"/>
            </p:cNvSpPr>
            <p:nvPr/>
          </p:nvSpPr>
          <p:spPr bwMode="auto">
            <a:xfrm>
              <a:off x="4024314" y="1714488"/>
              <a:ext cx="762000" cy="533400"/>
            </a:xfrm>
            <a:prstGeom prst="rect">
              <a:avLst/>
            </a:prstGeom>
            <a:solidFill>
              <a:schemeClr val="bg1"/>
            </a:solidFill>
            <a:ln w="9525">
              <a:solidFill>
                <a:schemeClr val="tx1"/>
              </a:solidFill>
              <a:miter lim="800000"/>
              <a:headEnd/>
              <a:tailEnd/>
            </a:ln>
          </p:spPr>
          <p:txBody>
            <a:bodyPr wrap="none" anchor="ctr"/>
            <a:lstStyle/>
            <a:p>
              <a:pPr algn="ctr">
                <a:spcBef>
                  <a:spcPct val="20000"/>
                </a:spcBef>
                <a:buClr>
                  <a:schemeClr val="accent1"/>
                </a:buClr>
                <a:buFont typeface="Wingdings" pitchFamily="2" charset="2"/>
                <a:buNone/>
              </a:pPr>
              <a:r>
                <a:rPr lang="zh-CN" altLang="en-US" sz="2400">
                  <a:solidFill>
                    <a:srgbClr val="3333FF"/>
                  </a:solidFill>
                  <a:latin typeface="方正大黑简体" pitchFamily="2" charset="-122"/>
                  <a:ea typeface="方正大黑简体" pitchFamily="2" charset="-122"/>
                </a:rPr>
                <a:t>训练</a:t>
              </a:r>
            </a:p>
          </p:txBody>
        </p:sp>
        <p:sp>
          <p:nvSpPr>
            <p:cNvPr id="11" name="Rectangle 8"/>
            <p:cNvSpPr>
              <a:spLocks noChangeArrowheads="1"/>
            </p:cNvSpPr>
            <p:nvPr/>
          </p:nvSpPr>
          <p:spPr bwMode="auto">
            <a:xfrm>
              <a:off x="4786314" y="1714488"/>
              <a:ext cx="1752600" cy="533400"/>
            </a:xfrm>
            <a:prstGeom prst="rect">
              <a:avLst/>
            </a:prstGeom>
            <a:solidFill>
              <a:schemeClr val="bg1"/>
            </a:solidFill>
            <a:ln w="9525">
              <a:solidFill>
                <a:schemeClr val="tx1"/>
              </a:solidFill>
              <a:miter lim="800000"/>
              <a:headEnd/>
              <a:tailEnd/>
            </a:ln>
          </p:spPr>
          <p:txBody>
            <a:bodyPr wrap="none" anchor="ctr"/>
            <a:lstStyle/>
            <a:p>
              <a:pPr algn="ctr">
                <a:spcBef>
                  <a:spcPct val="20000"/>
                </a:spcBef>
                <a:buClr>
                  <a:schemeClr val="accent1"/>
                </a:buClr>
                <a:buFont typeface="Wingdings" pitchFamily="2" charset="2"/>
                <a:buNone/>
              </a:pPr>
              <a:r>
                <a:rPr lang="zh-CN" altLang="en-US" sz="2400">
                  <a:solidFill>
                    <a:srgbClr val="3333FF"/>
                  </a:solidFill>
                  <a:latin typeface="方正大黑简体" pitchFamily="2" charset="-122"/>
                  <a:ea typeface="方正大黑简体" pitchFamily="2" charset="-122"/>
                </a:rPr>
                <a:t>数据</a:t>
              </a:r>
            </a:p>
          </p:txBody>
        </p:sp>
        <p:sp>
          <p:nvSpPr>
            <p:cNvPr id="12" name="Rectangle 7"/>
            <p:cNvSpPr>
              <a:spLocks noChangeArrowheads="1"/>
            </p:cNvSpPr>
            <p:nvPr/>
          </p:nvSpPr>
          <p:spPr bwMode="auto">
            <a:xfrm>
              <a:off x="1523984" y="1714488"/>
              <a:ext cx="762000" cy="533400"/>
            </a:xfrm>
            <a:prstGeom prst="rect">
              <a:avLst/>
            </a:prstGeom>
            <a:solidFill>
              <a:schemeClr val="bg1"/>
            </a:solidFill>
            <a:ln w="9525">
              <a:solidFill>
                <a:schemeClr val="tx1"/>
              </a:solidFill>
              <a:miter lim="800000"/>
              <a:headEnd/>
              <a:tailEnd/>
            </a:ln>
          </p:spPr>
          <p:txBody>
            <a:bodyPr wrap="none" anchor="ctr"/>
            <a:lstStyle/>
            <a:p>
              <a:pPr algn="ctr">
                <a:spcBef>
                  <a:spcPct val="20000"/>
                </a:spcBef>
                <a:buClr>
                  <a:schemeClr val="accent1"/>
                </a:buClr>
                <a:buFont typeface="Wingdings" pitchFamily="2" charset="2"/>
                <a:buNone/>
              </a:pPr>
              <a:r>
                <a:rPr lang="zh-CN" altLang="en-US" sz="2400" dirty="0">
                  <a:solidFill>
                    <a:srgbClr val="3333FF"/>
                  </a:solidFill>
                  <a:latin typeface="方正大黑简体" pitchFamily="2" charset="-122"/>
                  <a:ea typeface="方正大黑简体" pitchFamily="2" charset="-122"/>
                </a:rPr>
                <a:t>训练</a:t>
              </a:r>
            </a:p>
          </p:txBody>
        </p:sp>
        <p:sp>
          <p:nvSpPr>
            <p:cNvPr id="13" name="Rectangle 7"/>
            <p:cNvSpPr>
              <a:spLocks noChangeArrowheads="1"/>
            </p:cNvSpPr>
            <p:nvPr/>
          </p:nvSpPr>
          <p:spPr bwMode="auto">
            <a:xfrm>
              <a:off x="428575" y="1714488"/>
              <a:ext cx="1119211" cy="533400"/>
            </a:xfrm>
            <a:prstGeom prst="rect">
              <a:avLst/>
            </a:prstGeom>
            <a:solidFill>
              <a:schemeClr val="bg1"/>
            </a:solidFill>
            <a:ln w="9525">
              <a:solidFill>
                <a:schemeClr val="tx1"/>
              </a:solidFill>
              <a:miter lim="800000"/>
              <a:headEnd/>
              <a:tailEnd/>
            </a:ln>
          </p:spPr>
          <p:txBody>
            <a:bodyPr wrap="none" anchor="ctr"/>
            <a:lstStyle/>
            <a:p>
              <a:pPr algn="ctr">
                <a:spcBef>
                  <a:spcPct val="20000"/>
                </a:spcBef>
                <a:buClr>
                  <a:schemeClr val="accent1"/>
                </a:buClr>
                <a:buFont typeface="Wingdings" pitchFamily="2" charset="2"/>
                <a:buNone/>
              </a:pPr>
              <a:r>
                <a:rPr lang="zh-CN" altLang="en-US" sz="2400" dirty="0">
                  <a:solidFill>
                    <a:srgbClr val="3333FF"/>
                  </a:solidFill>
                  <a:latin typeface="方正大黑简体" pitchFamily="2" charset="-122"/>
                  <a:ea typeface="方正大黑简体" pitchFamily="2" charset="-122"/>
                </a:rPr>
                <a:t>同步头</a:t>
              </a:r>
            </a:p>
          </p:txBody>
        </p:sp>
      </p:grpSp>
      <p:sp>
        <p:nvSpPr>
          <p:cNvPr id="14" name="矩形 13"/>
          <p:cNvSpPr/>
          <p:nvPr/>
        </p:nvSpPr>
        <p:spPr>
          <a:xfrm>
            <a:off x="2643174" y="2131084"/>
            <a:ext cx="2452956" cy="500066"/>
          </a:xfrm>
          <a:prstGeom prst="rect">
            <a:avLst/>
          </a:prstGeom>
          <a:solidFill>
            <a:srgbClr val="FFFF00">
              <a:alpha val="23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Rectangle 2"/>
          <p:cNvSpPr>
            <a:spLocks noGrp="1" noChangeArrowheads="1"/>
          </p:cNvSpPr>
          <p:nvPr>
            <p:ph type="title" idx="4294967295"/>
          </p:nvPr>
        </p:nvSpPr>
        <p:spPr>
          <a:xfrm>
            <a:off x="1285900" y="522271"/>
            <a:ext cx="6858000" cy="549275"/>
          </a:xfrm>
        </p:spPr>
        <p:txBody>
          <a:bodyPr>
            <a:noAutofit/>
          </a:bodyPr>
          <a:lstStyle/>
          <a:p>
            <a:pPr eaLnBrk="1" hangingPunct="1">
              <a:defRPr/>
            </a:pPr>
            <a:r>
              <a:rPr lang="zh-CN" altLang="en-US" sz="3600" dirty="0" smtClean="0">
                <a:solidFill>
                  <a:schemeClr val="bg1"/>
                </a:solidFill>
                <a:latin typeface="方正兰亭粗黑简体" pitchFamily="2" charset="-122"/>
                <a:ea typeface="方正兰亭粗黑简体" pitchFamily="2" charset="-122"/>
                <a:cs typeface="+mn-cs"/>
              </a:rPr>
              <a:t>小结</a:t>
            </a:r>
          </a:p>
        </p:txBody>
      </p:sp>
      <p:sp>
        <p:nvSpPr>
          <p:cNvPr id="83972" name="Rectangle 3"/>
          <p:cNvSpPr>
            <a:spLocks noGrp="1" noChangeArrowheads="1"/>
          </p:cNvSpPr>
          <p:nvPr>
            <p:ph type="body" idx="4294967295"/>
          </p:nvPr>
        </p:nvSpPr>
        <p:spPr>
          <a:xfrm>
            <a:off x="581025" y="1357312"/>
            <a:ext cx="7991475" cy="3429009"/>
          </a:xfrm>
        </p:spPr>
        <p:txBody>
          <a:bodyPr>
            <a:noAutofit/>
          </a:bodyPr>
          <a:lstStyle/>
          <a:p>
            <a:pPr eaLnBrk="1" hangingPunct="1">
              <a:lnSpc>
                <a:spcPct val="200000"/>
              </a:lnSpc>
              <a:spcBef>
                <a:spcPct val="0"/>
              </a:spcBef>
              <a:buClr>
                <a:srgbClr val="3333FF"/>
              </a:buClr>
              <a:buFont typeface="Wingdings" pitchFamily="2" charset="2"/>
              <a:buChar char="p"/>
              <a:defRPr/>
            </a:pPr>
            <a:r>
              <a:rPr lang="zh-CN" altLang="en-US" sz="2800" dirty="0" smtClean="0">
                <a:solidFill>
                  <a:srgbClr val="3333FF"/>
                </a:solidFill>
                <a:latin typeface="方正大黑简体" pitchFamily="2" charset="-122"/>
                <a:ea typeface="方正大黑简体" pitchFamily="2" charset="-122"/>
              </a:rPr>
              <a:t>均衡技术的基本原理是什么？</a:t>
            </a:r>
            <a:endParaRPr lang="en-US" altLang="zh-CN" sz="2800" dirty="0" smtClean="0">
              <a:solidFill>
                <a:srgbClr val="3333FF"/>
              </a:solidFill>
              <a:latin typeface="方正大黑简体" pitchFamily="2" charset="-122"/>
              <a:ea typeface="方正大黑简体" pitchFamily="2" charset="-122"/>
            </a:endParaRPr>
          </a:p>
          <a:p>
            <a:pPr eaLnBrk="1" hangingPunct="1">
              <a:lnSpc>
                <a:spcPct val="200000"/>
              </a:lnSpc>
              <a:spcBef>
                <a:spcPct val="0"/>
              </a:spcBef>
              <a:buClr>
                <a:srgbClr val="3333FF"/>
              </a:buClr>
              <a:buFont typeface="Wingdings" pitchFamily="2" charset="2"/>
              <a:buChar char="p"/>
              <a:defRPr/>
            </a:pPr>
            <a:r>
              <a:rPr lang="zh-CN" altLang="en-US" sz="2800" dirty="0" smtClean="0">
                <a:solidFill>
                  <a:srgbClr val="3333FF"/>
                </a:solidFill>
                <a:latin typeface="方正大黑简体" pitchFamily="2" charset="-122"/>
                <a:ea typeface="方正大黑简体" pitchFamily="2" charset="-122"/>
              </a:rPr>
              <a:t>均衡器可通过哪些方式进行分类？</a:t>
            </a:r>
            <a:endParaRPr lang="en-US" altLang="zh-CN" sz="2800" dirty="0" smtClean="0">
              <a:solidFill>
                <a:srgbClr val="3333FF"/>
              </a:solidFill>
              <a:latin typeface="方正大黑简体" pitchFamily="2" charset="-122"/>
              <a:ea typeface="方正大黑简体" pitchFamily="2" charset="-122"/>
            </a:endParaRPr>
          </a:p>
          <a:p>
            <a:pPr eaLnBrk="1" hangingPunct="1">
              <a:lnSpc>
                <a:spcPct val="200000"/>
              </a:lnSpc>
              <a:spcBef>
                <a:spcPct val="0"/>
              </a:spcBef>
              <a:buClr>
                <a:srgbClr val="3333FF"/>
              </a:buClr>
              <a:buFont typeface="Wingdings" pitchFamily="2" charset="2"/>
              <a:buChar char="p"/>
              <a:defRPr/>
            </a:pPr>
            <a:r>
              <a:rPr lang="zh-CN" altLang="en-US" sz="2800" dirty="0" smtClean="0">
                <a:solidFill>
                  <a:srgbClr val="3333FF"/>
                </a:solidFill>
                <a:latin typeface="方正大黑简体" pitchFamily="2" charset="-122"/>
                <a:ea typeface="方正大黑简体" pitchFamily="2" charset="-122"/>
              </a:rPr>
              <a:t> 典型的自适应均衡器算法有哪些？</a:t>
            </a:r>
            <a:endParaRPr lang="en-US" altLang="zh-CN" sz="2800" dirty="0" smtClean="0">
              <a:solidFill>
                <a:srgbClr val="3333FF"/>
              </a:solidFill>
              <a:latin typeface="方正大黑简体" pitchFamily="2" charset="-122"/>
              <a:ea typeface="方正大黑简体" pitchFamily="2" charset="-122"/>
            </a:endParaRPr>
          </a:p>
          <a:p>
            <a:pPr eaLnBrk="1" hangingPunct="1">
              <a:lnSpc>
                <a:spcPct val="200000"/>
              </a:lnSpc>
              <a:spcBef>
                <a:spcPct val="0"/>
              </a:spcBef>
              <a:buClr>
                <a:srgbClr val="3333FF"/>
              </a:buClr>
              <a:buFont typeface="Wingdings" pitchFamily="2" charset="2"/>
              <a:buChar char="p"/>
              <a:defRPr/>
            </a:pPr>
            <a:r>
              <a:rPr lang="en-US" altLang="zh-CN" sz="2800" dirty="0" smtClean="0">
                <a:solidFill>
                  <a:srgbClr val="3333FF"/>
                </a:solidFill>
                <a:latin typeface="方正大黑简体" pitchFamily="2" charset="-122"/>
                <a:ea typeface="方正大黑简体" pitchFamily="2" charset="-122"/>
              </a:rPr>
              <a:t> </a:t>
            </a:r>
            <a:r>
              <a:rPr lang="zh-CN" altLang="en-US" sz="2800" dirty="0" smtClean="0">
                <a:solidFill>
                  <a:srgbClr val="3333FF"/>
                </a:solidFill>
                <a:latin typeface="方正大黑简体" pitchFamily="2" charset="-122"/>
                <a:ea typeface="方正大黑简体" pitchFamily="2" charset="-122"/>
              </a:rPr>
              <a:t>如何针对特定信道条件进行均衡器参数设计？</a:t>
            </a:r>
            <a:endParaRPr lang="en-US" altLang="zh-CN" sz="2800" dirty="0" smtClean="0">
              <a:solidFill>
                <a:srgbClr val="3333FF"/>
              </a:solidFill>
              <a:latin typeface="方正大黑简体" pitchFamily="2" charset="-122"/>
              <a:ea typeface="方正大黑简体" pitchFamily="2" charset="-122"/>
            </a:endParaRPr>
          </a:p>
          <a:p>
            <a:pPr eaLnBrk="1" hangingPunct="1">
              <a:lnSpc>
                <a:spcPct val="200000"/>
              </a:lnSpc>
              <a:spcBef>
                <a:spcPct val="0"/>
              </a:spcBef>
              <a:buClr>
                <a:schemeClr val="accent1">
                  <a:lumMod val="75000"/>
                </a:schemeClr>
              </a:buClr>
              <a:buFont typeface="Wingdings" pitchFamily="2" charset="2"/>
              <a:buChar char="p"/>
              <a:defRPr/>
            </a:pPr>
            <a:endParaRPr lang="en-US" altLang="zh-CN" sz="2400" dirty="0" smtClean="0">
              <a:latin typeface="方正大黑简体" pitchFamily="2" charset="-122"/>
              <a:ea typeface="方正大黑简体" pitchFamily="2" charset="-122"/>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22" name="Rectangle 2"/>
          <p:cNvSpPr>
            <a:spLocks noGrp="1" noChangeArrowheads="1"/>
          </p:cNvSpPr>
          <p:nvPr>
            <p:ph type="title"/>
          </p:nvPr>
        </p:nvSpPr>
        <p:spPr>
          <a:xfrm>
            <a:off x="685800" y="300022"/>
            <a:ext cx="7315200" cy="914400"/>
          </a:xfrm>
        </p:spPr>
        <p:txBody>
          <a:bodyPr vert="horz" lIns="91440" tIns="45720" rIns="91440" bIns="45720" rtlCol="0" anchor="ctr">
            <a:noAutofit/>
          </a:bodyPr>
          <a:lstStyle/>
          <a:p>
            <a:pPr>
              <a:defRPr/>
            </a:pPr>
            <a:r>
              <a:rPr lang="zh-CN" altLang="en-US" sz="3600" dirty="0" smtClean="0">
                <a:solidFill>
                  <a:schemeClr val="bg1"/>
                </a:solidFill>
                <a:latin typeface="方正兰亭粗黑简体" pitchFamily="2" charset="-122"/>
                <a:ea typeface="方正兰亭粗黑简体" pitchFamily="2" charset="-122"/>
                <a:cs typeface="+mn-cs"/>
              </a:rPr>
              <a:t>作业与思考题</a:t>
            </a:r>
          </a:p>
        </p:txBody>
      </p:sp>
      <p:sp>
        <p:nvSpPr>
          <p:cNvPr id="57348" name="Rectangle 3"/>
          <p:cNvSpPr>
            <a:spLocks noGrp="1" noChangeArrowheads="1"/>
          </p:cNvSpPr>
          <p:nvPr>
            <p:ph type="body" idx="1"/>
          </p:nvPr>
        </p:nvSpPr>
        <p:spPr>
          <a:xfrm>
            <a:off x="571500" y="1571625"/>
            <a:ext cx="7772400" cy="4114800"/>
          </a:xfrm>
        </p:spPr>
        <p:txBody>
          <a:bodyPr/>
          <a:lstStyle/>
          <a:p>
            <a:pPr eaLnBrk="1" hangingPunct="1">
              <a:buFont typeface="Wingdings" pitchFamily="2" charset="2"/>
              <a:buNone/>
            </a:pPr>
            <a:r>
              <a:rPr lang="zh-CN" altLang="en-US" sz="2800" dirty="0" smtClean="0">
                <a:latin typeface="方正大黑简体" pitchFamily="2" charset="-122"/>
                <a:ea typeface="方正大黑简体" pitchFamily="2" charset="-122"/>
              </a:rPr>
              <a:t>作业</a:t>
            </a:r>
            <a:endParaRPr lang="en-US" altLang="zh-CN" sz="2800" dirty="0" smtClean="0">
              <a:latin typeface="方正大黑简体" pitchFamily="2" charset="-122"/>
              <a:ea typeface="方正大黑简体" pitchFamily="2" charset="-122"/>
            </a:endParaRPr>
          </a:p>
          <a:p>
            <a:pPr eaLnBrk="1" hangingPunct="1">
              <a:buFont typeface="Wingdings" pitchFamily="2" charset="2"/>
              <a:buNone/>
            </a:pPr>
            <a:r>
              <a:rPr lang="en-US" altLang="zh-CN" sz="2800" smtClean="0">
                <a:latin typeface="方正大黑简体" pitchFamily="2" charset="-122"/>
                <a:ea typeface="方正大黑简体" pitchFamily="2" charset="-122"/>
              </a:rPr>
              <a:t>P135.</a:t>
            </a:r>
            <a:endParaRPr lang="en-US" altLang="zh-CN" sz="2800" dirty="0" smtClean="0">
              <a:latin typeface="方正大黑简体" pitchFamily="2" charset="-122"/>
              <a:ea typeface="方正大黑简体" pitchFamily="2" charset="-122"/>
            </a:endParaRPr>
          </a:p>
          <a:p>
            <a:pPr eaLnBrk="1" hangingPunct="1">
              <a:buFont typeface="Wingdings" pitchFamily="2" charset="2"/>
              <a:buNone/>
            </a:pPr>
            <a:r>
              <a:rPr lang="en-US" altLang="zh-CN" sz="2800" dirty="0" smtClean="0">
                <a:latin typeface="方正大黑简体" pitchFamily="2" charset="-122"/>
                <a:ea typeface="方正大黑简体" pitchFamily="2" charset="-122"/>
              </a:rPr>
              <a:t>10</a:t>
            </a:r>
          </a:p>
          <a:p>
            <a:pPr eaLnBrk="1" hangingPunct="1">
              <a:buFont typeface="Wingdings" pitchFamily="2" charset="2"/>
              <a:buNone/>
            </a:pPr>
            <a:endParaRPr lang="en-US" altLang="zh-CN" sz="2800" dirty="0" smtClean="0">
              <a:latin typeface="方正大黑简体" pitchFamily="2" charset="-122"/>
              <a:ea typeface="方正大黑简体" pitchFamily="2" charset="-122"/>
            </a:endParaRPr>
          </a:p>
          <a:p>
            <a:pPr eaLnBrk="1" hangingPunct="1">
              <a:buFont typeface="Wingdings" pitchFamily="2" charset="2"/>
              <a:buNone/>
            </a:pPr>
            <a:endParaRPr lang="en-US" altLang="zh-CN" sz="2800" dirty="0" smtClean="0">
              <a:latin typeface="方正大黑简体" pitchFamily="2" charset="-122"/>
              <a:ea typeface="方正大黑简体" pitchFamily="2" charset="-122"/>
            </a:endParaRPr>
          </a:p>
          <a:p>
            <a:pPr eaLnBrk="1" hangingPunct="1">
              <a:buFont typeface="Wingdings" pitchFamily="2" charset="2"/>
              <a:buNone/>
            </a:pPr>
            <a:endParaRPr lang="en-US" altLang="zh-CN" sz="2800" dirty="0" smtClean="0">
              <a:latin typeface="方正大黑简体" pitchFamily="2" charset="-122"/>
              <a:ea typeface="方正大黑简体" pitchFamily="2" charset="-122"/>
            </a:endParaRPr>
          </a:p>
          <a:p>
            <a:pPr marL="0" indent="0">
              <a:buNone/>
            </a:pPr>
            <a:r>
              <a:rPr lang="zh-CN" altLang="en-US" sz="2800" dirty="0" smtClean="0">
                <a:latin typeface="方正大黑简体" pitchFamily="2" charset="-122"/>
                <a:ea typeface="方正大黑简体" pitchFamily="2" charset="-122"/>
              </a:rPr>
              <a:t>思考题：除了前面所讨论的采用分散传输方式的分集方法，是否还有其它分离多径的方法？</a:t>
            </a:r>
            <a:endParaRPr lang="en-US" altLang="zh-CN" sz="2800" dirty="0" smtClean="0">
              <a:latin typeface="方正大黑简体" pitchFamily="2" charset="-122"/>
              <a:ea typeface="方正大黑简体" pitchFamily="2" charset="-122"/>
            </a:endParaRPr>
          </a:p>
          <a:p>
            <a:pPr eaLnBrk="1" hangingPunct="1">
              <a:buFont typeface="Wingdings" pitchFamily="2" charset="2"/>
              <a:buNone/>
            </a:pPr>
            <a:endParaRPr lang="en-US" altLang="zh-CN" sz="2800" dirty="0" smtClean="0">
              <a:latin typeface="方正大黑简体" pitchFamily="2" charset="-122"/>
              <a:ea typeface="方正大黑简体" pitchFamily="2" charset="-122"/>
            </a:endParaRP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3536394" y="1484784"/>
            <a:ext cx="5472608" cy="2062103"/>
          </a:xfrm>
          <a:prstGeom prst="rect">
            <a:avLst/>
          </a:prstGeom>
        </p:spPr>
        <p:txBody>
          <a:bodyPr wrap="square">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lnSpc>
                <a:spcPct val="120000"/>
              </a:lnSpc>
            </a:pPr>
            <a:r>
              <a:rPr lang="zh-CN" altLang="en-US" sz="11500" b="1" i="1" kern="0" spc="300" dirty="0" smtClean="0">
                <a:ln w="11430"/>
                <a:solidFill>
                  <a:srgbClr val="C00000"/>
                </a:solidFill>
                <a:effectLst>
                  <a:glow rad="101600">
                    <a:sysClr val="window" lastClr="FFFFFF">
                      <a:alpha val="88000"/>
                    </a:sysClr>
                  </a:glow>
                  <a:outerShdw blurRad="50800" dist="39000" dir="5460000" algn="tl">
                    <a:srgbClr val="000000">
                      <a:alpha val="38000"/>
                    </a:srgbClr>
                  </a:outerShdw>
                </a:effectLst>
                <a:latin typeface="方正大黑简体" pitchFamily="65" charset="-122"/>
                <a:ea typeface="方正大黑简体" pitchFamily="65" charset="-122"/>
              </a:rPr>
              <a:t>谢谢！</a:t>
            </a:r>
            <a:endParaRPr lang="zh-CN" altLang="en-US" sz="11500" b="1" i="1" kern="0" spc="300" dirty="0">
              <a:ln w="11430"/>
              <a:solidFill>
                <a:srgbClr val="C00000"/>
              </a:solidFill>
              <a:effectLst>
                <a:glow rad="101600">
                  <a:sysClr val="window" lastClr="FFFFFF">
                    <a:alpha val="88000"/>
                  </a:sysClr>
                </a:glow>
                <a:outerShdw blurRad="50800" dist="39000" dir="5460000" algn="tl">
                  <a:srgbClr val="000000">
                    <a:alpha val="38000"/>
                  </a:srgbClr>
                </a:outerShdw>
              </a:effectLst>
              <a:latin typeface="方正大黑简体" pitchFamily="65" charset="-122"/>
              <a:ea typeface="方正大黑简体" pitchFamily="65" charset="-122"/>
            </a:endParaRPr>
          </a:p>
        </p:txBody>
      </p:sp>
      <p:sp>
        <p:nvSpPr>
          <p:cNvPr id="7" name="TextBox 50"/>
          <p:cNvSpPr txBox="1">
            <a:spLocks noChangeArrowheads="1"/>
          </p:cNvSpPr>
          <p:nvPr/>
        </p:nvSpPr>
        <p:spPr bwMode="auto">
          <a:xfrm>
            <a:off x="6588224" y="231031"/>
            <a:ext cx="2088232" cy="461665"/>
          </a:xfrm>
          <a:prstGeom prst="rect">
            <a:avLst/>
          </a:prstGeom>
          <a:noFill/>
          <a:ln w="9525">
            <a:noFill/>
            <a:miter lim="800000"/>
            <a:headEnd/>
            <a:tailEnd/>
          </a:ln>
          <a:effectLst>
            <a:outerShdw dist="35921" dir="2700000" algn="ctr" rotWithShape="0">
              <a:srgbClr val="000000"/>
            </a:outerShdw>
          </a:effectLst>
        </p:spPr>
        <p:txBody>
          <a:bodyPr wrap="square">
            <a:spAutoFit/>
          </a:bodyPr>
          <a:lstStyle/>
          <a:p>
            <a:pPr>
              <a:defRPr/>
            </a:pPr>
            <a:r>
              <a:rPr lang="zh-CN" altLang="en-US" sz="2400" b="1" dirty="0" smtClean="0">
                <a:ln>
                  <a:solidFill>
                    <a:schemeClr val="accent4">
                      <a:shade val="50000"/>
                      <a:satMod val="120000"/>
                    </a:schemeClr>
                  </a:solidFill>
                </a:ln>
                <a:gradFill>
                  <a:gsLst>
                    <a:gs pos="0">
                      <a:srgbClr val="EAB200"/>
                    </a:gs>
                    <a:gs pos="100000">
                      <a:srgbClr val="FFFF99"/>
                    </a:gs>
                  </a:gsLst>
                  <a:lin ang="5400000" scaled="0"/>
                </a:gradFill>
                <a:effectLst>
                  <a:outerShdw blurRad="38100" dist="38100" dir="2700000" algn="tl">
                    <a:srgbClr val="000000">
                      <a:alpha val="43137"/>
                    </a:srgbClr>
                  </a:outerShdw>
                </a:effectLst>
                <a:latin typeface="方正大黑简体" pitchFamily="65" charset="-122"/>
                <a:ea typeface="方正大黑简体" pitchFamily="65" charset="-122"/>
              </a:rPr>
              <a:t>数字移动通信</a:t>
            </a:r>
            <a:endParaRPr lang="zh-CN" altLang="en-US" sz="2400" b="1" dirty="0">
              <a:ln>
                <a:solidFill>
                  <a:schemeClr val="accent4">
                    <a:shade val="50000"/>
                    <a:satMod val="120000"/>
                  </a:schemeClr>
                </a:solidFill>
              </a:ln>
              <a:gradFill>
                <a:gsLst>
                  <a:gs pos="0">
                    <a:srgbClr val="EAB200"/>
                  </a:gs>
                  <a:gs pos="100000">
                    <a:srgbClr val="FFFF99"/>
                  </a:gs>
                </a:gsLst>
                <a:lin ang="5400000" scaled="0"/>
              </a:gradFill>
              <a:effectLst>
                <a:outerShdw blurRad="38100" dist="38100" dir="2700000" algn="tl">
                  <a:srgbClr val="000000">
                    <a:alpha val="43137"/>
                  </a:srgbClr>
                </a:outerShdw>
              </a:effectLst>
              <a:latin typeface="方正大黑简体" pitchFamily="65" charset="-122"/>
              <a:ea typeface="方正大黑简体" pitchFamily="65" charset="-122"/>
            </a:endParaRPr>
          </a:p>
        </p:txBody>
      </p:sp>
    </p:spTree>
    <p:extLst>
      <p:ext uri="{BB962C8B-B14F-4D97-AF65-F5344CB8AC3E}">
        <p14:creationId xmlns:p14="http://schemas.microsoft.com/office/powerpoint/2010/main" val="4328248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0-#ppt_w/2"/>
                                          </p:val>
                                        </p:tav>
                                        <p:tav tm="100000">
                                          <p:val>
                                            <p:strVal val="#ppt_x"/>
                                          </p:val>
                                        </p:tav>
                                      </p:tavLst>
                                    </p:anim>
                                    <p:anim calcmode="lin" valueType="num">
                                      <p:cBhvr additive="base">
                                        <p:cTn id="8" dur="10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4022</TotalTime>
  <Words>2693</Words>
  <Application>Microsoft Office PowerPoint</Application>
  <PresentationFormat>全屏显示(4:3)</PresentationFormat>
  <Paragraphs>300</Paragraphs>
  <Slides>44</Slides>
  <Notes>21</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3</vt:i4>
      </vt:variant>
      <vt:variant>
        <vt:lpstr>幻灯片标题</vt:lpstr>
      </vt:variant>
      <vt:variant>
        <vt:i4>44</vt:i4>
      </vt:variant>
    </vt:vector>
  </HeadingPairs>
  <TitlesOfParts>
    <vt:vector size="56" baseType="lpstr">
      <vt:lpstr>方正大黑简体</vt:lpstr>
      <vt:lpstr>方正兰亭粗黑简体</vt:lpstr>
      <vt:lpstr>楷体_GB2312</vt:lpstr>
      <vt:lpstr>宋体</vt:lpstr>
      <vt:lpstr>Arial</vt:lpstr>
      <vt:lpstr>Calibri</vt:lpstr>
      <vt:lpstr>Times New Roman</vt:lpstr>
      <vt:lpstr>Wingdings</vt:lpstr>
      <vt:lpstr>Office 主题​​</vt:lpstr>
      <vt:lpstr>Picture</vt:lpstr>
      <vt:lpstr>Visio</vt:lpstr>
      <vt:lpstr>Equation</vt:lpstr>
      <vt:lpstr>PowerPoint 演示文稿</vt:lpstr>
      <vt:lpstr>上次课重点回顾</vt:lpstr>
      <vt:lpstr>第5章  抗衰落技术</vt:lpstr>
      <vt:lpstr>本次课要解决的主要问题及学习要求</vt:lpstr>
      <vt:lpstr>本次课的教学内容</vt:lpstr>
      <vt:lpstr>一、自适应均衡原理</vt:lpstr>
      <vt:lpstr>一、自适应均衡原理</vt:lpstr>
      <vt:lpstr>一、自适应均衡原理</vt:lpstr>
      <vt:lpstr>一、自适应均衡原理</vt:lpstr>
      <vt:lpstr>一、自适应均衡原理</vt:lpstr>
      <vt:lpstr>一、自适应均衡原理</vt:lpstr>
      <vt:lpstr>一、自适应均衡原理</vt:lpstr>
      <vt:lpstr>一、自适应均衡原理</vt:lpstr>
      <vt:lpstr>一、自适应均衡原理</vt:lpstr>
      <vt:lpstr>一、自适应均衡原理</vt:lpstr>
      <vt:lpstr>一、自适应均衡原理</vt:lpstr>
      <vt:lpstr>二、自适应均衡器工作过程</vt:lpstr>
      <vt:lpstr>二、自适应均衡器工作过程</vt:lpstr>
      <vt:lpstr>二、自适应均衡器工作过程</vt:lpstr>
      <vt:lpstr> </vt:lpstr>
      <vt:lpstr>3、需要进一步思考的问题</vt:lpstr>
      <vt:lpstr>3、需要进一步思考的问题</vt:lpstr>
      <vt:lpstr>本次课的教学内容</vt:lpstr>
      <vt:lpstr>三、均衡器的分类</vt:lpstr>
      <vt:lpstr>（1）线性均衡器</vt:lpstr>
      <vt:lpstr>（2）非线性均衡器   以判决反馈均衡器(DFE，Decision Feedback Equalizer)为例</vt:lpstr>
      <vt:lpstr>PowerPoint 演示文稿</vt:lpstr>
      <vt:lpstr>PowerPoint 演示文稿</vt:lpstr>
      <vt:lpstr>2、按照检测级别分类</vt:lpstr>
      <vt:lpstr>3、按照频谱效率分类 </vt:lpstr>
      <vt:lpstr>本次课的教学内容</vt:lpstr>
      <vt:lpstr>四、均衡算法</vt:lpstr>
      <vt:lpstr>四、均衡算法</vt:lpstr>
      <vt:lpstr>PowerPoint 演示文稿</vt:lpstr>
      <vt:lpstr>PowerPoint 演示文稿</vt:lpstr>
      <vt:lpstr>本次课的教学内容</vt:lpstr>
      <vt:lpstr> </vt:lpstr>
      <vt:lpstr> </vt:lpstr>
      <vt:lpstr>2、数据传输格式中的帧长的设置</vt:lpstr>
      <vt:lpstr>2、数据传输格式中的帧长的设置</vt:lpstr>
      <vt:lpstr> </vt:lpstr>
      <vt:lpstr>小结</vt:lpstr>
      <vt:lpstr>作业与思考题</vt:lpstr>
      <vt:lpstr>PowerPoint 演示文稿</vt:lpstr>
    </vt:vector>
  </TitlesOfParts>
  <Company>jjzx</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lils</dc:creator>
  <cp:lastModifiedBy>003138王毅</cp:lastModifiedBy>
  <cp:revision>440</cp:revision>
  <dcterms:created xsi:type="dcterms:W3CDTF">2013-09-04T06:43:20Z</dcterms:created>
  <dcterms:modified xsi:type="dcterms:W3CDTF">2021-04-07T06:12:32Z</dcterms:modified>
</cp:coreProperties>
</file>